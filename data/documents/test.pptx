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# </a:t>
            </a:r>
            <a:r>
              <a:rPr lang="zh-CN" altLang="en-US"/>
              <a:t>《昭胤风云录》</a:t>
            </a:r>
            <a:r>
              <a:rPr lang="en-US" altLang="zh-CN"/>
              <a:t>——</a:t>
            </a:r>
            <a:r>
              <a:rPr lang="zh-CN" altLang="en-US"/>
              <a:t>大纲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## **</a:t>
            </a:r>
            <a:r>
              <a:rPr lang="zh-CN" altLang="en-US"/>
              <a:t>一、世界观：昭胤朝概述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**</a:t>
            </a:r>
            <a:r>
              <a:rPr lang="zh-CN" altLang="en-US"/>
              <a:t>时代背景</a:t>
            </a:r>
            <a:r>
              <a:rPr lang="en-US" altLang="zh-CN"/>
              <a:t>**  </a:t>
            </a:r>
            <a:br>
              <a:rPr lang="en-US" altLang="zh-CN"/>
            </a:br>
            <a:r>
              <a:rPr lang="zh-CN" altLang="en-US"/>
              <a:t>昭胤朝立国一百五十年，已入季世。开国时仿唐设三省六部，经</a:t>
            </a:r>
            <a:r>
              <a:rPr lang="en-US" altLang="zh-CN"/>
              <a:t>“</a:t>
            </a:r>
            <a:r>
              <a:rPr lang="zh-CN" altLang="en-US"/>
              <a:t>永熙改制</a:t>
            </a:r>
            <a:r>
              <a:rPr lang="en-US" altLang="zh-CN"/>
              <a:t>”</a:t>
            </a:r>
            <a:r>
              <a:rPr lang="zh-CN" altLang="en-US"/>
              <a:t>后形成</a:t>
            </a:r>
            <a:r>
              <a:rPr lang="" altLang="en-US"/>
              <a:t> </a:t>
            </a:r>
            <a:r>
              <a:rPr lang="en-US" altLang="zh-CN"/>
              <a:t>**“</a:t>
            </a:r>
            <a:r>
              <a:rPr lang="zh-CN" altLang="en-US"/>
              <a:t>内阁</a:t>
            </a:r>
            <a:r>
              <a:rPr lang="en-US" altLang="zh-CN"/>
              <a:t>—</a:t>
            </a:r>
            <a:r>
              <a:rPr lang="zh-CN" altLang="en-US"/>
              <a:t>司礼监</a:t>
            </a:r>
            <a:r>
              <a:rPr lang="en-US" altLang="zh-CN"/>
              <a:t>—</a:t>
            </a:r>
            <a:r>
              <a:rPr lang="zh-CN" altLang="en-US"/>
              <a:t>六部</a:t>
            </a:r>
            <a:r>
              <a:rPr lang="en-US" altLang="zh-CN"/>
              <a:t>”**</a:t>
            </a:r>
            <a:r>
              <a:rPr lang="" altLang="en-US"/>
              <a:t> </a:t>
            </a:r>
            <a:r>
              <a:rPr lang="zh-CN" altLang="en-US"/>
              <a:t>三角制衡格局，官僚体系高度成熟却也僵化腐败。地方上，</a:t>
            </a:r>
            <a:r>
              <a:rPr lang="en-US" altLang="zh-CN"/>
              <a:t>**</a:t>
            </a:r>
            <a:r>
              <a:rPr lang="zh-CN" altLang="en-US"/>
              <a:t>门阀（称</a:t>
            </a:r>
            <a:r>
              <a:rPr lang="en-US" altLang="zh-CN"/>
              <a:t>“</a:t>
            </a:r>
            <a:r>
              <a:rPr lang="zh-CN" altLang="en-US"/>
              <a:t>世族</a:t>
            </a:r>
            <a:r>
              <a:rPr lang="en-US" altLang="zh-CN"/>
              <a:t>”</a:t>
            </a:r>
            <a:r>
              <a:rPr lang="zh-CN" altLang="en-US"/>
              <a:t>）与寒门（称</a:t>
            </a:r>
            <a:r>
              <a:rPr lang="en-US" altLang="zh-CN"/>
              <a:t>“</a:t>
            </a:r>
            <a:r>
              <a:rPr lang="zh-CN" altLang="en-US"/>
              <a:t>清流</a:t>
            </a:r>
            <a:r>
              <a:rPr lang="en-US" altLang="zh-CN"/>
              <a:t>”</a:t>
            </a:r>
            <a:r>
              <a:rPr lang="zh-CN" altLang="en-US"/>
              <a:t>）</a:t>
            </a:r>
            <a:r>
              <a:rPr lang="en-US" altLang="zh-CN"/>
              <a:t>**</a:t>
            </a:r>
            <a:r>
              <a:rPr lang="" altLang="en-US"/>
              <a:t> </a:t>
            </a:r>
            <a:r>
              <a:rPr lang="zh-CN" altLang="en-US"/>
              <a:t>对立加剧，军事上</a:t>
            </a:r>
            <a:r>
              <a:rPr lang="" altLang="en-US"/>
              <a:t> </a:t>
            </a:r>
            <a:r>
              <a:rPr lang="en-US" altLang="zh-CN"/>
              <a:t>**“</a:t>
            </a:r>
            <a:r>
              <a:rPr lang="zh-CN" altLang="en-US"/>
              <a:t>卫所制</a:t>
            </a:r>
            <a:r>
              <a:rPr lang="en-US" altLang="zh-CN"/>
              <a:t>”</a:t>
            </a:r>
            <a:r>
              <a:rPr lang="zh-CN" altLang="en-US"/>
              <a:t>崩坏</a:t>
            </a:r>
            <a:r>
              <a:rPr lang="en-US" altLang="zh-CN"/>
              <a:t>**</a:t>
            </a:r>
            <a:r>
              <a:rPr lang="zh-CN" altLang="en-US"/>
              <a:t>，边疆军镇（如北境</a:t>
            </a:r>
            <a:r>
              <a:rPr lang="en-US" altLang="zh-CN"/>
              <a:t>“</a:t>
            </a:r>
            <a:r>
              <a:rPr lang="zh-CN" altLang="en-US"/>
              <a:t>燕云镇</a:t>
            </a:r>
            <a:r>
              <a:rPr lang="en-US" altLang="zh-CN"/>
              <a:t>”</a:t>
            </a:r>
            <a:r>
              <a:rPr lang="zh-CN" altLang="en-US"/>
              <a:t>、西陲</a:t>
            </a:r>
            <a:r>
              <a:rPr lang="en-US" altLang="zh-CN"/>
              <a:t>“</a:t>
            </a:r>
            <a:r>
              <a:rPr lang="zh-CN" altLang="en-US"/>
              <a:t>陇西镇</a:t>
            </a:r>
            <a:r>
              <a:rPr lang="en-US" altLang="zh-CN"/>
              <a:t>”</a:t>
            </a:r>
            <a:r>
              <a:rPr lang="zh-CN" altLang="en-US"/>
              <a:t>）实质割据。社会层面，土地兼并严重，流民四起，外有</a:t>
            </a:r>
            <a:r>
              <a:rPr lang="en-US" altLang="zh-CN"/>
              <a:t>“</a:t>
            </a:r>
            <a:r>
              <a:rPr lang="zh-CN" altLang="en-US"/>
              <a:t>北狄</a:t>
            </a:r>
            <a:r>
              <a:rPr lang="en-US" altLang="zh-CN"/>
              <a:t>”“</a:t>
            </a:r>
            <a:r>
              <a:rPr lang="zh-CN" altLang="en-US"/>
              <a:t>西羌</a:t>
            </a:r>
            <a:r>
              <a:rPr lang="en-US" altLang="zh-CN"/>
              <a:t>”</a:t>
            </a:r>
            <a:r>
              <a:rPr lang="zh-CN" altLang="en-US"/>
              <a:t>侵扰，内有漕运、盐税危机，呈现出</a:t>
            </a:r>
            <a:r>
              <a:rPr lang="" altLang="en-US"/>
              <a:t> </a:t>
            </a:r>
            <a:r>
              <a:rPr lang="en-US" altLang="zh-CN"/>
              <a:t>**“</a:t>
            </a:r>
            <a:r>
              <a:rPr lang="zh-CN" altLang="en-US"/>
              <a:t>制度精密而执行力溃烂</a:t>
            </a:r>
            <a:r>
              <a:rPr lang="en-US" altLang="zh-CN"/>
              <a:t>”**</a:t>
            </a:r>
            <a:r>
              <a:rPr lang="" altLang="en-US"/>
              <a:t> </a:t>
            </a:r>
            <a:r>
              <a:rPr lang="zh-CN" altLang="en-US"/>
              <a:t>的末世图景。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**</a:t>
            </a:r>
            <a:r>
              <a:rPr lang="zh-CN" altLang="en-US"/>
              <a:t>政治架构核心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内阁</a:t>
            </a:r>
            <a:r>
              <a:rPr lang="en-US" altLang="zh-CN"/>
              <a:t>**</a:t>
            </a:r>
            <a:r>
              <a:rPr lang="zh-CN" altLang="en-US"/>
              <a:t>：设首辅、次辅、群辅，掌</a:t>
            </a:r>
            <a:r>
              <a:rPr lang="en-US" altLang="zh-CN"/>
              <a:t>“</a:t>
            </a:r>
            <a:r>
              <a:rPr lang="zh-CN" altLang="en-US"/>
              <a:t>票拟</a:t>
            </a:r>
            <a:r>
              <a:rPr lang="en-US" altLang="zh-CN"/>
              <a:t>”</a:t>
            </a:r>
            <a:r>
              <a:rPr lang="zh-CN" altLang="en-US"/>
              <a:t>权，实际操纵六部。</a:t>
            </a:r>
            <a:br>
              <a:rPr lang="zh-CN" altLang="en-US"/>
            </a:br>
            <a:r>
              <a:rPr lang="en-US" altLang="zh-CN"/>
              <a:t>  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司礼监</a:t>
            </a:r>
            <a:r>
              <a:rPr lang="en-US" altLang="zh-CN"/>
              <a:t>**</a:t>
            </a:r>
            <a:r>
              <a:rPr lang="zh-CN" altLang="en-US"/>
              <a:t>：掌</a:t>
            </a:r>
            <a:r>
              <a:rPr lang="en-US" altLang="zh-CN"/>
              <a:t>“</a:t>
            </a:r>
            <a:r>
              <a:rPr lang="zh-CN" altLang="en-US"/>
              <a:t>批红</a:t>
            </a:r>
            <a:r>
              <a:rPr lang="en-US" altLang="zh-CN"/>
              <a:t>”</a:t>
            </a:r>
            <a:r>
              <a:rPr lang="zh-CN" altLang="en-US"/>
              <a:t>权，下设</a:t>
            </a:r>
            <a:r>
              <a:rPr lang="" altLang="en-US"/>
              <a:t> </a:t>
            </a:r>
            <a:r>
              <a:rPr lang="en-US" altLang="zh-CN"/>
              <a:t>**“</a:t>
            </a:r>
            <a:r>
              <a:rPr lang="zh-CN" altLang="en-US"/>
              <a:t>内行厂</a:t>
            </a:r>
            <a:r>
              <a:rPr lang="en-US" altLang="zh-CN"/>
              <a:t>”**</a:t>
            </a:r>
            <a:r>
              <a:rPr lang="" altLang="en-US"/>
              <a:t> </a:t>
            </a:r>
            <a:r>
              <a:rPr lang="zh-CN" altLang="en-US"/>
              <a:t>（架空特务机构，兼有明朝厂卫与唐代内卫职能）。</a:t>
            </a:r>
            <a:br>
              <a:rPr lang="zh-CN" altLang="en-US"/>
            </a:br>
            <a:r>
              <a:rPr lang="en-US" altLang="zh-CN"/>
              <a:t>  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六部</a:t>
            </a:r>
            <a:r>
              <a:rPr lang="en-US" altLang="zh-CN"/>
              <a:t>**</a:t>
            </a:r>
            <a:r>
              <a:rPr lang="zh-CN" altLang="en-US"/>
              <a:t>：吏部权最重（掌考功、铨选），户部掌钱粮却受制于漕运、盐铁世家，兵部虚领军政，实权在军镇都督手中。</a:t>
            </a:r>
            <a:br>
              <a:rPr lang="zh-CN" altLang="en-US"/>
            </a:br>
            <a:r>
              <a:rPr lang="en-US" altLang="zh-CN"/>
              <a:t>  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科举</a:t>
            </a:r>
            <a:r>
              <a:rPr lang="en-US" altLang="zh-CN"/>
              <a:t>**</a:t>
            </a:r>
            <a:r>
              <a:rPr lang="zh-CN" altLang="en-US"/>
              <a:t>：分乡试、会试、殿试，但世族把持</a:t>
            </a:r>
            <a:r>
              <a:rPr lang="en-US" altLang="zh-CN"/>
              <a:t>“</a:t>
            </a:r>
            <a:r>
              <a:rPr lang="zh-CN" altLang="en-US"/>
              <a:t>荐举</a:t>
            </a:r>
            <a:r>
              <a:rPr lang="en-US" altLang="zh-CN"/>
              <a:t>”</a:t>
            </a:r>
            <a:r>
              <a:rPr lang="zh-CN" altLang="en-US"/>
              <a:t>渠道，寒门进士多被排挤至闲职。</a:t>
            </a:r>
            <a:br>
              <a:rPr lang="zh-CN" altLang="en-US"/>
            </a:br>
            <a:r>
              <a:rPr lang="en-US" altLang="zh-CN"/>
              <a:t>  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**</a:t>
            </a:r>
            <a:r>
              <a:rPr lang="zh-CN" altLang="en-US"/>
              <a:t>军事体系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中央</a:t>
            </a:r>
            <a:r>
              <a:rPr lang="en-US" altLang="zh-CN"/>
              <a:t>**</a:t>
            </a:r>
            <a:r>
              <a:rPr lang="zh-CN" altLang="en-US"/>
              <a:t>：十二卫亲军（腐败空虚）。</a:t>
            </a:r>
            <a:br>
              <a:rPr lang="zh-CN" altLang="en-US"/>
            </a:br>
            <a:r>
              <a:rPr lang="en-US" altLang="zh-CN"/>
              <a:t>  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地方</a:t>
            </a:r>
            <a:r>
              <a:rPr lang="en-US" altLang="zh-CN"/>
              <a:t>**</a:t>
            </a:r>
            <a:r>
              <a:rPr lang="zh-CN" altLang="en-US"/>
              <a:t>：三十六卫所（屯田制崩坏，军户逃亡）。</a:t>
            </a:r>
            <a:br>
              <a:rPr lang="zh-CN" altLang="en-US"/>
            </a:br>
            <a:r>
              <a:rPr lang="en-US" altLang="zh-CN"/>
              <a:t>  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边疆</a:t>
            </a:r>
            <a:r>
              <a:rPr lang="en-US" altLang="zh-CN"/>
              <a:t>**</a:t>
            </a:r>
            <a:r>
              <a:rPr lang="zh-CN" altLang="en-US"/>
              <a:t>：四大军镇（燕云、陇西、南诏、东海），拥私兵、截赋税，渐成国中之国。</a:t>
            </a:r>
            <a:br>
              <a:rPr lang="zh-CN" altLang="en-US"/>
            </a:br>
            <a:r>
              <a:rPr lang="en-US" altLang="zh-CN"/>
              <a:t>  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**</a:t>
            </a:r>
            <a:r>
              <a:rPr lang="zh-CN" altLang="en-US"/>
              <a:t>经济命脉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盐业</a:t>
            </a:r>
            <a:r>
              <a:rPr lang="en-US" altLang="zh-CN"/>
              <a:t>**</a:t>
            </a:r>
            <a:r>
              <a:rPr lang="zh-CN" altLang="en-US"/>
              <a:t>：两淮盐场被</a:t>
            </a:r>
            <a:r>
              <a:rPr lang="en-US" altLang="zh-CN"/>
              <a:t>“</a:t>
            </a:r>
            <a:r>
              <a:rPr lang="zh-CN" altLang="en-US"/>
              <a:t>淮扬盐商联合会</a:t>
            </a:r>
            <a:r>
              <a:rPr lang="en-US" altLang="zh-CN"/>
              <a:t>”</a:t>
            </a:r>
            <a:r>
              <a:rPr lang="zh-CN" altLang="en-US"/>
              <a:t>垄断，盐税十不入一。</a:t>
            </a:r>
            <a:br>
              <a:rPr lang="zh-CN" altLang="en-US"/>
            </a:br>
            <a:r>
              <a:rPr lang="en-US" altLang="zh-CN"/>
              <a:t>  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漕运</a:t>
            </a:r>
            <a:r>
              <a:rPr lang="en-US" altLang="zh-CN"/>
              <a:t>**</a:t>
            </a:r>
            <a:r>
              <a:rPr lang="zh-CN" altLang="en-US"/>
              <a:t>：大运河沿线由</a:t>
            </a:r>
            <a:r>
              <a:rPr lang="en-US" altLang="zh-CN"/>
              <a:t>“</a:t>
            </a:r>
            <a:r>
              <a:rPr lang="zh-CN" altLang="en-US"/>
              <a:t>漕帮</a:t>
            </a:r>
            <a:r>
              <a:rPr lang="en-US" altLang="zh-CN"/>
              <a:t>”</a:t>
            </a:r>
            <a:r>
              <a:rPr lang="zh-CN" altLang="en-US"/>
              <a:t>与地方世家共控，漕粮常被截留。</a:t>
            </a:r>
            <a:br>
              <a:rPr lang="zh-CN" altLang="en-US"/>
            </a:br>
            <a:r>
              <a:rPr lang="en-US" altLang="zh-CN"/>
              <a:t>  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边贸</a:t>
            </a:r>
            <a:r>
              <a:rPr lang="en-US" altLang="zh-CN"/>
              <a:t>**</a:t>
            </a:r>
            <a:r>
              <a:rPr lang="zh-CN" altLang="en-US"/>
              <a:t>：北境马市、西陲茶马互市，利益滋养军镇与豪商。</a:t>
            </a:r>
            <a:br>
              <a:rPr lang="zh-CN" altLang="en-US"/>
            </a:br>
            <a:r>
              <a:rPr lang="en-US" altLang="zh-CN"/>
              <a:t>  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**</a:t>
            </a:r>
            <a:r>
              <a:rPr lang="zh-CN" altLang="en-US"/>
              <a:t>核心冲突土壤</a:t>
            </a:r>
            <a:r>
              <a:rPr lang="en-US" altLang="zh-CN"/>
              <a:t>**  </a:t>
            </a:r>
            <a:br>
              <a:rPr lang="en-US" altLang="zh-CN"/>
            </a:br>
            <a:r>
              <a:rPr lang="zh-CN" altLang="en-US"/>
              <a:t>制度虽在，但</a:t>
            </a:r>
            <a:r>
              <a:rPr lang="" altLang="en-US"/>
              <a:t> </a:t>
            </a:r>
            <a:r>
              <a:rPr lang="en-US" altLang="zh-CN"/>
              <a:t>**“</a:t>
            </a:r>
            <a:r>
              <a:rPr lang="zh-CN" altLang="en-US"/>
              <a:t>潜规则</a:t>
            </a:r>
            <a:r>
              <a:rPr lang="en-US" altLang="zh-CN"/>
              <a:t>”**</a:t>
            </a:r>
            <a:r>
              <a:rPr lang="" altLang="en-US"/>
              <a:t> </a:t>
            </a:r>
            <a:r>
              <a:rPr lang="zh-CN" altLang="en-US"/>
              <a:t>已成主流。官员晋升靠党争站队与金银开道；司法成为权贵工具；军功被门阀子弟冒领；税收层层盘剥。这是一个</a:t>
            </a:r>
            <a:r>
              <a:rPr lang="" altLang="en-US"/>
              <a:t> </a:t>
            </a:r>
            <a:r>
              <a:rPr lang="en-US" altLang="zh-CN"/>
              <a:t>**“</a:t>
            </a:r>
            <a:r>
              <a:rPr lang="zh-CN" altLang="en-US"/>
              <a:t>所有人都在规则内作弊</a:t>
            </a:r>
            <a:r>
              <a:rPr lang="en-US" altLang="zh-CN"/>
              <a:t>”**</a:t>
            </a:r>
            <a:r>
              <a:rPr lang="" altLang="en-US"/>
              <a:t> </a:t>
            </a:r>
            <a:r>
              <a:rPr lang="zh-CN" altLang="en-US"/>
              <a:t>的时代，主角的破局点在于</a:t>
            </a:r>
            <a:r>
              <a:rPr lang="" altLang="en-US"/>
              <a:t> </a:t>
            </a:r>
            <a:r>
              <a:rPr lang="en-US" altLang="zh-CN"/>
              <a:t>**“</a:t>
            </a:r>
            <a:r>
              <a:rPr lang="zh-CN" altLang="en-US"/>
              <a:t>用规则打破规则，再重建规则</a:t>
            </a:r>
            <a:r>
              <a:rPr lang="en-US" altLang="zh-CN"/>
              <a:t>”**</a:t>
            </a:r>
            <a:r>
              <a:rPr lang="zh-CN" altLang="en-US"/>
              <a:t>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## **# **</a:t>
            </a:r>
            <a:r>
              <a:rPr lang="zh-CN" altLang="en-US"/>
              <a:t>《昭胤风云录》核心人物群像设定（终版）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 **</a:t>
            </a:r>
            <a:r>
              <a:rPr lang="zh-CN" altLang="en-US"/>
              <a:t>一、主角阵营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**1. </a:t>
            </a:r>
            <a:r>
              <a:rPr lang="zh-CN" altLang="en-US"/>
              <a:t>陆沉（字：明渊）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基础档案</a:t>
            </a:r>
            <a:r>
              <a:rPr lang="en-US" altLang="zh-CN"/>
              <a:t>**</a:t>
            </a:r>
            <a:r>
              <a:rPr lang="zh-CN" altLang="en-US"/>
              <a:t>：开场</a:t>
            </a:r>
            <a:r>
              <a:rPr lang="en-US" altLang="zh-CN"/>
              <a:t>22</a:t>
            </a:r>
            <a:r>
              <a:rPr lang="zh-CN" altLang="en-US"/>
              <a:t>岁，终卷约</a:t>
            </a:r>
            <a:r>
              <a:rPr lang="en-US" altLang="zh-CN"/>
              <a:t>37</a:t>
            </a:r>
            <a:r>
              <a:rPr lang="zh-CN" altLang="en-US"/>
              <a:t>岁。面容清癯，目光沉静如深潭，右手有旧刑伤微曲。出身京城官宦世家，父为前刑部侍郎，因涉皇子案被贬流放而死。陆沉受牵连沦为燕云镇流外刑吏。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核心特质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性格复杂性</a:t>
            </a:r>
            <a:r>
              <a:rPr lang="en-US" altLang="zh-CN"/>
              <a:t>**</a:t>
            </a:r>
            <a:r>
              <a:rPr lang="zh-CN" altLang="en-US"/>
              <a:t>：理性至上，精于计算，但内心深处埋有对公正秩序的执着与对弱者的恻隐。外表温和，内里果决狠辣，必要时可弃情绝义。随着地位攀升，孤独感与沧桑感日增。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权谋风格演变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  - **</a:t>
            </a:r>
            <a:r>
              <a:rPr lang="zh-CN" altLang="en-US"/>
              <a:t>前期（寒吏）</a:t>
            </a:r>
            <a:r>
              <a:rPr lang="en-US" altLang="zh-CN"/>
              <a:t>**</a:t>
            </a:r>
            <a:r>
              <a:rPr lang="zh-CN" altLang="en-US"/>
              <a:t>：善用规则漏洞与信息差，借力打力，诡道求生。</a:t>
            </a:r>
            <a:br>
              <a:rPr lang="zh-CN" altLang="en-US"/>
            </a:br>
            <a:r>
              <a:rPr lang="en-US" altLang="zh-CN"/>
              <a:t>    - **</a:t>
            </a:r>
            <a:r>
              <a:rPr lang="zh-CN" altLang="en-US"/>
              <a:t>中期（谋臣）</a:t>
            </a:r>
            <a:r>
              <a:rPr lang="en-US" altLang="zh-CN"/>
              <a:t>**</a:t>
            </a:r>
            <a:r>
              <a:rPr lang="zh-CN" altLang="en-US"/>
              <a:t>：长于系统分析、资源整合、阳谋布局，擅借大势。</a:t>
            </a:r>
            <a:br>
              <a:rPr lang="zh-CN" altLang="en-US"/>
            </a:br>
            <a:r>
              <a:rPr lang="en-US" altLang="zh-CN"/>
              <a:t>    - **</a:t>
            </a:r>
            <a:r>
              <a:rPr lang="zh-CN" altLang="en-US"/>
              <a:t>后期（首辅）</a:t>
            </a:r>
            <a:r>
              <a:rPr lang="en-US" altLang="zh-CN"/>
              <a:t>**</a:t>
            </a:r>
            <a:r>
              <a:rPr lang="zh-CN" altLang="en-US"/>
              <a:t>：以制度为武器，推行阳谋改革，平衡各方，格局宏大。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核心能力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制度解构与重构能力</a:t>
            </a:r>
            <a:r>
              <a:rPr lang="en-US" altLang="zh-CN"/>
              <a:t>**</a:t>
            </a:r>
            <a:r>
              <a:rPr lang="zh-CN" altLang="en-US"/>
              <a:t>。能迅速理解任何复杂系统的运行规则与漏洞，并设计出更高效（有时也更冷酷）的替代方案。兼具战略眼光与极致细节执行力。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立场与关系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政治派系</a:t>
            </a:r>
            <a:r>
              <a:rPr lang="en-US" altLang="zh-CN"/>
              <a:t>**</a:t>
            </a:r>
            <a:r>
              <a:rPr lang="zh-CN" altLang="en-US"/>
              <a:t>：从无派系寒微，到成为</a:t>
            </a:r>
            <a:r>
              <a:rPr lang="en-US" altLang="zh-CN"/>
              <a:t>“</a:t>
            </a:r>
            <a:r>
              <a:rPr lang="zh-CN" altLang="en-US"/>
              <a:t>实务改革派</a:t>
            </a:r>
            <a:r>
              <a:rPr lang="en-US" altLang="zh-CN"/>
              <a:t>”</a:t>
            </a:r>
            <a:r>
              <a:rPr lang="zh-CN" altLang="en-US"/>
              <a:t>的核心与领袖。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核心诉求</a:t>
            </a:r>
            <a:r>
              <a:rPr lang="en-US" altLang="zh-CN"/>
              <a:t>**</a:t>
            </a:r>
            <a:r>
              <a:rPr lang="zh-CN" altLang="en-US"/>
              <a:t>：前期为生存与复仇；中期为实践抱负、重塑秩序；后期为巩固改革成果、应对新挑战，同时背负逝者的期望。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关系演变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  - </a:t>
            </a:r>
            <a:r>
              <a:rPr lang="zh-CN" altLang="en-US"/>
              <a:t>与</a:t>
            </a:r>
            <a:r>
              <a:rPr lang="en-US" altLang="zh-CN"/>
              <a:t>**</a:t>
            </a:r>
            <a:r>
              <a:rPr lang="zh-CN" altLang="en-US"/>
              <a:t>杨啸</a:t>
            </a:r>
            <a:r>
              <a:rPr lang="en-US" altLang="zh-CN"/>
              <a:t>**</a:t>
            </a:r>
            <a:r>
              <a:rPr lang="zh-CN" altLang="en-US"/>
              <a:t>：从相互利用到彼此倚重，亦主亦友，是陆沉军事力量与早期实践的基石。</a:t>
            </a:r>
            <a:br>
              <a:rPr lang="zh-CN" altLang="en-US"/>
            </a:br>
            <a:r>
              <a:rPr lang="en-US" altLang="zh-CN"/>
              <a:t>    - </a:t>
            </a:r>
            <a:r>
              <a:rPr lang="zh-CN" altLang="en-US"/>
              <a:t>与</a:t>
            </a:r>
            <a:r>
              <a:rPr lang="en-US" altLang="zh-CN"/>
              <a:t>**</a:t>
            </a:r>
            <a:r>
              <a:rPr lang="zh-CN" altLang="en-US"/>
              <a:t>萧彻</a:t>
            </a:r>
            <a:r>
              <a:rPr lang="en-US" altLang="zh-CN"/>
              <a:t>**</a:t>
            </a:r>
            <a:r>
              <a:rPr lang="zh-CN" altLang="en-US"/>
              <a:t>：从狱中互助的盟友，到政治理想的共同实践者（君与臣），彼此信任极深，是事业共同体。</a:t>
            </a:r>
            <a:br>
              <a:rPr lang="zh-CN" altLang="en-US"/>
            </a:br>
            <a:r>
              <a:rPr lang="en-US" altLang="zh-CN"/>
              <a:t>    - </a:t>
            </a:r>
            <a:r>
              <a:rPr lang="zh-CN" altLang="en-US"/>
              <a:t>与</a:t>
            </a:r>
            <a:r>
              <a:rPr lang="en-US" altLang="zh-CN"/>
              <a:t>**</a:t>
            </a:r>
            <a:r>
              <a:rPr lang="zh-CN" altLang="en-US"/>
              <a:t>秦望之</a:t>
            </a:r>
            <a:r>
              <a:rPr lang="en-US" altLang="zh-CN"/>
              <a:t>**</a:t>
            </a:r>
            <a:r>
              <a:rPr lang="zh-CN" altLang="en-US"/>
              <a:t>：亦师亦友，财政上的导师与最可靠的执行者，情感上如同父兄。</a:t>
            </a:r>
            <a:br>
              <a:rPr lang="zh-CN" altLang="en-US"/>
            </a:br>
            <a:r>
              <a:rPr lang="en-US" altLang="zh-CN"/>
              <a:t>    - </a:t>
            </a:r>
            <a:r>
              <a:rPr lang="zh-CN" altLang="en-US"/>
              <a:t>与</a:t>
            </a:r>
            <a:r>
              <a:rPr lang="en-US" altLang="zh-CN"/>
              <a:t>**</a:t>
            </a:r>
            <a:r>
              <a:rPr lang="zh-CN" altLang="en-US"/>
              <a:t>苏怀瑾</a:t>
            </a:r>
            <a:r>
              <a:rPr lang="en-US" altLang="zh-CN"/>
              <a:t>**</a:t>
            </a:r>
            <a:r>
              <a:rPr lang="zh-CN" altLang="en-US"/>
              <a:t>：从互相试探利用，到知己、恋人（未明言），是情感寄托与黑暗中的慰藉，其死是陆沉心中永远的痛与憾。</a:t>
            </a:r>
            <a:br>
              <a:rPr lang="zh-CN" altLang="en-US"/>
            </a:br>
            <a:r>
              <a:rPr lang="en-US" altLang="zh-CN"/>
              <a:t>    - </a:t>
            </a:r>
            <a:r>
              <a:rPr lang="zh-CN" altLang="en-US"/>
              <a:t>与</a:t>
            </a:r>
            <a:r>
              <a:rPr lang="en-US" altLang="zh-CN"/>
              <a:t>**</a:t>
            </a:r>
            <a:r>
              <a:rPr lang="zh-CN" altLang="en-US"/>
              <a:t>顾昭</a:t>
            </a:r>
            <a:r>
              <a:rPr lang="en-US" altLang="zh-CN"/>
              <a:t>**</a:t>
            </a:r>
            <a:r>
              <a:rPr lang="zh-CN" altLang="en-US"/>
              <a:t>：将其从理想主义者引导为实干家，是政治理念的传承者与诤友。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成长弧光</a:t>
            </a:r>
            <a:r>
              <a:rPr lang="en-US" altLang="zh-CN"/>
              <a:t>**</a:t>
            </a:r>
            <a:r>
              <a:rPr lang="zh-CN" altLang="en-US"/>
              <a:t>：从</a:t>
            </a:r>
            <a:r>
              <a:rPr lang="en-US" altLang="zh-CN"/>
              <a:t>**</a:t>
            </a:r>
            <a:r>
              <a:rPr lang="zh-CN" altLang="en-US"/>
              <a:t>求存者</a:t>
            </a:r>
            <a:r>
              <a:rPr lang="en-US" altLang="zh-CN"/>
              <a:t>**</a:t>
            </a:r>
            <a:r>
              <a:rPr lang="zh-CN" altLang="en-US"/>
              <a:t>（利用规则）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棋手</a:t>
            </a:r>
            <a:r>
              <a:rPr lang="en-US" altLang="zh-CN"/>
              <a:t>**</a:t>
            </a:r>
            <a:r>
              <a:rPr lang="zh-CN" altLang="en-US"/>
              <a:t>（制定规则）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执棋者</a:t>
            </a:r>
            <a:r>
              <a:rPr lang="en-US" altLang="zh-CN"/>
              <a:t>/</a:t>
            </a:r>
            <a:r>
              <a:rPr lang="zh-CN" altLang="en-US"/>
              <a:t>立法者</a:t>
            </a:r>
            <a:r>
              <a:rPr lang="en-US" altLang="zh-CN"/>
              <a:t>**</a:t>
            </a:r>
            <a:r>
              <a:rPr lang="zh-CN" altLang="en-US"/>
              <a:t>（重建规则）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守望者</a:t>
            </a:r>
            <a:r>
              <a:rPr lang="en-US" altLang="zh-CN"/>
              <a:t>**</a:t>
            </a:r>
            <a:r>
              <a:rPr lang="zh-CN" altLang="en-US"/>
              <a:t>（反思规则）。最终明白权力的局限与秩序重建的永恒性，在理想主义与现实主义间找到动态平衡。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致命弱点</a:t>
            </a:r>
            <a:r>
              <a:rPr lang="en-US" altLang="zh-CN"/>
              <a:t>/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弱点</a:t>
            </a:r>
            <a:r>
              <a:rPr lang="en-US" altLang="zh-CN"/>
              <a:t>**</a:t>
            </a:r>
            <a:r>
              <a:rPr lang="zh-CN" altLang="en-US"/>
              <a:t>：重情义，却常需为大局牺牲情义，内心承受巨大煎熬。身体因早年磨难留有暗伤。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：内心深处对</a:t>
            </a:r>
            <a:r>
              <a:rPr lang="en-US" altLang="zh-CN"/>
              <a:t>“</a:t>
            </a:r>
            <a:r>
              <a:rPr lang="zh-CN" altLang="en-US"/>
              <a:t>绝对的公正</a:t>
            </a:r>
            <a:r>
              <a:rPr lang="en-US" altLang="zh-CN"/>
              <a:t>”</a:t>
            </a:r>
            <a:r>
              <a:rPr lang="zh-CN" altLang="en-US"/>
              <a:t>抱有一丝近乎天真的执念，这是其一切行动的最初火种，也是其痛苦根源。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### **2. </a:t>
            </a:r>
            <a:r>
              <a:rPr lang="zh-CN" altLang="en-US"/>
              <a:t>萧彻（昭武帝）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基础档案</a:t>
            </a:r>
            <a:r>
              <a:rPr lang="en-US" altLang="zh-CN"/>
              <a:t>**</a:t>
            </a:r>
            <a:r>
              <a:rPr lang="zh-CN" altLang="en-US"/>
              <a:t>：开场</a:t>
            </a:r>
            <a:r>
              <a:rPr lang="en-US" altLang="zh-CN"/>
              <a:t>22</a:t>
            </a:r>
            <a:r>
              <a:rPr lang="zh-CN" altLang="en-US"/>
              <a:t>岁，终卷约</a:t>
            </a:r>
            <a:r>
              <a:rPr lang="en-US" altLang="zh-CN"/>
              <a:t>37</a:t>
            </a:r>
            <a:r>
              <a:rPr lang="zh-CN" altLang="en-US"/>
              <a:t>岁。相貌清俊，气质温润隐忍，登基后威仪日重。皇七子，生母为宫女，早年被皇后毒杀，他目睹过程，自此藏拙保身。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核心特质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性格复杂性</a:t>
            </a:r>
            <a:r>
              <a:rPr lang="en-US" altLang="zh-CN"/>
              <a:t>**</a:t>
            </a:r>
            <a:r>
              <a:rPr lang="zh-CN" altLang="en-US"/>
              <a:t>：表面懦弱平庸，实则心机深沉，观察力极强，忍耐力超群。登基后展现出果决、宽仁与智慧并存的明君气质。对陆沉有绝对的信任，也深知制衡之道。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权谋风格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隐忍后发，王道为表，术道为里</a:t>
            </a:r>
            <a:r>
              <a:rPr lang="en-US" altLang="zh-CN"/>
              <a:t>**</a:t>
            </a:r>
            <a:r>
              <a:rPr lang="zh-CN" altLang="en-US"/>
              <a:t>。善于利用身份合法性，在关键时刻做出精准判断和投资（如投资陆沉）。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核心能力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识人用人、政治平衡</a:t>
            </a:r>
            <a:r>
              <a:rPr lang="en-US" altLang="zh-CN"/>
              <a:t>**</a:t>
            </a:r>
            <a:r>
              <a:rPr lang="zh-CN" altLang="en-US"/>
              <a:t>。拥有帝王必备的直觉与决断力，能在复杂局面中找准关键支点（陆沉）。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立场与关系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政治派系</a:t>
            </a:r>
            <a:r>
              <a:rPr lang="en-US" altLang="zh-CN"/>
              <a:t>**</a:t>
            </a:r>
            <a:r>
              <a:rPr lang="zh-CN" altLang="en-US"/>
              <a:t>：从边缘皇子到</a:t>
            </a:r>
            <a:r>
              <a:rPr lang="en-US" altLang="zh-CN"/>
              <a:t>“</a:t>
            </a:r>
            <a:r>
              <a:rPr lang="zh-CN" altLang="en-US"/>
              <a:t>改革派</a:t>
            </a:r>
            <a:r>
              <a:rPr lang="en-US" altLang="zh-CN"/>
              <a:t>”</a:t>
            </a:r>
            <a:r>
              <a:rPr lang="zh-CN" altLang="en-US"/>
              <a:t>的皇权代表。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核心诉求</a:t>
            </a:r>
            <a:r>
              <a:rPr lang="en-US" altLang="zh-CN"/>
              <a:t>**</a:t>
            </a:r>
            <a:r>
              <a:rPr lang="zh-CN" altLang="en-US"/>
              <a:t>：前期为生存与复仇（为母）；中期为获得权力以自保并实现政治理想；后期为成为一代明君，开创盛世。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与陆沉关系</a:t>
            </a:r>
            <a:r>
              <a:rPr lang="en-US" altLang="zh-CN"/>
              <a:t>**</a:t>
            </a:r>
            <a:r>
              <a:rPr lang="zh-CN" altLang="en-US"/>
              <a:t>：绝对的盟友与君主。理解并全力支持陆沉的改革，是陆沉理想得以实施的根本保障。关系超越一般的君臣，近乎</a:t>
            </a:r>
            <a:r>
              <a:rPr lang="en-US" altLang="zh-CN"/>
              <a:t>“</a:t>
            </a:r>
            <a:r>
              <a:rPr lang="zh-CN" altLang="en-US"/>
              <a:t>知己之君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成长弧光</a:t>
            </a:r>
            <a:r>
              <a:rPr lang="en-US" altLang="zh-CN"/>
              <a:t>**</a:t>
            </a:r>
            <a:r>
              <a:rPr lang="zh-CN" altLang="en-US"/>
              <a:t>：从</a:t>
            </a:r>
            <a:r>
              <a:rPr lang="en-US" altLang="zh-CN"/>
              <a:t>**</a:t>
            </a:r>
            <a:r>
              <a:rPr lang="zh-CN" altLang="en-US"/>
              <a:t>隐藏的猎手</a:t>
            </a:r>
            <a:r>
              <a:rPr lang="en-US" altLang="zh-CN"/>
              <a:t>**</a:t>
            </a:r>
            <a:r>
              <a:rPr lang="zh-CN" altLang="en-US"/>
              <a:t>（深宫求生）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勇敢的投资者</a:t>
            </a:r>
            <a:r>
              <a:rPr lang="en-US" altLang="zh-CN"/>
              <a:t>**</a:t>
            </a:r>
            <a:r>
              <a:rPr lang="zh-CN" altLang="en-US"/>
              <a:t>（结盟陆沉）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合格的共主</a:t>
            </a:r>
            <a:r>
              <a:rPr lang="en-US" altLang="zh-CN"/>
              <a:t>**</a:t>
            </a:r>
            <a:r>
              <a:rPr lang="zh-CN" altLang="en-US"/>
              <a:t>（平定叛乱）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成熟的帝王</a:t>
            </a:r>
            <a:r>
              <a:rPr lang="en-US" altLang="zh-CN"/>
              <a:t>**</a:t>
            </a:r>
            <a:r>
              <a:rPr lang="zh-CN" altLang="en-US"/>
              <a:t>（推行新政）。学会了在信任与制衡、理想与现实间把握尺度。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致命弱点</a:t>
            </a:r>
            <a:r>
              <a:rPr lang="en-US" altLang="zh-CN"/>
              <a:t>/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心理阴影</a:t>
            </a:r>
            <a:r>
              <a:rPr lang="en-US" altLang="zh-CN"/>
              <a:t>**</a:t>
            </a:r>
            <a:r>
              <a:rPr lang="zh-CN" altLang="en-US"/>
              <a:t>：母亲被毒杀的惨状是其毕生梦魇，使其对后宫、宦官势力极度警惕，也加深了对</a:t>
            </a:r>
            <a:r>
              <a:rPr lang="en-US" altLang="zh-CN"/>
              <a:t>“</a:t>
            </a:r>
            <a:r>
              <a:rPr lang="zh-CN" altLang="en-US"/>
              <a:t>秩序崩坏</a:t>
            </a:r>
            <a:r>
              <a:rPr lang="en-US" altLang="zh-CN"/>
              <a:t>”</a:t>
            </a:r>
            <a:r>
              <a:rPr lang="zh-CN" altLang="en-US"/>
              <a:t>的痛恨。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：私下调查生母家族旧案，发现与当年晋阳党有千丝万缕联系，这更坚定了他铲除旧世族的决心。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### **3. </a:t>
            </a:r>
            <a:r>
              <a:rPr lang="zh-CN" altLang="en-US"/>
              <a:t>秦望之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基础档案</a:t>
            </a:r>
            <a:r>
              <a:rPr lang="en-US" altLang="zh-CN"/>
              <a:t>**</a:t>
            </a:r>
            <a:r>
              <a:rPr lang="zh-CN" altLang="en-US"/>
              <a:t>：出场时约</a:t>
            </a:r>
            <a:r>
              <a:rPr lang="en-US" altLang="zh-CN"/>
              <a:t>50</a:t>
            </a:r>
            <a:r>
              <a:rPr lang="zh-CN" altLang="en-US"/>
              <a:t>岁，终卷病故。瘦削落魄，眼神却锐利如鹰，嗜酒，谈起财政数字则神采飞扬。前户部浙江清吏司主事，因</a:t>
            </a:r>
            <a:r>
              <a:rPr lang="en-US" altLang="zh-CN"/>
              <a:t>“</a:t>
            </a:r>
            <a:r>
              <a:rPr lang="zh-CN" altLang="en-US"/>
              <a:t>漕粮空额案</a:t>
            </a:r>
            <a:r>
              <a:rPr lang="en-US" altLang="zh-CN"/>
              <a:t>”</a:t>
            </a:r>
            <a:r>
              <a:rPr lang="zh-CN" altLang="en-US"/>
              <a:t>顶罪被流放。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核心特质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性格</a:t>
            </a:r>
            <a:r>
              <a:rPr lang="en-US" altLang="zh-CN"/>
              <a:t>**</a:t>
            </a:r>
            <a:r>
              <a:rPr lang="zh-CN" altLang="en-US"/>
              <a:t>：外表疏狂，内心炽热。对数字和财政体系有着天才般的直觉与执着，痛恨贪腐，有士大夫的底线。将陆沉视为忘年交与理想的寄托。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权谋风格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数据操控</a:t>
            </a:r>
            <a:r>
              <a:rPr lang="en-US" altLang="zh-CN"/>
              <a:t>**</a:t>
            </a:r>
            <a:r>
              <a:rPr lang="zh-CN" altLang="en-US"/>
              <a:t>。相信</a:t>
            </a:r>
            <a:r>
              <a:rPr lang="en-US" altLang="zh-CN"/>
              <a:t>“</a:t>
            </a:r>
            <a:r>
              <a:rPr lang="zh-CN" altLang="en-US"/>
              <a:t>账目不会说谎</a:t>
            </a:r>
            <a:r>
              <a:rPr lang="en-US" altLang="zh-CN"/>
              <a:t>”</a:t>
            </a:r>
            <a:r>
              <a:rPr lang="zh-CN" altLang="en-US"/>
              <a:t>，善于从数字的细微异常中发现惊天黑幕，并用账本作为武器。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核心能力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昭胤财政体系活字典、审计天才、做账与破账大师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立场与关系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政治派系</a:t>
            </a:r>
            <a:r>
              <a:rPr lang="en-US" altLang="zh-CN"/>
              <a:t>**</a:t>
            </a:r>
            <a:r>
              <a:rPr lang="zh-CN" altLang="en-US"/>
              <a:t>：无明确派系，实为陆沉团队的</a:t>
            </a:r>
            <a:r>
              <a:rPr lang="en-US" altLang="zh-CN"/>
              <a:t>“</a:t>
            </a:r>
            <a:r>
              <a:rPr lang="zh-CN" altLang="en-US"/>
              <a:t>财务总监</a:t>
            </a:r>
            <a:r>
              <a:rPr lang="en-US" altLang="zh-CN"/>
              <a:t>”</a:t>
            </a:r>
            <a:r>
              <a:rPr lang="zh-CN" altLang="en-US"/>
              <a:t>与技术核心。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核心诉求</a:t>
            </a:r>
            <a:r>
              <a:rPr lang="en-US" altLang="zh-CN"/>
              <a:t>**</a:t>
            </a:r>
            <a:r>
              <a:rPr lang="zh-CN" altLang="en-US"/>
              <a:t>：一展财政长才，厘清天下账目，看到海晏河清。保护女儿（后期被陆沉所救）。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与陆沉关系</a:t>
            </a:r>
            <a:r>
              <a:rPr lang="en-US" altLang="zh-CN"/>
              <a:t>**</a:t>
            </a:r>
            <a:r>
              <a:rPr lang="zh-CN" altLang="en-US"/>
              <a:t>：导师、挚友、最可靠的副手。是陆沉财政知识的源头与执行臂膀。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成长弧光</a:t>
            </a:r>
            <a:r>
              <a:rPr lang="en-US" altLang="zh-CN"/>
              <a:t>/</a:t>
            </a:r>
            <a:r>
              <a:rPr lang="zh-CN" altLang="en-US"/>
              <a:t>功能定位</a:t>
            </a:r>
            <a:r>
              <a:rPr lang="en-US" altLang="zh-CN"/>
              <a:t>**</a:t>
            </a:r>
            <a:r>
              <a:rPr lang="zh-CN" altLang="en-US"/>
              <a:t>：从</a:t>
            </a:r>
            <a:r>
              <a:rPr lang="en-US" altLang="zh-CN"/>
              <a:t>**</a:t>
            </a:r>
            <a:r>
              <a:rPr lang="zh-CN" altLang="en-US"/>
              <a:t>沉沦的绝望者</a:t>
            </a:r>
            <a:r>
              <a:rPr lang="en-US" altLang="zh-CN"/>
              <a:t>**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重燃希望的技术官僚</a:t>
            </a:r>
            <a:r>
              <a:rPr lang="en-US" altLang="zh-CN"/>
              <a:t>**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团队的中流砥柱</a:t>
            </a:r>
            <a:r>
              <a:rPr lang="en-US" altLang="zh-CN"/>
              <a:t>**</a:t>
            </a:r>
            <a:r>
              <a:rPr lang="zh-CN" altLang="en-US"/>
              <a:t>。其专业能力是陆沉前期破局和后期改革的关键。</a:t>
            </a:r>
            <a:r>
              <a:rPr lang="en-US" altLang="zh-CN"/>
              <a:t>**</a:t>
            </a:r>
            <a:r>
              <a:rPr lang="zh-CN" altLang="en-US"/>
              <a:t>功能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财务大脑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技术良心的象征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致命弱点</a:t>
            </a:r>
            <a:r>
              <a:rPr lang="en-US" altLang="zh-CN"/>
              <a:t>/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弱点</a:t>
            </a:r>
            <a:r>
              <a:rPr lang="en-US" altLang="zh-CN"/>
              <a:t>**</a:t>
            </a:r>
            <a:r>
              <a:rPr lang="zh-CN" altLang="en-US"/>
              <a:t>：女儿是其唯一软肋。身体因长期流放而虚弱。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漕粮空额案</a:t>
            </a:r>
            <a:r>
              <a:rPr lang="en-US" altLang="zh-CN"/>
              <a:t>”</a:t>
            </a:r>
            <a:r>
              <a:rPr lang="zh-CN" altLang="en-US"/>
              <a:t>中他替真正的幕后黑手（某晋阳党高官）顶了部分罪责，以换取家人平安，此事一直是他心中的刺。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### **4. </a:t>
            </a:r>
            <a:r>
              <a:rPr lang="zh-CN" altLang="en-US"/>
              <a:t>苏怀瑾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基础档案</a:t>
            </a:r>
            <a:r>
              <a:rPr lang="en-US" altLang="zh-CN"/>
              <a:t>**</a:t>
            </a:r>
            <a:r>
              <a:rPr lang="zh-CN" altLang="en-US"/>
              <a:t>：出场时约</a:t>
            </a:r>
            <a:r>
              <a:rPr lang="en-US" altLang="zh-CN"/>
              <a:t>22</a:t>
            </a:r>
            <a:r>
              <a:rPr lang="zh-CN" altLang="en-US"/>
              <a:t>岁，终卷病故约</a:t>
            </a:r>
            <a:r>
              <a:rPr lang="en-US" altLang="zh-CN"/>
              <a:t>32</a:t>
            </a:r>
            <a:r>
              <a:rPr lang="zh-CN" altLang="en-US"/>
              <a:t>岁。容貌绝艳，气质清冷又兼具妩媚，精通音律，长袖善舞。表面是玲珑阁主事，实为内行厂暗桩，前内廷斗争失败太监的养女。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核心特质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性格复杂性</a:t>
            </a:r>
            <a:r>
              <a:rPr lang="en-US" altLang="zh-CN"/>
              <a:t>**</a:t>
            </a:r>
            <a:r>
              <a:rPr lang="zh-CN" altLang="en-US"/>
              <a:t>：外表风情万种，内心孤高清冷，充满矛盾。身负血海深仇（养父之死）与监视任务，在黑暗中挣扎，渴望光明与真情。对陆沉的感情从利用到深爱，是她灰色生命中唯一的光彩。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权谋风格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情报操控、心理博弈</a:t>
            </a:r>
            <a:r>
              <a:rPr lang="en-US" altLang="zh-CN"/>
              <a:t>**</a:t>
            </a:r>
            <a:r>
              <a:rPr lang="zh-CN" altLang="en-US"/>
              <a:t>。擅长利用美色与智慧周旋于各方，获取、分析、传递关键情报。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核心能力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顶级情报分析员、交际花、心理洞察大师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立场与关系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政治派系</a:t>
            </a:r>
            <a:r>
              <a:rPr lang="en-US" altLang="zh-CN"/>
              <a:t>**</a:t>
            </a:r>
            <a:r>
              <a:rPr lang="zh-CN" altLang="en-US"/>
              <a:t>：被迫服务于曹谨，实则心向复仇，最终成为陆沉在黑暗中最关键的盟友。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核心诉求</a:t>
            </a:r>
            <a:r>
              <a:rPr lang="en-US" altLang="zh-CN"/>
              <a:t>**</a:t>
            </a:r>
            <a:r>
              <a:rPr lang="zh-CN" altLang="en-US"/>
              <a:t>：为养父复仇，摆脱傀儡身份，获得真正的自由与爱情。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与陆沉关系</a:t>
            </a:r>
            <a:r>
              <a:rPr lang="en-US" altLang="zh-CN"/>
              <a:t>**</a:t>
            </a:r>
            <a:r>
              <a:rPr lang="zh-CN" altLang="en-US"/>
              <a:t>：从互相试探的</a:t>
            </a:r>
            <a:r>
              <a:rPr lang="en-US" altLang="zh-CN"/>
              <a:t>“</a:t>
            </a:r>
            <a:r>
              <a:rPr lang="zh-CN" altLang="en-US"/>
              <a:t>同行</a:t>
            </a:r>
            <a:r>
              <a:rPr lang="en-US" altLang="zh-CN"/>
              <a:t>”</a:t>
            </a:r>
            <a:r>
              <a:rPr lang="zh-CN" altLang="en-US"/>
              <a:t>，到交付后背的同盟，再到彼此深爱却无法言明、也无法相守的恋人。她的牺牲是陆沉情感世界最大的缺口。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成长弧光</a:t>
            </a:r>
            <a:r>
              <a:rPr lang="en-US" altLang="zh-CN"/>
              <a:t>/</a:t>
            </a:r>
            <a:r>
              <a:rPr lang="zh-CN" altLang="en-US"/>
              <a:t>功能定位</a:t>
            </a:r>
            <a:r>
              <a:rPr lang="en-US" altLang="zh-CN"/>
              <a:t>**</a:t>
            </a:r>
            <a:r>
              <a:rPr lang="zh-CN" altLang="en-US"/>
              <a:t>：从</a:t>
            </a:r>
            <a:r>
              <a:rPr lang="en-US" altLang="zh-CN"/>
              <a:t>**</a:t>
            </a:r>
            <a:r>
              <a:rPr lang="zh-CN" altLang="en-US"/>
              <a:t>复仇的工具</a:t>
            </a:r>
            <a:r>
              <a:rPr lang="en-US" altLang="zh-CN"/>
              <a:t>**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拥有自主意志的同盟者</a:t>
            </a:r>
            <a:r>
              <a:rPr lang="en-US" altLang="zh-CN"/>
              <a:t>**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为爱与信念的牺牲者</a:t>
            </a:r>
            <a:r>
              <a:rPr lang="en-US" altLang="zh-CN"/>
              <a:t>**</a:t>
            </a:r>
            <a:r>
              <a:rPr lang="zh-CN" altLang="en-US"/>
              <a:t>。</a:t>
            </a:r>
            <a:r>
              <a:rPr lang="en-US" altLang="zh-CN"/>
              <a:t>**</a:t>
            </a:r>
            <a:r>
              <a:rPr lang="zh-CN" altLang="en-US"/>
              <a:t>功能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黑暗中的眼睛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情感线的悲情核心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主角道德灰度的映照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致命弱点</a:t>
            </a:r>
            <a:r>
              <a:rPr lang="en-US" altLang="zh-CN"/>
              <a:t>/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弱点</a:t>
            </a:r>
            <a:r>
              <a:rPr lang="en-US" altLang="zh-CN"/>
              <a:t>**</a:t>
            </a:r>
            <a:r>
              <a:rPr lang="zh-CN" altLang="en-US"/>
              <a:t>：对陆沉的深情是其最大软肋，也是其做出最终牺牲的动力。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：她掌握着曹谨与晋阳党部分核心成员之间更早、更肮脏的交易记录，涉及多位已故高官，这份记录她至死未完全交出，成为永久的秘密。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### **5. </a:t>
            </a:r>
            <a:r>
              <a:rPr lang="zh-CN" altLang="en-US"/>
              <a:t>顾昭（字：文熙）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基础档案</a:t>
            </a:r>
            <a:r>
              <a:rPr lang="en-US" altLang="zh-CN"/>
              <a:t>**</a:t>
            </a:r>
            <a:r>
              <a:rPr lang="zh-CN" altLang="en-US"/>
              <a:t>：出场时约</a:t>
            </a:r>
            <a:r>
              <a:rPr lang="en-US" altLang="zh-CN"/>
              <a:t>20</a:t>
            </a:r>
            <a:r>
              <a:rPr lang="zh-CN" altLang="en-US"/>
              <a:t>岁，终卷约</a:t>
            </a:r>
            <a:r>
              <a:rPr lang="en-US" altLang="zh-CN"/>
              <a:t>30</a:t>
            </a:r>
            <a:r>
              <a:rPr lang="zh-CN" altLang="en-US"/>
              <a:t>岁。相貌端正，目光明亮，充满朝气与理想主义色彩。出身清流书香门第，少年中举，任监察御史。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核心特质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性格</a:t>
            </a:r>
            <a:r>
              <a:rPr lang="en-US" altLang="zh-CN"/>
              <a:t>**</a:t>
            </a:r>
            <a:r>
              <a:rPr lang="zh-CN" altLang="en-US"/>
              <a:t>：初期刚直易折，充满书生气与道德洁癖。在陆沉影响与实践打磨下，逐渐懂得</a:t>
            </a:r>
            <a:r>
              <a:rPr lang="en-US" altLang="zh-CN"/>
              <a:t>“</a:t>
            </a:r>
            <a:r>
              <a:rPr lang="zh-CN" altLang="en-US"/>
              <a:t>以术护道</a:t>
            </a:r>
            <a:r>
              <a:rPr lang="en-US" altLang="zh-CN"/>
              <a:t>”</a:t>
            </a:r>
            <a:r>
              <a:rPr lang="zh-CN" altLang="en-US"/>
              <a:t>，将理想与现实结合，成长为坚定、务实且仍保有锋芒的改革干将。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权谋风格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从</a:t>
            </a:r>
            <a:r>
              <a:rPr lang="en-US" altLang="zh-CN"/>
              <a:t>“</a:t>
            </a:r>
            <a:r>
              <a:rPr lang="zh-CN" altLang="en-US"/>
              <a:t>道德冲锋</a:t>
            </a:r>
            <a:r>
              <a:rPr lang="en-US" altLang="zh-CN"/>
              <a:t>”</a:t>
            </a:r>
            <a:r>
              <a:rPr lang="zh-CN" altLang="en-US"/>
              <a:t>到</a:t>
            </a:r>
            <a:r>
              <a:rPr lang="en-US" altLang="zh-CN"/>
              <a:t>“</a:t>
            </a:r>
            <a:r>
              <a:rPr lang="zh-CN" altLang="en-US"/>
              <a:t>依法斗争</a:t>
            </a:r>
            <a:r>
              <a:rPr lang="en-US" altLang="zh-CN"/>
              <a:t>”**</a:t>
            </a:r>
            <a:r>
              <a:rPr lang="zh-CN" altLang="en-US"/>
              <a:t>。善用监察体系，注重程序与证据，成为清流中的实务派标杆。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核心能力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监察体系运作、清流人脉网络、公文与辩论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立场与关系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政治派系</a:t>
            </a:r>
            <a:r>
              <a:rPr lang="en-US" altLang="zh-CN"/>
              <a:t>**</a:t>
            </a:r>
            <a:r>
              <a:rPr lang="zh-CN" altLang="en-US"/>
              <a:t>：清流党中的</a:t>
            </a:r>
            <a:r>
              <a:rPr lang="en-US" altLang="zh-CN"/>
              <a:t>“</a:t>
            </a:r>
            <a:r>
              <a:rPr lang="zh-CN" altLang="en-US"/>
              <a:t>实务改革派</a:t>
            </a:r>
            <a:r>
              <a:rPr lang="en-US" altLang="zh-CN"/>
              <a:t>”</a:t>
            </a:r>
            <a:r>
              <a:rPr lang="zh-CN" altLang="en-US"/>
              <a:t>，陆沉在清流中的桥梁与代言人。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核心诉求</a:t>
            </a:r>
            <a:r>
              <a:rPr lang="en-US" altLang="zh-CN"/>
              <a:t>**</a:t>
            </a:r>
            <a:r>
              <a:rPr lang="zh-CN" altLang="en-US"/>
              <a:t>：肃清贪腐，振兴朝纲，实现儒家理想中的治世。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与陆沉关系</a:t>
            </a:r>
            <a:r>
              <a:rPr lang="en-US" altLang="zh-CN"/>
              <a:t>**</a:t>
            </a:r>
            <a:r>
              <a:rPr lang="zh-CN" altLang="en-US"/>
              <a:t>：亦徒亦友，是陆沉政治理念的继承者与新政在官僚体系内的坚定维护者。后期常能直言劝谏，是陆沉重要的</a:t>
            </a:r>
            <a:r>
              <a:rPr lang="en-US" altLang="zh-CN"/>
              <a:t>“</a:t>
            </a:r>
            <a:r>
              <a:rPr lang="zh-CN" altLang="en-US"/>
              <a:t>镜子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成长弧光</a:t>
            </a:r>
            <a:r>
              <a:rPr lang="en-US" altLang="zh-CN"/>
              <a:t>/</a:t>
            </a:r>
            <a:r>
              <a:rPr lang="zh-CN" altLang="en-US"/>
              <a:t>功能定位</a:t>
            </a:r>
            <a:r>
              <a:rPr lang="en-US" altLang="zh-CN"/>
              <a:t>**</a:t>
            </a:r>
            <a:r>
              <a:rPr lang="zh-CN" altLang="en-US"/>
              <a:t>：从</a:t>
            </a:r>
            <a:r>
              <a:rPr lang="en-US" altLang="zh-CN"/>
              <a:t>**</a:t>
            </a:r>
            <a:r>
              <a:rPr lang="zh-CN" altLang="en-US"/>
              <a:t>理想主义的青年言官</a:t>
            </a:r>
            <a:r>
              <a:rPr lang="en-US" altLang="zh-CN"/>
              <a:t>**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懂得策略的实干官员</a:t>
            </a:r>
            <a:r>
              <a:rPr lang="en-US" altLang="zh-CN"/>
              <a:t>**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改革事业的中坚与未来希望</a:t>
            </a:r>
            <a:r>
              <a:rPr lang="en-US" altLang="zh-CN"/>
              <a:t>**</a:t>
            </a:r>
            <a:r>
              <a:rPr lang="zh-CN" altLang="en-US"/>
              <a:t>。</a:t>
            </a:r>
            <a:r>
              <a:rPr lang="en-US" altLang="zh-CN"/>
              <a:t>**</a:t>
            </a:r>
            <a:r>
              <a:rPr lang="zh-CN" altLang="en-US"/>
              <a:t>功能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理念的传承者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体制内的净化剂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主角与清流党的纽带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致命弱点</a:t>
            </a:r>
            <a:r>
              <a:rPr lang="en-US" altLang="zh-CN"/>
              <a:t>/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弱点</a:t>
            </a:r>
            <a:r>
              <a:rPr lang="en-US" altLang="zh-CN"/>
              <a:t>**</a:t>
            </a:r>
            <a:r>
              <a:rPr lang="zh-CN" altLang="en-US"/>
              <a:t>：家族声誉是其重要负担，有时会因顾及家族而略显犹豫。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：其家族曾受过晋阳党某人的恩惠（非核心），此事让他早期对晋阳党的批判有所保留，后成为其自我鞭策的动力。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### **6. </a:t>
            </a:r>
            <a:r>
              <a:rPr lang="zh-CN" altLang="en-US"/>
              <a:t>赵虎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基础档案</a:t>
            </a:r>
            <a:r>
              <a:rPr lang="en-US" altLang="zh-CN"/>
              <a:t>**</a:t>
            </a:r>
            <a:r>
              <a:rPr lang="zh-CN" altLang="en-US"/>
              <a:t>：出场时约</a:t>
            </a:r>
            <a:r>
              <a:rPr lang="en-US" altLang="zh-CN"/>
              <a:t>30</a:t>
            </a:r>
            <a:r>
              <a:rPr lang="zh-CN" altLang="en-US"/>
              <a:t>岁，终卷约</a:t>
            </a:r>
            <a:r>
              <a:rPr lang="en-US" altLang="zh-CN"/>
              <a:t>40</a:t>
            </a:r>
            <a:r>
              <a:rPr lang="zh-CN" altLang="en-US"/>
              <a:t>岁。身材魁梧，面容刚毅，沉默寡言，行动果决。燕云镇巡城队正出身，底层军官，因正直被排挤。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核心特质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性格</a:t>
            </a:r>
            <a:r>
              <a:rPr lang="en-US" altLang="zh-CN"/>
              <a:t>**</a:t>
            </a:r>
            <a:r>
              <a:rPr lang="zh-CN" altLang="en-US"/>
              <a:t>：忠义勇武，重诺轻生。思维直接，不善言辞，但直觉敏锐，对陆沉有盲目的忠诚与深厚的兄弟情谊。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权谋风格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武力执行与安全保卫</a:t>
            </a:r>
            <a:r>
              <a:rPr lang="en-US" altLang="zh-CN"/>
              <a:t>**</a:t>
            </a:r>
            <a:r>
              <a:rPr lang="zh-CN" altLang="en-US"/>
              <a:t>。不参与高层谋略，但永远是计划最可靠的执行者和陆沉人身安全的最后屏障。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核心能力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个人武艺高强、小队指挥、侦察与反侦察、绝对忠诚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立场与关系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政治派系</a:t>
            </a:r>
            <a:r>
              <a:rPr lang="en-US" altLang="zh-CN"/>
              <a:t>**</a:t>
            </a:r>
            <a:r>
              <a:rPr lang="zh-CN" altLang="en-US"/>
              <a:t>：陆沉的私人武装力量首领，无独立政治诉求。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核心诉求</a:t>
            </a:r>
            <a:r>
              <a:rPr lang="en-US" altLang="zh-CN"/>
              <a:t>**</a:t>
            </a:r>
            <a:r>
              <a:rPr lang="zh-CN" altLang="en-US"/>
              <a:t>：追随陆沉，保护陆沉，实现陆沉的理想（即他的理想）。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与陆沉关系</a:t>
            </a:r>
            <a:r>
              <a:rPr lang="en-US" altLang="zh-CN"/>
              <a:t>**</a:t>
            </a:r>
            <a:r>
              <a:rPr lang="zh-CN" altLang="en-US"/>
              <a:t>：最初的合作者，到最信赖的护卫长、兄弟般的家人。是陆沉手中最锋利的刀和最坚实的盾。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成长弧光</a:t>
            </a:r>
            <a:r>
              <a:rPr lang="en-US" altLang="zh-CN"/>
              <a:t>/</a:t>
            </a:r>
            <a:r>
              <a:rPr lang="zh-CN" altLang="en-US"/>
              <a:t>功能定位</a:t>
            </a:r>
            <a:r>
              <a:rPr lang="en-US" altLang="zh-CN"/>
              <a:t>**</a:t>
            </a:r>
            <a:r>
              <a:rPr lang="zh-CN" altLang="en-US"/>
              <a:t>：从</a:t>
            </a:r>
            <a:r>
              <a:rPr lang="en-US" altLang="zh-CN"/>
              <a:t>**</a:t>
            </a:r>
            <a:r>
              <a:rPr lang="zh-CN" altLang="en-US"/>
              <a:t>不得志的基层军官</a:t>
            </a:r>
            <a:r>
              <a:rPr lang="en-US" altLang="zh-CN"/>
              <a:t>**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核心团队的武力支柱</a:t>
            </a:r>
            <a:r>
              <a:rPr lang="en-US" altLang="zh-CN"/>
              <a:t>**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独当一面的将领</a:t>
            </a:r>
            <a:r>
              <a:rPr lang="en-US" altLang="zh-CN"/>
              <a:t>**</a:t>
            </a:r>
            <a:r>
              <a:rPr lang="zh-CN" altLang="en-US"/>
              <a:t>。</a:t>
            </a:r>
            <a:r>
              <a:rPr lang="en-US" altLang="zh-CN"/>
              <a:t>**</a:t>
            </a:r>
            <a:r>
              <a:rPr lang="zh-CN" altLang="en-US"/>
              <a:t>功能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武力臂膀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安全感的象征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忠诚的图腾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致命弱点</a:t>
            </a:r>
            <a:r>
              <a:rPr lang="en-US" altLang="zh-CN"/>
              <a:t>/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弱点</a:t>
            </a:r>
            <a:r>
              <a:rPr lang="en-US" altLang="zh-CN"/>
              <a:t>**</a:t>
            </a:r>
            <a:r>
              <a:rPr lang="zh-CN" altLang="en-US"/>
              <a:t>：对陆沉的绝对忠诚有时会使其忽略其他风险。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：其家乡曾被北狄洗劫，家人惨死，故对北狄有刻骨仇恨，这影响他在涉及北狄事务时的判断，需陆沉提醒。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 **</a:t>
            </a:r>
            <a:r>
              <a:rPr lang="zh-CN" altLang="en-US"/>
              <a:t>二、主要反派阵营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**1. </a:t>
            </a:r>
            <a:r>
              <a:rPr lang="zh-CN" altLang="en-US"/>
              <a:t>柳闻道（晋阳党领袖）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基础档案</a:t>
            </a:r>
            <a:r>
              <a:rPr lang="en-US" altLang="zh-CN"/>
              <a:t>**</a:t>
            </a:r>
            <a:r>
              <a:rPr lang="zh-CN" altLang="en-US"/>
              <a:t>：约</a:t>
            </a:r>
            <a:r>
              <a:rPr lang="en-US" altLang="zh-CN"/>
              <a:t>55-65</a:t>
            </a:r>
            <a:r>
              <a:rPr lang="zh-CN" altLang="en-US"/>
              <a:t>岁，吏部尚书，后致仕。相貌清雅，风度翩翩，谈吐引经据典，有古大臣之风。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核心特质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性格与理念</a:t>
            </a:r>
            <a:r>
              <a:rPr lang="en-US" altLang="zh-CN"/>
              <a:t>**</a:t>
            </a:r>
            <a:r>
              <a:rPr lang="zh-CN" altLang="en-US"/>
              <a:t>：旧秩序最坚定的捍卫者，深信</a:t>
            </a:r>
            <a:r>
              <a:rPr lang="en-US" altLang="zh-CN"/>
              <a:t>“</a:t>
            </a:r>
            <a:r>
              <a:rPr lang="zh-CN" altLang="en-US"/>
              <a:t>天下应由世家与士大夫共治</a:t>
            </a:r>
            <a:r>
              <a:rPr lang="en-US" altLang="zh-CN"/>
              <a:t>”</a:t>
            </a:r>
            <a:r>
              <a:rPr lang="zh-CN" altLang="en-US"/>
              <a:t>，认为寒门与皇权过度结合会导致暴政与动荡。并非简单的贪腐之徒，其腐败是维护世家整体利益的手段。行事有章法，讲究</a:t>
            </a:r>
            <a:r>
              <a:rPr lang="en-US" altLang="zh-CN"/>
              <a:t>“</a:t>
            </a:r>
            <a:r>
              <a:rPr lang="zh-CN" altLang="en-US"/>
              <a:t>名正言顺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权谋风格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制度性腐败、阳谋打压、舆论操控</a:t>
            </a:r>
            <a:r>
              <a:rPr lang="en-US" altLang="zh-CN"/>
              <a:t>**</a:t>
            </a:r>
            <a:r>
              <a:rPr lang="zh-CN" altLang="en-US"/>
              <a:t>。善于利用规则和道德高地打击对手，营造有利于世家的政治生态。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核心能力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人事操控、经典解读（为其所用）、世家联盟维系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立场与关系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政治派系</a:t>
            </a:r>
            <a:r>
              <a:rPr lang="en-US" altLang="zh-CN"/>
              <a:t>**</a:t>
            </a:r>
            <a:r>
              <a:rPr lang="zh-CN" altLang="en-US"/>
              <a:t>：旧世族利益集团（晋阳党）的旗手与大脑。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核心诉求</a:t>
            </a:r>
            <a:r>
              <a:rPr lang="en-US" altLang="zh-CN"/>
              <a:t>**</a:t>
            </a:r>
            <a:r>
              <a:rPr lang="zh-CN" altLang="en-US"/>
              <a:t>：维护世家门阀的政治、经济特权，遏制皇权与寒门的崛起。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与陆沉关系</a:t>
            </a:r>
            <a:r>
              <a:rPr lang="en-US" altLang="zh-CN"/>
              <a:t>**</a:t>
            </a:r>
            <a:r>
              <a:rPr lang="zh-CN" altLang="en-US"/>
              <a:t>：从无视到重视，再到你死我活的政敌。视陆沉为破坏千年</a:t>
            </a:r>
            <a:r>
              <a:rPr lang="en-US" altLang="zh-CN"/>
              <a:t>“</a:t>
            </a:r>
            <a:r>
              <a:rPr lang="zh-CN" altLang="en-US"/>
              <a:t>优良</a:t>
            </a:r>
            <a:r>
              <a:rPr lang="en-US" altLang="zh-CN"/>
              <a:t>”</a:t>
            </a:r>
            <a:r>
              <a:rPr lang="zh-CN" altLang="en-US"/>
              <a:t>传统的危险异端。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功能定位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旧秩序的化身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理念型反派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主角在制度层面必须跨越的大山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致命弱点</a:t>
            </a:r>
            <a:r>
              <a:rPr lang="en-US" altLang="zh-CN"/>
              <a:t>/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弱点</a:t>
            </a:r>
            <a:r>
              <a:rPr lang="en-US" altLang="zh-CN"/>
              <a:t>**</a:t>
            </a:r>
            <a:r>
              <a:rPr lang="zh-CN" altLang="en-US"/>
              <a:t>：过于相信世家统治的</a:t>
            </a:r>
            <a:r>
              <a:rPr lang="en-US" altLang="zh-CN"/>
              <a:t>“</a:t>
            </a:r>
            <a:r>
              <a:rPr lang="zh-CN" altLang="en-US"/>
              <a:t>天命</a:t>
            </a:r>
            <a:r>
              <a:rPr lang="en-US" altLang="zh-CN"/>
              <a:t>”</a:t>
            </a:r>
            <a:r>
              <a:rPr lang="zh-CN" altLang="en-US"/>
              <a:t>与优越性，无法真正理解底层诉求与新生产力的力量，思想僵化。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：早年为了家族上位，曾默许甚至参与过对竞争对手的构陷，此事违背其标榜的道德，是他内心深处不敢触及的角落。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### **2. </a:t>
            </a:r>
            <a:r>
              <a:rPr lang="zh-CN" altLang="en-US"/>
              <a:t>曹谨（前司礼监掌印太监）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基础档案</a:t>
            </a:r>
            <a:r>
              <a:rPr lang="en-US" altLang="zh-CN"/>
              <a:t>**</a:t>
            </a:r>
            <a:r>
              <a:rPr lang="zh-CN" altLang="en-US"/>
              <a:t>：约</a:t>
            </a:r>
            <a:r>
              <a:rPr lang="en-US" altLang="zh-CN"/>
              <a:t>60</a:t>
            </a:r>
            <a:r>
              <a:rPr lang="zh-CN" altLang="en-US"/>
              <a:t>岁，终卷被贬后病故。面貌阴柔，眼神深邃难测，声音尖细而平稳。历经数朝，老谋深算。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核心特质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性格</a:t>
            </a:r>
            <a:r>
              <a:rPr lang="en-US" altLang="zh-CN"/>
              <a:t>**</a:t>
            </a:r>
            <a:r>
              <a:rPr lang="zh-CN" altLang="en-US"/>
              <a:t>：极端利己主义者，只信权力与利益。冷酷无情，视人命如草芥。追求的是个人权柄与财富的极致，以及一种掌控他人生死的快感。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权谋风格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特务统治、制造恐惧、利益捆绑</a:t>
            </a:r>
            <a:r>
              <a:rPr lang="en-US" altLang="zh-CN"/>
              <a:t>**</a:t>
            </a:r>
            <a:r>
              <a:rPr lang="zh-CN" altLang="en-US"/>
              <a:t>。通过内行厂监控百官，利用把柄和利益构建庞大的腐败网络。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核心能力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宫廷阴谋、特务管理、揣摩上意（晚期失灵）、拉拢腐蚀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立场与关系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政治派系</a:t>
            </a:r>
            <a:r>
              <a:rPr lang="en-US" altLang="zh-CN"/>
              <a:t>**</a:t>
            </a:r>
            <a:r>
              <a:rPr lang="zh-CN" altLang="en-US"/>
              <a:t>：宦官集团首领，与晋阳党是互相利用的同盟关系。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核心诉求</a:t>
            </a:r>
            <a:r>
              <a:rPr lang="en-US" altLang="zh-CN"/>
              <a:t>**</a:t>
            </a:r>
            <a:r>
              <a:rPr lang="zh-CN" altLang="en-US"/>
              <a:t>：无止境地扩大个人权力与财富，维护宦官集团干政的地位。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与陆沉关系</a:t>
            </a:r>
            <a:r>
              <a:rPr lang="en-US" altLang="zh-CN"/>
              <a:t>**</a:t>
            </a:r>
            <a:r>
              <a:rPr lang="zh-CN" altLang="en-US"/>
              <a:t>：初期视为可利用的边镇棋子，中期视为威胁，后期为生死大敌。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功能定位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黑暗权力的代表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制度腐败的癌细胞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主角需要铲除的宫廷毒瘤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致命弱点</a:t>
            </a:r>
            <a:r>
              <a:rPr lang="en-US" altLang="zh-CN"/>
              <a:t>/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弱点</a:t>
            </a:r>
            <a:r>
              <a:rPr lang="en-US" altLang="zh-CN"/>
              <a:t>**</a:t>
            </a:r>
            <a:r>
              <a:rPr lang="zh-CN" altLang="en-US"/>
              <a:t>：贪婪无度，树敌太多，对皇帝的忠诚早已让位于个人欲望。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：私藏了部分皇室秘辛，甚至可能涉及先帝死因的模糊记录，作为最后的保命符，但未来得及使用。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### **3. </a:t>
            </a:r>
            <a:r>
              <a:rPr lang="zh-CN" altLang="en-US"/>
              <a:t>杨文煜（燕云镇世子）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基础档案</a:t>
            </a:r>
            <a:r>
              <a:rPr lang="en-US" altLang="zh-CN"/>
              <a:t>**</a:t>
            </a:r>
            <a:r>
              <a:rPr lang="zh-CN" altLang="en-US"/>
              <a:t>：约</a:t>
            </a:r>
            <a:r>
              <a:rPr lang="en-US" altLang="zh-CN"/>
              <a:t>25-35</a:t>
            </a:r>
            <a:r>
              <a:rPr lang="zh-CN" altLang="en-US"/>
              <a:t>岁，杨啸长子。相貌英俊，但眉宇间有骄纵与浮躁之气。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核心特质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性格</a:t>
            </a:r>
            <a:r>
              <a:rPr lang="en-US" altLang="zh-CN"/>
              <a:t>**</a:t>
            </a:r>
            <a:r>
              <a:rPr lang="zh-CN" altLang="en-US"/>
              <a:t>：志大才疏，急功近利，心胸狭窄。渴望权力却无相应能力与耐心，容易被人煽动利用。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权谋风格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粗暴收买、仗势欺人、短视的阴谋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核心能力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世子身份、有限的军队人脉、挥霍金钱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立场与关系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政治派系</a:t>
            </a:r>
            <a:r>
              <a:rPr lang="en-US" altLang="zh-CN"/>
              <a:t>**</a:t>
            </a:r>
            <a:r>
              <a:rPr lang="zh-CN" altLang="en-US"/>
              <a:t>：地方军镇继承势力，后期与晋阳党残余勾结。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核心诉求</a:t>
            </a:r>
            <a:r>
              <a:rPr lang="en-US" altLang="zh-CN"/>
              <a:t>**</a:t>
            </a:r>
            <a:r>
              <a:rPr lang="zh-CN" altLang="en-US"/>
              <a:t>：继承燕云都督之位，并获得更多权力。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与陆沉关系</a:t>
            </a:r>
            <a:r>
              <a:rPr lang="en-US" altLang="zh-CN"/>
              <a:t>**</a:t>
            </a:r>
            <a:r>
              <a:rPr lang="zh-CN" altLang="en-US"/>
              <a:t>：从试图招揽，到嫉恨，再到欲除之而后快的敌人。是陆沉早期内部斗争的主要对手。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功能定位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旧秩序继承者的无能典型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内部矛盾的催化剂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主角早期练手的反派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致命弱点</a:t>
            </a:r>
            <a:r>
              <a:rPr lang="en-US" altLang="zh-CN"/>
              <a:t>/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弱点</a:t>
            </a:r>
            <a:r>
              <a:rPr lang="en-US" altLang="zh-CN"/>
              <a:t>**</a:t>
            </a:r>
            <a:r>
              <a:rPr lang="zh-CN" altLang="en-US"/>
              <a:t>：能力与野心不匹配，情绪化，易被利用。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：曾与北狄部落有过私下的小规模交易（未经杨啸允许），此事成为其后期被晋阳党要挟的把柄之一。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 **</a:t>
            </a:r>
            <a:r>
              <a:rPr lang="zh-CN" altLang="en-US"/>
              <a:t>三、关键中间</a:t>
            </a:r>
            <a:r>
              <a:rPr lang="en-US" altLang="zh-CN"/>
              <a:t>/</a:t>
            </a:r>
            <a:r>
              <a:rPr lang="zh-CN" altLang="en-US"/>
              <a:t>转变人物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**1. </a:t>
            </a:r>
            <a:r>
              <a:rPr lang="zh-CN" altLang="en-US"/>
              <a:t>杨啸（燕云镇都督）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基础档案</a:t>
            </a:r>
            <a:r>
              <a:rPr lang="en-US" altLang="zh-CN"/>
              <a:t>**</a:t>
            </a:r>
            <a:r>
              <a:rPr lang="zh-CN" altLang="en-US"/>
              <a:t>：出场时约</a:t>
            </a:r>
            <a:r>
              <a:rPr lang="en-US" altLang="zh-CN"/>
              <a:t>45</a:t>
            </a:r>
            <a:r>
              <a:rPr lang="zh-CN" altLang="en-US"/>
              <a:t>岁，终卷病故。身材高大，威猛如狮，久经沙场，脸上有疤。典型的务实派边镇统帅。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核心特质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性格</a:t>
            </a:r>
            <a:r>
              <a:rPr lang="en-US" altLang="zh-CN"/>
              <a:t>**</a:t>
            </a:r>
            <a:r>
              <a:rPr lang="zh-CN" altLang="en-US"/>
              <a:t>：豪爽与精明并存，爱兵如子但也深谙政治规则。以燕云镇利益和边防安全为最高准则，在此前提下可以灵活变通。对陆沉有知遇之恩，也有利用之心，后期变为真正的倚重与友谊。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权谋风格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务实平衡、实力威慑</a:t>
            </a:r>
            <a:r>
              <a:rPr lang="en-US" altLang="zh-CN"/>
              <a:t>**</a:t>
            </a:r>
            <a:r>
              <a:rPr lang="zh-CN" altLang="en-US"/>
              <a:t>。在朝廷、边镇、外敌间走钢丝，最大限度维护自身势力。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核心能力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边防军务、军队统御、地方治理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立场与关系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政治派系</a:t>
            </a:r>
            <a:r>
              <a:rPr lang="en-US" altLang="zh-CN"/>
              <a:t>**</a:t>
            </a:r>
            <a:r>
              <a:rPr lang="zh-CN" altLang="en-US"/>
              <a:t>：地方实力派（军镇），后期倾向支持陆沉</a:t>
            </a:r>
            <a:r>
              <a:rPr lang="en-US" altLang="zh-CN"/>
              <a:t>-</a:t>
            </a:r>
            <a:r>
              <a:rPr lang="zh-CN" altLang="en-US"/>
              <a:t>萧彻的改革派。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核心诉求</a:t>
            </a:r>
            <a:r>
              <a:rPr lang="en-US" altLang="zh-CN"/>
              <a:t>**</a:t>
            </a:r>
            <a:r>
              <a:rPr lang="zh-CN" altLang="en-US"/>
              <a:t>：守住北疆，养好军队，维持燕云镇的半独立地位与利益，晚年希望为子孙留一个更稳固的基业。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与陆沉关系</a:t>
            </a:r>
            <a:r>
              <a:rPr lang="en-US" altLang="zh-CN"/>
              <a:t>**</a:t>
            </a:r>
            <a:r>
              <a:rPr lang="zh-CN" altLang="en-US"/>
              <a:t>：从</a:t>
            </a:r>
            <a:r>
              <a:rPr lang="en-US" altLang="zh-CN"/>
              <a:t>“</a:t>
            </a:r>
            <a:r>
              <a:rPr lang="zh-CN" altLang="en-US"/>
              <a:t>可利用的奇才</a:t>
            </a:r>
            <a:r>
              <a:rPr lang="en-US" altLang="zh-CN"/>
              <a:t>”</a:t>
            </a:r>
            <a:r>
              <a:rPr lang="zh-CN" altLang="en-US"/>
              <a:t>到</a:t>
            </a:r>
            <a:r>
              <a:rPr lang="en-US" altLang="zh-CN"/>
              <a:t>“</a:t>
            </a:r>
            <a:r>
              <a:rPr lang="zh-CN" altLang="en-US"/>
              <a:t>不可或缺的臂膀与朋友</a:t>
            </a:r>
            <a:r>
              <a:rPr lang="en-US" altLang="zh-CN"/>
              <a:t>”</a:t>
            </a:r>
            <a:r>
              <a:rPr lang="zh-CN" altLang="en-US"/>
              <a:t>，是陆沉军事后盾和早期实践基地的提供者。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成长弧光</a:t>
            </a:r>
            <a:r>
              <a:rPr lang="en-US" altLang="zh-CN"/>
              <a:t>/</a:t>
            </a:r>
            <a:r>
              <a:rPr lang="zh-CN" altLang="en-US"/>
              <a:t>功能定位</a:t>
            </a:r>
            <a:r>
              <a:rPr lang="en-US" altLang="zh-CN"/>
              <a:t>**</a:t>
            </a:r>
            <a:r>
              <a:rPr lang="zh-CN" altLang="en-US"/>
              <a:t>：从</a:t>
            </a:r>
            <a:r>
              <a:rPr lang="en-US" altLang="zh-CN"/>
              <a:t>**</a:t>
            </a:r>
            <a:r>
              <a:rPr lang="zh-CN" altLang="en-US"/>
              <a:t>割据自保的军阀</a:t>
            </a:r>
            <a:r>
              <a:rPr lang="en-US" altLang="zh-CN"/>
              <a:t>**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有限度的改革合作者</a:t>
            </a:r>
            <a:r>
              <a:rPr lang="en-US" altLang="zh-CN"/>
              <a:t>**</a:t>
            </a:r>
            <a:r>
              <a:rPr lang="en-US" altLang="en-US"/>
              <a:t>→</a:t>
            </a:r>
            <a:r>
              <a:rPr lang="en-US" altLang="zh-CN"/>
              <a:t> **</a:t>
            </a:r>
            <a:r>
              <a:rPr lang="zh-CN" altLang="en-US"/>
              <a:t>新秩序的军事支柱</a:t>
            </a:r>
            <a:r>
              <a:rPr lang="en-US" altLang="zh-CN"/>
              <a:t>**</a:t>
            </a:r>
            <a:r>
              <a:rPr lang="zh-CN" altLang="en-US"/>
              <a:t>。其转变体现了务实派力量向改革派的靠拢。</a:t>
            </a:r>
            <a:r>
              <a:rPr lang="en-US" altLang="zh-CN"/>
              <a:t>**</a:t>
            </a:r>
            <a:r>
              <a:rPr lang="zh-CN" altLang="en-US"/>
              <a:t>功能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军事力量的代表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主角从地方崛起的基石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旧体制中开明力量的象征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致命弱点</a:t>
            </a:r>
            <a:r>
              <a:rPr lang="en-US" altLang="zh-CN"/>
              <a:t>/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弱点</a:t>
            </a:r>
            <a:r>
              <a:rPr lang="en-US" altLang="zh-CN"/>
              <a:t>**</a:t>
            </a:r>
            <a:r>
              <a:rPr lang="zh-CN" altLang="en-US"/>
              <a:t>：年事渐高，对继承问题处理不当引发内乱。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秘密</a:t>
            </a:r>
            <a:r>
              <a:rPr lang="en-US" altLang="zh-CN"/>
              <a:t>**</a:t>
            </a:r>
            <a:r>
              <a:rPr lang="zh-CN" altLang="en-US"/>
              <a:t>：早年为了获得军资，默许甚至参与过一些灰色的边境贸易，这与后来陆沉打击的晋阳党</a:t>
            </a:r>
            <a:r>
              <a:rPr lang="en-US" altLang="zh-CN"/>
              <a:t>-</a:t>
            </a:r>
            <a:r>
              <a:rPr lang="zh-CN" altLang="en-US"/>
              <a:t>北狄走私性质不同，但也是其心中一段不光彩的过往。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**</a:t>
            </a:r>
            <a:r>
              <a:rPr lang="zh-CN" altLang="en-US"/>
              <a:t>群像总括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zh-CN" altLang="en-US"/>
              <a:t>本人物体系以</a:t>
            </a:r>
            <a:r>
              <a:rPr lang="en-US" altLang="zh-CN"/>
              <a:t>**</a:t>
            </a:r>
            <a:r>
              <a:rPr lang="zh-CN" altLang="en-US"/>
              <a:t>陆沉</a:t>
            </a:r>
            <a:r>
              <a:rPr lang="en-US" altLang="zh-CN"/>
              <a:t>**</a:t>
            </a:r>
            <a:r>
              <a:rPr lang="zh-CN" altLang="en-US"/>
              <a:t>为核心，围绕其构建了</a:t>
            </a:r>
            <a:r>
              <a:rPr lang="en-US" altLang="zh-CN"/>
              <a:t> **“</a:t>
            </a:r>
            <a:r>
              <a:rPr lang="zh-CN" altLang="en-US"/>
              <a:t>理念</a:t>
            </a:r>
            <a:r>
              <a:rPr lang="en-US" altLang="zh-CN"/>
              <a:t>-</a:t>
            </a:r>
            <a:r>
              <a:rPr lang="zh-CN" altLang="en-US"/>
              <a:t>执行</a:t>
            </a:r>
            <a:r>
              <a:rPr lang="en-US" altLang="zh-CN"/>
              <a:t>-</a:t>
            </a:r>
            <a:r>
              <a:rPr lang="zh-CN" altLang="en-US"/>
              <a:t>情感</a:t>
            </a:r>
            <a:r>
              <a:rPr lang="en-US" altLang="zh-CN"/>
              <a:t>-</a:t>
            </a:r>
            <a:r>
              <a:rPr lang="zh-CN" altLang="en-US"/>
              <a:t>武力</a:t>
            </a:r>
            <a:r>
              <a:rPr lang="en-US" altLang="zh-CN"/>
              <a:t>”** </a:t>
            </a:r>
            <a:r>
              <a:rPr lang="zh-CN" altLang="en-US"/>
              <a:t>四位一体的核心团队（萧彻、秦望之</a:t>
            </a:r>
            <a:r>
              <a:rPr lang="en-US" altLang="zh-CN"/>
              <a:t>/</a:t>
            </a:r>
            <a:r>
              <a:rPr lang="zh-CN" altLang="en-US"/>
              <a:t>顾昭、苏怀瑾、赵虎），并设置了层次分明、理念各异的反派（柳闻道</a:t>
            </a:r>
            <a:r>
              <a:rPr lang="en-US" altLang="zh-CN"/>
              <a:t>-</a:t>
            </a:r>
            <a:r>
              <a:rPr lang="zh-CN" altLang="en-US"/>
              <a:t>旧制度、曹谨</a:t>
            </a:r>
            <a:r>
              <a:rPr lang="en-US" altLang="zh-CN"/>
              <a:t>-</a:t>
            </a:r>
            <a:r>
              <a:rPr lang="zh-CN" altLang="en-US"/>
              <a:t>黑暗权力、杨文煜</a:t>
            </a:r>
            <a:r>
              <a:rPr lang="en-US" altLang="zh-CN"/>
              <a:t>-</a:t>
            </a:r>
            <a:r>
              <a:rPr lang="zh-CN" altLang="en-US"/>
              <a:t>无能继承者）。关键人物杨啸则代表了旧秩序中可被转化的务实力量。所有人物均服务于</a:t>
            </a:r>
            <a:r>
              <a:rPr lang="en-US" altLang="zh-CN"/>
              <a:t> **“</a:t>
            </a:r>
            <a:r>
              <a:rPr lang="zh-CN" altLang="en-US"/>
              <a:t>秩序重建与代价</a:t>
            </a:r>
            <a:r>
              <a:rPr lang="en-US" altLang="zh-CN"/>
              <a:t>”** </a:t>
            </a:r>
            <a:r>
              <a:rPr lang="zh-CN" altLang="en-US"/>
              <a:t>的核心主题，其关系演变与个人弧光共同织就了一幅宏大而深刻的权谋史诗画卷。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# **</a:t>
            </a:r>
            <a:r>
              <a:rPr lang="zh-CN" altLang="en-US"/>
              <a:t>第一卷：寒吏藏锋（第</a:t>
            </a:r>
            <a:r>
              <a:rPr lang="en-US" altLang="zh-CN"/>
              <a:t>1-10</a:t>
            </a:r>
            <a:r>
              <a:rPr lang="zh-CN" altLang="en-US"/>
              <a:t>章）详细章纲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风雪刑吏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：昭胤永贞十二年冬，北境燕云镇。陆沉在都督府刑房任贴书（无品级流外吏），因拒绝配合刑房司吏伪造流民</a:t>
            </a:r>
            <a:r>
              <a:rPr lang="en-US" altLang="zh-CN"/>
              <a:t>“</a:t>
            </a:r>
            <a:r>
              <a:rPr lang="zh-CN" altLang="en-US"/>
              <a:t>通狄</a:t>
            </a:r>
            <a:r>
              <a:rPr lang="en-US" altLang="zh-CN"/>
              <a:t>”</a:t>
            </a:r>
            <a:r>
              <a:rPr lang="zh-CN" altLang="en-US"/>
              <a:t>证供，被上司张司吏构陷</a:t>
            </a:r>
            <a:r>
              <a:rPr lang="en-US" altLang="zh-CN"/>
              <a:t>“</a:t>
            </a:r>
            <a:r>
              <a:rPr lang="zh-CN" altLang="en-US"/>
              <a:t>受贿篡改案卷</a:t>
            </a:r>
            <a:r>
              <a:rPr lang="en-US" altLang="zh-CN"/>
              <a:t>”</a:t>
            </a:r>
            <a:r>
              <a:rPr lang="zh-CN" altLang="en-US"/>
              <a:t>，打入死牢，三日后问斩。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展现昭胤军镇司法独立性与腐败：军镇刑房可自定律、审、决，只需事后报备刑部，且常以</a:t>
            </a:r>
            <a:r>
              <a:rPr lang="en-US" altLang="zh-CN"/>
              <a:t>“</a:t>
            </a:r>
            <a:r>
              <a:rPr lang="zh-CN" altLang="en-US"/>
              <a:t>军情紧急</a:t>
            </a:r>
            <a:r>
              <a:rPr lang="en-US" altLang="zh-CN"/>
              <a:t>”</a:t>
            </a:r>
            <a:r>
              <a:rPr lang="zh-CN" altLang="en-US"/>
              <a:t>为由草菅人命。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张司吏的构陷手法：利用陆沉曾代笔整理旧卷的漏洞，伪造其添加</a:t>
            </a:r>
            <a:r>
              <a:rPr lang="en-US" altLang="zh-CN"/>
              <a:t>“</a:t>
            </a:r>
            <a:r>
              <a:rPr lang="zh-CN" altLang="en-US"/>
              <a:t>有利于流民</a:t>
            </a:r>
            <a:r>
              <a:rPr lang="en-US" altLang="zh-CN"/>
              <a:t>”</a:t>
            </a:r>
            <a:r>
              <a:rPr lang="zh-CN" altLang="en-US"/>
              <a:t>字迹的证物。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陆沉在牢中冷静复盘，发现伪证案卷的</a:t>
            </a:r>
            <a:r>
              <a:rPr lang="en-US" altLang="zh-CN"/>
              <a:t>“</a:t>
            </a:r>
            <a:r>
              <a:rPr lang="zh-CN" altLang="en-US"/>
              <a:t>墨迹新旧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用纸规格</a:t>
            </a:r>
            <a:r>
              <a:rPr lang="en-US" altLang="zh-CN"/>
              <a:t>”</a:t>
            </a:r>
            <a:r>
              <a:rPr lang="zh-CN" altLang="en-US"/>
              <a:t>存在矛盾（新墨用旧纸，且纸是刑房半年前才启用的新制式）。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获得关键心态：在绝对劣势下，必须找到制度或证据上的</a:t>
            </a:r>
            <a:r>
              <a:rPr lang="en-US" altLang="zh-CN"/>
              <a:t>“</a:t>
            </a:r>
            <a:r>
              <a:rPr lang="zh-CN" altLang="en-US"/>
              <a:t>硬漏洞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：智破死局（未执行）。本章营造绝境悬念，爽点延后至第</a:t>
            </a:r>
            <a:r>
              <a:rPr lang="en-US" altLang="zh-CN"/>
              <a:t>2</a:t>
            </a:r>
            <a:r>
              <a:rPr lang="zh-CN" altLang="en-US"/>
              <a:t>章爆发。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死囚辩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：刑房主事李崇山提审死囚，陆沉当堂以</a:t>
            </a:r>
            <a:r>
              <a:rPr lang="en-US" altLang="zh-CN"/>
              <a:t>“</a:t>
            </a:r>
            <a:r>
              <a:rPr lang="zh-CN" altLang="en-US"/>
              <a:t>《昭胤刑律</a:t>
            </a:r>
            <a:r>
              <a:rPr lang="en-US" altLang="zh-CN"/>
              <a:t>·</a:t>
            </a:r>
            <a:r>
              <a:rPr lang="zh-CN" altLang="en-US"/>
              <a:t>卷七》伪证罪需人、物、事三证俱全</a:t>
            </a:r>
            <a:r>
              <a:rPr lang="en-US" altLang="zh-CN"/>
              <a:t>”</a:t>
            </a:r>
            <a:r>
              <a:rPr lang="zh-CN" altLang="en-US"/>
              <a:t>及</a:t>
            </a:r>
            <a:r>
              <a:rPr lang="en-US" altLang="zh-CN"/>
              <a:t>“</a:t>
            </a:r>
            <a:r>
              <a:rPr lang="zh-CN" altLang="en-US"/>
              <a:t>墨纸时序矛盾</a:t>
            </a:r>
            <a:r>
              <a:rPr lang="en-US" altLang="zh-CN"/>
              <a:t>”</a:t>
            </a:r>
            <a:r>
              <a:rPr lang="zh-CN" altLang="en-US"/>
              <a:t>反击，要求请燕云镇掌印文书官鉴定笔迹与用纸。李崇山为保颜面，改判</a:t>
            </a:r>
            <a:r>
              <a:rPr lang="en-US" altLang="zh-CN"/>
              <a:t>“</a:t>
            </a:r>
            <a:r>
              <a:rPr lang="zh-CN" altLang="en-US"/>
              <a:t>押后再审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详细展现昭胤刑律的条文细节与实操差距：理论上死囚有权要求证据鉴定，但实际操作中罕有执行。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陆沉利用李崇山</a:t>
            </a:r>
            <a:r>
              <a:rPr lang="en-US" altLang="zh-CN"/>
              <a:t>“</a:t>
            </a:r>
            <a:r>
              <a:rPr lang="zh-CN" altLang="en-US"/>
              <a:t>不愿案件上报引起朝廷注意</a:t>
            </a:r>
            <a:r>
              <a:rPr lang="en-US" altLang="zh-CN"/>
              <a:t>”</a:t>
            </a:r>
            <a:r>
              <a:rPr lang="zh-CN" altLang="en-US"/>
              <a:t>的心理（军镇刑案若多次复审需报刑部），逼其退让。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暂时保住性命，并引起李崇山一丝忌惮（觉得此吏懂法且敢争）。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获得初步信心：在军镇，规则并非完全无用，关键看如何使用。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公堂智辩的碾压感</a:t>
            </a:r>
            <a:r>
              <a:rPr lang="en-US" altLang="zh-CN"/>
              <a:t>**</a:t>
            </a:r>
            <a:r>
              <a:rPr lang="zh-CN" altLang="en-US"/>
              <a:t>。底层小吏以专业知识对抗腐败体系，赢得喘息之机。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牢中奇遇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：陆沉被关入重犯区，邻牢是一位瘦削落魄的老者。夜间交谈，得知老者竟是五年前因</a:t>
            </a:r>
            <a:r>
              <a:rPr lang="en-US" altLang="zh-CN"/>
              <a:t>“</a:t>
            </a:r>
            <a:r>
              <a:rPr lang="zh-CN" altLang="en-US"/>
              <a:t>漕粮空额案</a:t>
            </a:r>
            <a:r>
              <a:rPr lang="en-US" altLang="zh-CN"/>
              <a:t>”</a:t>
            </a:r>
            <a:r>
              <a:rPr lang="zh-CN" altLang="en-US"/>
              <a:t>被贬流放的前户部浙江清吏司主事秦望之。陆沉以半块饼相赠，秦望之开始讲述漕运、盐税贪腐的运作内幕。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知识沉浸</a:t>
            </a:r>
            <a:r>
              <a:rPr lang="en-US" altLang="zh-CN"/>
              <a:t>**</a:t>
            </a:r>
            <a:r>
              <a:rPr lang="zh-CN" altLang="en-US"/>
              <a:t>：通过秦望之之口，详解昭胤漕运体系：</a:t>
            </a:r>
            <a:br>
              <a:rPr lang="zh-CN" altLang="en-US"/>
            </a:br>
            <a:r>
              <a:rPr lang="en-US" altLang="zh-CN"/>
              <a:t>    - </a:t>
            </a:r>
            <a:r>
              <a:rPr lang="zh-CN" altLang="en-US"/>
              <a:t>漕帮分级（总舵、分舵、香堂）与地方官府、军镇的分账模式。</a:t>
            </a:r>
            <a:br>
              <a:rPr lang="zh-CN" altLang="en-US"/>
            </a:br>
            <a:r>
              <a:rPr lang="en-US" altLang="zh-CN"/>
              <a:t>    - “</a:t>
            </a:r>
            <a:r>
              <a:rPr lang="zh-CN" altLang="en-US"/>
              <a:t>漕粮折银</a:t>
            </a:r>
            <a:r>
              <a:rPr lang="en-US" altLang="zh-CN"/>
              <a:t>”</a:t>
            </a:r>
            <a:r>
              <a:rPr lang="zh-CN" altLang="en-US"/>
              <a:t>背后的猫腻（以次充好、虚报损耗、重复征税）。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秦望之提及燕云镇军粮有三成走漕运，而漕帮燕云分舵主与刑房张司吏是姻亲。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获得关键导师</a:t>
            </a:r>
            <a:r>
              <a:rPr lang="en-US" altLang="zh-CN"/>
              <a:t>**</a:t>
            </a:r>
            <a:r>
              <a:rPr lang="zh-CN" altLang="en-US"/>
              <a:t>：秦望之成为陆沉的财政与官场启蒙者。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获得关键信息</a:t>
            </a:r>
            <a:r>
              <a:rPr lang="en-US" altLang="zh-CN"/>
              <a:t>**</a:t>
            </a:r>
            <a:r>
              <a:rPr lang="zh-CN" altLang="en-US"/>
              <a:t>：张司吏构陷自己的深层动机可能涉及漕运利益（自己曾无意中看到过一批军粮异常出库的单据）。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绝境遇贵人</a:t>
            </a:r>
            <a:r>
              <a:rPr lang="en-US" altLang="zh-CN"/>
              <a:t>**</a:t>
            </a:r>
            <a:r>
              <a:rPr lang="zh-CN" altLang="en-US"/>
              <a:t>。知识就是力量，为后续破局埋下核心伏笔。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北狄叩关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：边境烽火骤起，北狄</a:t>
            </a:r>
            <a:r>
              <a:rPr lang="en-US" altLang="zh-CN"/>
              <a:t>“</a:t>
            </a:r>
            <a:r>
              <a:rPr lang="zh-CN" altLang="en-US"/>
              <a:t>黑山部</a:t>
            </a:r>
            <a:r>
              <a:rPr lang="en-US" altLang="zh-CN"/>
              <a:t>”</a:t>
            </a:r>
            <a:r>
              <a:rPr lang="zh-CN" altLang="en-US"/>
              <a:t>骑兵劫掠边境三村，燕云都督杨啸急召文武议事。与此同时，刑房李崇山为防陆沉案节外生枝，决定秘密将其</a:t>
            </a:r>
            <a:r>
              <a:rPr lang="en-US" altLang="zh-CN"/>
              <a:t>“</a:t>
            </a:r>
            <a:r>
              <a:rPr lang="zh-CN" altLang="en-US"/>
              <a:t>病毙于牢中</a:t>
            </a:r>
            <a:r>
              <a:rPr lang="en-US" altLang="zh-CN"/>
              <a:t>”</a:t>
            </a:r>
            <a:r>
              <a:rPr lang="zh-CN" altLang="en-US"/>
              <a:t>。狱卒动手前，陆沉以</a:t>
            </a:r>
            <a:r>
              <a:rPr lang="en-US" altLang="zh-CN"/>
              <a:t>“</a:t>
            </a:r>
            <a:r>
              <a:rPr lang="zh-CN" altLang="en-US"/>
              <a:t>听闻黑山部与白水部正在争夺草场，此次南下规模存疑</a:t>
            </a:r>
            <a:r>
              <a:rPr lang="en-US" altLang="zh-CN"/>
              <a:t>”</a:t>
            </a:r>
            <a:r>
              <a:rPr lang="zh-CN" altLang="en-US"/>
              <a:t>为由，恳求狱卒带话给都督府任一幕僚，称有紧急军情禀报。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展现军镇应急机制：遇袭时，都督有权临时调用一切资源，包括刑狱人犯。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陆沉的洞察基于对北狄部落矛盾的了解（来自牢中另一名北狄俘虏的零星讯息）。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抓住唯一求生窗口，将个人生死与军镇危机绑定。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展现对情报的敏感度与冒险一搏的胆识。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生死一线间的急智</a:t>
            </a:r>
            <a:r>
              <a:rPr lang="en-US" altLang="zh-CN"/>
              <a:t>**</a:t>
            </a:r>
            <a:r>
              <a:rPr lang="zh-CN" altLang="en-US"/>
              <a:t>。在物理绝境中，用信息差创造机会。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军帐对质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：狱卒将话带给一名不得志的老文书，老文书在议事间隙冒险禀报。杨啸正因幕僚们对敌军意图争论不休而烦躁，闻报冷声道：</a:t>
            </a:r>
            <a:r>
              <a:rPr lang="en-US" altLang="zh-CN"/>
              <a:t>“</a:t>
            </a:r>
            <a:r>
              <a:rPr lang="zh-CN" altLang="en-US"/>
              <a:t>带那死囚上来，若妄言，立斩。</a:t>
            </a:r>
            <a:r>
              <a:rPr lang="en-US" altLang="zh-CN"/>
              <a:t>”</a:t>
            </a:r>
            <a:r>
              <a:rPr lang="zh-CN" altLang="en-US"/>
              <a:t>陆沉被枷锁押至中军大帐，在众将官鄙夷目光中，分析黑山部南下时机、路线反常，提出</a:t>
            </a:r>
            <a:r>
              <a:rPr lang="en-US" altLang="zh-CN"/>
              <a:t>“</a:t>
            </a:r>
            <a:r>
              <a:rPr lang="zh-CN" altLang="en-US"/>
              <a:t>此非大举入侵，而是为抢粮草以备战白水部</a:t>
            </a:r>
            <a:r>
              <a:rPr lang="en-US" altLang="zh-CN"/>
              <a:t>”</a:t>
            </a:r>
            <a:r>
              <a:rPr lang="zh-CN" altLang="en-US"/>
              <a:t>的判断，并建议</a:t>
            </a:r>
            <a:r>
              <a:rPr lang="en-US" altLang="zh-CN"/>
              <a:t>“</a:t>
            </a:r>
            <a:r>
              <a:rPr lang="zh-CN" altLang="en-US"/>
              <a:t>坚壁清野，设伏斥候，探其虚实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冷兵器时代边境冲突的常见模式：小规模劫掠往往服务于更大的部落冲突。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军帐中的权力秩序：杨啸的绝对权威，幕僚团的派系（本土派</a:t>
            </a:r>
            <a:r>
              <a:rPr lang="en-US" altLang="zh-CN"/>
              <a:t>vs</a:t>
            </a:r>
            <a:r>
              <a:rPr lang="zh-CN" altLang="en-US"/>
              <a:t>京城空降派），陆沉作为</a:t>
            </a:r>
            <a:r>
              <a:rPr lang="en-US" altLang="zh-CN"/>
              <a:t>“</a:t>
            </a:r>
            <a:r>
              <a:rPr lang="zh-CN" altLang="en-US"/>
              <a:t>罪囚</a:t>
            </a:r>
            <a:r>
              <a:rPr lang="en-US" altLang="zh-CN"/>
              <a:t>”</a:t>
            </a:r>
            <a:r>
              <a:rPr lang="zh-CN" altLang="en-US"/>
              <a:t>闯入的戏剧性。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首次进入高层视野</a:t>
            </a:r>
            <a:r>
              <a:rPr lang="en-US" altLang="zh-CN"/>
              <a:t>**</a:t>
            </a:r>
            <a:r>
              <a:rPr lang="zh-CN" altLang="en-US"/>
              <a:t>：杨啸虽未全信，但认为其</a:t>
            </a:r>
            <a:r>
              <a:rPr lang="en-US" altLang="zh-CN"/>
              <a:t>“</a:t>
            </a:r>
            <a:r>
              <a:rPr lang="zh-CN" altLang="en-US"/>
              <a:t>思路奇诡，可暂留一用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被解除枷锁，押于军需房协助核算粮草，戴罪效力。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身份反转</a:t>
            </a:r>
            <a:r>
              <a:rPr lang="en-US" altLang="zh-CN"/>
              <a:t>**</a:t>
            </a:r>
            <a:r>
              <a:rPr lang="zh-CN" altLang="en-US"/>
              <a:t>。从死囚到献策者，在最高权力场合赢得一线生机。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粮册玄机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：陆沉被押至军需房，负责核对前线粮草调度。他迅速发现账册中有一批</a:t>
            </a:r>
            <a:r>
              <a:rPr lang="en-US" altLang="zh-CN"/>
              <a:t>“</a:t>
            </a:r>
            <a:r>
              <a:rPr lang="zh-CN" altLang="en-US"/>
              <a:t>陈粮调拨</a:t>
            </a:r>
            <a:r>
              <a:rPr lang="en-US" altLang="zh-CN"/>
              <a:t>”</a:t>
            </a:r>
            <a:r>
              <a:rPr lang="zh-CN" altLang="en-US"/>
              <a:t>去向不明，经手人正是张司吏的妻弟。联想到秦望之所提漕运分账，陆沉怀疑这批粮食被偷偷转卖给了漕帮，再高价卖回给军方。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军需腐败的经典手法：虚报损耗、以次充好、倒卖库存。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账目破绽：陈粮出库无对应</a:t>
            </a:r>
            <a:r>
              <a:rPr lang="en-US" altLang="zh-CN"/>
              <a:t>“</a:t>
            </a:r>
            <a:r>
              <a:rPr lang="zh-CN" altLang="en-US"/>
              <a:t>新粮入库</a:t>
            </a:r>
            <a:r>
              <a:rPr lang="en-US" altLang="zh-CN"/>
              <a:t>”</a:t>
            </a:r>
            <a:r>
              <a:rPr lang="zh-CN" altLang="en-US"/>
              <a:t>平账，且调拨命令的签押格式有误（非战时紧急格式）。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掌握敌人罪证</a:t>
            </a:r>
            <a:r>
              <a:rPr lang="en-US" altLang="zh-CN"/>
              <a:t>**</a:t>
            </a:r>
            <a:r>
              <a:rPr lang="zh-CN" altLang="en-US"/>
              <a:t>：记录下账目疑点，并暗中复制关键页。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获得初步工作空间</a:t>
            </a:r>
            <a:r>
              <a:rPr lang="en-US" altLang="zh-CN"/>
              <a:t>**</a:t>
            </a:r>
            <a:r>
              <a:rPr lang="zh-CN" altLang="en-US"/>
              <a:t>：军需房主事见其算账快而准，默许其帮忙。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专业能力展现</a:t>
            </a:r>
            <a:r>
              <a:rPr lang="en-US" altLang="zh-CN"/>
              <a:t>**</a:t>
            </a:r>
            <a:r>
              <a:rPr lang="zh-CN" altLang="en-US"/>
              <a:t>。在全新领域迅速抓住要害，为后续反击积攒弹药。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暗流涌动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：张司吏得知陆沉未死且接触军需，心生恐慌，指使漕帮燕云分舵的亡命之徒，伪装北狄散兵在陆沉押运粮草途中劫杀。陆沉提前从军需老吏口中得知路线不安全，借口核算有误拖延出发，并让老吏将</a:t>
            </a:r>
            <a:r>
              <a:rPr lang="en-US" altLang="zh-CN"/>
              <a:t>“</a:t>
            </a:r>
            <a:r>
              <a:rPr lang="zh-CN" altLang="en-US"/>
              <a:t>可能有伏</a:t>
            </a:r>
            <a:r>
              <a:rPr lang="en-US" altLang="zh-CN"/>
              <a:t>”</a:t>
            </a:r>
            <a:r>
              <a:rPr lang="zh-CN" altLang="en-US"/>
              <a:t>的消息透露给与张司吏不睦的巡城队正。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军镇内部各势力的私下博弈：巡城队与刑房有管辖权冲突。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利用信息传递的不对称：陆沉不直接告发（无证据且易被反咬），而是制造巧合，借他人之手搅局。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躲过第一次物理刺杀，并引发巡城队与漕帮的冲突（巡城队</a:t>
            </a:r>
            <a:r>
              <a:rPr lang="en-US" altLang="zh-CN"/>
              <a:t>“</a:t>
            </a:r>
            <a:r>
              <a:rPr lang="zh-CN" altLang="en-US"/>
              <a:t>偶遇</a:t>
            </a:r>
            <a:r>
              <a:rPr lang="en-US" altLang="zh-CN"/>
              <a:t>”</a:t>
            </a:r>
            <a:r>
              <a:rPr lang="zh-CN" altLang="en-US"/>
              <a:t>伏击者，发生械斗）。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获得潜在盟友</a:t>
            </a:r>
            <a:r>
              <a:rPr lang="en-US" altLang="zh-CN"/>
              <a:t>**</a:t>
            </a:r>
            <a:r>
              <a:rPr lang="zh-CN" altLang="en-US"/>
              <a:t>：巡城队正赵虎开始注意到陆沉</a:t>
            </a:r>
            <a:r>
              <a:rPr lang="en-US" altLang="zh-CN"/>
              <a:t>“</a:t>
            </a:r>
            <a:r>
              <a:rPr lang="zh-CN" altLang="en-US"/>
              <a:t>不简单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预判危险，借力打力</a:t>
            </a:r>
            <a:r>
              <a:rPr lang="en-US" altLang="zh-CN"/>
              <a:t>**</a:t>
            </a:r>
            <a:r>
              <a:rPr lang="zh-CN" altLang="en-US"/>
              <a:t>。以小搏大，引发敌人内部矛盾。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8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将计就计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：伏击事件引起杨啸不悦（境内出现</a:t>
            </a:r>
            <a:r>
              <a:rPr lang="en-US" altLang="zh-CN"/>
              <a:t>“</a:t>
            </a:r>
            <a:r>
              <a:rPr lang="zh-CN" altLang="en-US"/>
              <a:t>北狄散兵</a:t>
            </a:r>
            <a:r>
              <a:rPr lang="en-US" altLang="zh-CN"/>
              <a:t>”</a:t>
            </a:r>
            <a:r>
              <a:rPr lang="zh-CN" altLang="en-US"/>
              <a:t>是巡防失职）。陆沉趁机向杨啸的贴身侍卫长（曾因陆沉军帐发言对其有印象）密报：粮册有疑，恐有内贼资敌。杨啸令侍卫长暗中调查。陆沉则主动向张司吏</a:t>
            </a:r>
            <a:r>
              <a:rPr lang="en-US" altLang="zh-CN"/>
              <a:t>“</a:t>
            </a:r>
            <a:r>
              <a:rPr lang="zh-CN" altLang="en-US"/>
              <a:t>服软</a:t>
            </a:r>
            <a:r>
              <a:rPr lang="en-US" altLang="zh-CN"/>
              <a:t>”</a:t>
            </a:r>
            <a:r>
              <a:rPr lang="zh-CN" altLang="en-US"/>
              <a:t>，表示愿交出账册抄本并离开燕云，求一条生路。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高层对内部腐败的容忍度：杨啸可以容忍一定程度贪墨，但绝不容忍资敌或影响战力。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诈降策略：陆沉利用张司吏</a:t>
            </a:r>
            <a:r>
              <a:rPr lang="en-US" altLang="zh-CN"/>
              <a:t>“</a:t>
            </a:r>
            <a:r>
              <a:rPr lang="zh-CN" altLang="en-US"/>
              <a:t>急于消灭证据</a:t>
            </a:r>
            <a:r>
              <a:rPr lang="en-US" altLang="zh-CN"/>
              <a:t>”</a:t>
            </a:r>
            <a:r>
              <a:rPr lang="zh-CN" altLang="en-US"/>
              <a:t>的心理，设下交易陷阱。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获得杨啸的初步关注</a:t>
            </a:r>
            <a:r>
              <a:rPr lang="en-US" altLang="zh-CN"/>
              <a:t>**</a:t>
            </a:r>
            <a:r>
              <a:rPr lang="zh-CN" altLang="en-US"/>
              <a:t>：其名字进入都督的私人情报渠道。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设局</a:t>
            </a:r>
            <a:r>
              <a:rPr lang="en-US" altLang="zh-CN"/>
              <a:t>**</a:t>
            </a:r>
            <a:r>
              <a:rPr lang="zh-CN" altLang="en-US"/>
              <a:t>：约定在城外废弃烽燧交易账册，实则布置了后手。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反客为主的布局</a:t>
            </a:r>
            <a:r>
              <a:rPr lang="en-US" altLang="zh-CN"/>
              <a:t>**</a:t>
            </a:r>
            <a:r>
              <a:rPr lang="zh-CN" altLang="en-US"/>
              <a:t>。从被动躲藏转为主动设饵。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9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烽燧伏杀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：交易夜，张司吏带漕帮杀手赴约，欲人赃并灭。陆沉孤身出现，交出部分账页。杀手动手时，巡城队正赵虎带人</a:t>
            </a:r>
            <a:r>
              <a:rPr lang="en-US" altLang="zh-CN"/>
              <a:t>“</a:t>
            </a:r>
            <a:r>
              <a:rPr lang="zh-CN" altLang="en-US"/>
              <a:t>恰好</a:t>
            </a:r>
            <a:r>
              <a:rPr lang="en-US" altLang="zh-CN"/>
              <a:t>”</a:t>
            </a:r>
            <a:r>
              <a:rPr lang="zh-CN" altLang="en-US"/>
              <a:t>巡边至此（陆沉提前以匿名信方式，透露漕帮私运禁铁出关的消息，引赵虎来查）。混战中，陆沉将真正的账册密报藏于烽燧暗格，自己趁乱带伤逃脱。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利用军镇各执法单位的职权交叉与竞争。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展现冷兵器时代小规模遭遇战的混乱。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彻底与张司吏决裂并重创之</a:t>
            </a:r>
            <a:r>
              <a:rPr lang="en-US" altLang="zh-CN"/>
              <a:t>**</a:t>
            </a:r>
            <a:r>
              <a:rPr lang="zh-CN" altLang="en-US"/>
              <a:t>：赵虎在杀手身上搜出漕帮令牌，坐实其勾结江湖势力袭击</a:t>
            </a:r>
            <a:r>
              <a:rPr lang="en-US" altLang="zh-CN"/>
              <a:t>“</a:t>
            </a:r>
            <a:r>
              <a:rPr lang="zh-CN" altLang="en-US"/>
              <a:t>军中效力人员</a:t>
            </a:r>
            <a:r>
              <a:rPr lang="en-US" altLang="zh-CN"/>
              <a:t>”</a:t>
            </a:r>
            <a:r>
              <a:rPr lang="zh-CN" altLang="en-US"/>
              <a:t>（尽管陆沉是罪囚，但此刻有军务在身）。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保留核心证据</a:t>
            </a:r>
            <a:r>
              <a:rPr lang="en-US" altLang="zh-CN"/>
              <a:t>**</a:t>
            </a:r>
            <a:r>
              <a:rPr lang="zh-CN" altLang="en-US"/>
              <a:t>：真账册未暴露，为后续致命一击留底牌。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螳螂捕蝉，黄雀在后</a:t>
            </a:r>
            <a:r>
              <a:rPr lang="en-US" altLang="zh-CN"/>
              <a:t>**</a:t>
            </a:r>
            <a:r>
              <a:rPr lang="zh-CN" altLang="en-US"/>
              <a:t>。精心算计的反杀，且自身未完全暴露。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10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火攻之议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前线传回准确军情：黑山部主力约三千骑，绕过主要关隘，突袭侧翼粮仓。都督府议事，众将主张正面迎击。陆沉得侍卫长允许列席末位，提出惊人建议：主动焚毁已被敌控制的荒村粮仓（存粮已不多），并在上风处山谷预设燃料，诱敌追击，实施火攻。遭强烈反对（焚村影响民心，且火攻依赖天气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古代火攻战术的详细推演：需测算风力、风向、燃料干燥度、敌军入彀路线。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军事决策中的政治考量：维护</a:t>
            </a:r>
            <a:r>
              <a:rPr lang="en-US" altLang="zh-CN"/>
              <a:t>“</a:t>
            </a:r>
            <a:r>
              <a:rPr lang="zh-CN" altLang="en-US"/>
              <a:t>爱民</a:t>
            </a:r>
            <a:r>
              <a:rPr lang="en-US" altLang="zh-CN"/>
              <a:t>”</a:t>
            </a:r>
            <a:r>
              <a:rPr lang="zh-CN" altLang="en-US"/>
              <a:t>形象的重要性。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首次提出战略性方案</a:t>
            </a:r>
            <a:r>
              <a:rPr lang="en-US" altLang="zh-CN"/>
              <a:t>**</a:t>
            </a:r>
            <a:r>
              <a:rPr lang="zh-CN" altLang="en-US"/>
              <a:t>，展现超越战术层面的狠辣与决断。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获得杨啸的深度审视</a:t>
            </a:r>
            <a:r>
              <a:rPr lang="en-US" altLang="zh-CN"/>
              <a:t>**</a:t>
            </a:r>
            <a:r>
              <a:rPr lang="zh-CN" altLang="en-US"/>
              <a:t>：杨啸未当场表态，但散会后独留陆沉，问：</a:t>
            </a:r>
            <a:r>
              <a:rPr lang="en-US" altLang="zh-CN"/>
              <a:t>“</a:t>
            </a:r>
            <a:r>
              <a:rPr lang="zh-CN" altLang="en-US"/>
              <a:t>你不怕背上焚村骂名？</a:t>
            </a:r>
            <a:r>
              <a:rPr lang="en-US" altLang="zh-CN"/>
              <a:t>”</a:t>
            </a:r>
            <a:r>
              <a:rPr lang="zh-CN" altLang="en-US"/>
              <a:t>陆沉答：</a:t>
            </a:r>
            <a:r>
              <a:rPr lang="en-US" altLang="zh-CN"/>
              <a:t>“</a:t>
            </a:r>
            <a:r>
              <a:rPr lang="zh-CN" altLang="en-US"/>
              <a:t>若败，都督与我将士皆葬于此，何来骂名；若胜，活人自会感念活命之恩。</a:t>
            </a:r>
            <a:r>
              <a:rPr lang="en-US" altLang="zh-CN"/>
              <a:t>”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惊世骇俗的谋略</a:t>
            </a:r>
            <a:r>
              <a:rPr lang="en-US" altLang="zh-CN"/>
              <a:t>**</a:t>
            </a:r>
            <a:r>
              <a:rPr lang="zh-CN" altLang="en-US"/>
              <a:t>。在保守氛围中提出高风险高收益的奇策，震撼全场。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 **</a:t>
            </a:r>
            <a:r>
              <a:rPr lang="zh-CN" altLang="en-US"/>
              <a:t>第一卷：寒吏藏锋（第</a:t>
            </a:r>
            <a:r>
              <a:rPr lang="en-US" altLang="zh-CN"/>
              <a:t>11-20</a:t>
            </a:r>
            <a:r>
              <a:rPr lang="zh-CN" altLang="en-US"/>
              <a:t>章）详细章纲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11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风起青萍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：杨啸最终采纳了陆沉的火攻之计，但要求将焚村范围控制在最小，并提前秘密转移村民（尽管多数已是空户）。同时，他任命陆沉为</a:t>
            </a:r>
            <a:r>
              <a:rPr lang="en-US" altLang="zh-CN"/>
              <a:t>“</a:t>
            </a:r>
            <a:r>
              <a:rPr lang="zh-CN" altLang="en-US"/>
              <a:t>参军司临时记室</a:t>
            </a:r>
            <a:r>
              <a:rPr lang="en-US" altLang="zh-CN"/>
              <a:t>”</a:t>
            </a:r>
            <a:r>
              <a:rPr lang="zh-CN" altLang="en-US"/>
              <a:t>，辅助老将周镇实施火攻。此任命引发幕僚团中</a:t>
            </a:r>
            <a:r>
              <a:rPr lang="en-US" altLang="zh-CN"/>
              <a:t>“</a:t>
            </a:r>
            <a:r>
              <a:rPr lang="zh-CN" altLang="en-US"/>
              <a:t>清流派</a:t>
            </a:r>
            <a:r>
              <a:rPr lang="en-US" altLang="zh-CN"/>
              <a:t>”</a:t>
            </a:r>
            <a:r>
              <a:rPr lang="zh-CN" altLang="en-US"/>
              <a:t>年轻幕僚徐慕之的公开质疑，认为罪囚掌机要不合规制。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展现军镇临时人事权的灵活性：战时都督可破格任用，但需面对内部制衡。</a:t>
            </a:r>
            <a:br>
              <a:rPr lang="zh-CN" altLang="en-US"/>
            </a:br>
            <a:r>
              <a:rPr lang="en-US" altLang="zh-CN"/>
              <a:t>  - “</a:t>
            </a:r>
            <a:r>
              <a:rPr lang="zh-CN" altLang="en-US"/>
              <a:t>清流派</a:t>
            </a:r>
            <a:r>
              <a:rPr lang="en-US" altLang="zh-CN"/>
              <a:t>”</a:t>
            </a:r>
            <a:r>
              <a:rPr lang="zh-CN" altLang="en-US"/>
              <a:t>幕僚的特点：多来自科举落第或贬谪文人，重程序正义，与本土实务派常有冲突。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获得第一个正式职务</a:t>
            </a:r>
            <a:r>
              <a:rPr lang="en-US" altLang="zh-CN"/>
              <a:t>**</a:t>
            </a:r>
            <a:r>
              <a:rPr lang="zh-CN" altLang="en-US"/>
              <a:t>（虽是临时），有了参与核心军务的合法身份。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树立第一个内部政敌</a:t>
            </a:r>
            <a:r>
              <a:rPr lang="en-US" altLang="zh-CN"/>
              <a:t>**</a:t>
            </a:r>
            <a:r>
              <a:rPr lang="zh-CN" altLang="en-US"/>
              <a:t>：徐慕之，代表规则内的反对力量。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破格提拔的逆袭感</a:t>
            </a:r>
            <a:r>
              <a:rPr lang="en-US" altLang="zh-CN"/>
              <a:t>**</a:t>
            </a:r>
            <a:r>
              <a:rPr lang="zh-CN" altLang="en-US"/>
              <a:t>。从死囚到参军司记室，跨越阶级的第一步。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12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算尽天时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：陆沉随周镇勘察地形，凭借对燕云地方志和气象民谚的研究，结合老兵经验，精准预测三日后午后将起东南风，且持续两个时辰。他设计多层诱敌方案：以小队辎重为饵，且战且退，将黑山部骑兵引入</a:t>
            </a:r>
            <a:r>
              <a:rPr lang="en-US" altLang="zh-CN"/>
              <a:t>“</a:t>
            </a:r>
            <a:r>
              <a:rPr lang="zh-CN" altLang="en-US"/>
              <a:t>盘蛇谷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古代军事气象学的应用：并非玄幻，而是基于地方志记载的季风规律、物候观察（如云状、动物行为）的总结。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战术欺骗细节：如何让敌军相信饵兵是真的溃逃（控制撤退速度、丢弃合理数量的财物）。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展现超强学习与整合能力</a:t>
            </a:r>
            <a:r>
              <a:rPr lang="en-US" altLang="zh-CN"/>
              <a:t>**</a:t>
            </a:r>
            <a:r>
              <a:rPr lang="zh-CN" altLang="en-US"/>
              <a:t>：快速将书本知识与实战经验结合。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赢得老将周镇的初步认可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小子虽狠，但心细如发，是个将才胚子。</a:t>
            </a:r>
            <a:r>
              <a:rPr lang="en-US" altLang="zh-CN"/>
              <a:t>”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精准预测的专业碾压</a:t>
            </a:r>
            <a:r>
              <a:rPr lang="en-US" altLang="zh-CN"/>
              <a:t>**</a:t>
            </a:r>
            <a:r>
              <a:rPr lang="zh-CN" altLang="en-US"/>
              <a:t>。用科学与经验结合，掌控天时地利。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13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烈焰焚敌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火攻当日，风向如期而至。黑山部骑兵中计入谷，火起后阵脚大乱。周镇率伏兵截杀，斩首八百余，俘获战马两百匹，黑山部仓皇北逃。此役成为燕云镇近年来少有的大捷。陆沉于高处观战，首次亲身感受到谋略化为现实战果的震撼与一丝残酷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冷兵器时代火攻实战描写：火势蔓延速度、骑兵在狭窄地形中的崩溃、伏兵出击的时机。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战后处理：首级记功、俘虏审问、战利品分配（涉及军功体系利益）。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立下实质性大功</a:t>
            </a:r>
            <a:r>
              <a:rPr lang="en-US" altLang="zh-CN"/>
              <a:t>**</a:t>
            </a:r>
            <a:r>
              <a:rPr lang="zh-CN" altLang="en-US"/>
              <a:t>，在军中底层士卒中开始有小范围名声（</a:t>
            </a:r>
            <a:r>
              <a:rPr lang="en-US" altLang="zh-CN"/>
              <a:t>“</a:t>
            </a:r>
            <a:r>
              <a:rPr lang="zh-CN" altLang="en-US"/>
              <a:t>那个献火攻计的陆先生</a:t>
            </a:r>
            <a:r>
              <a:rPr lang="en-US" altLang="zh-CN"/>
              <a:t>”</a:t>
            </a:r>
            <a:r>
              <a:rPr lang="zh-CN" altLang="en-US"/>
              <a:t>）。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心态微变</a:t>
            </a:r>
            <a:r>
              <a:rPr lang="en-US" altLang="zh-CN"/>
              <a:t>**</a:t>
            </a:r>
            <a:r>
              <a:rPr lang="zh-CN" altLang="en-US"/>
              <a:t>：认识到谋略不只是纸上谈兵，直接关联生死与胜负。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谋略成功实现的畅快感</a:t>
            </a:r>
            <a:r>
              <a:rPr lang="en-US" altLang="zh-CN"/>
              <a:t>**</a:t>
            </a:r>
            <a:r>
              <a:rPr lang="zh-CN" altLang="en-US"/>
              <a:t>。算无遗策，以弱胜强，首立大功。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14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功过之间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：庆功宴上，杨啸当众嘉奖周镇等将领，对陆沉只以</a:t>
            </a:r>
            <a:r>
              <a:rPr lang="en-US" altLang="zh-CN"/>
              <a:t>“</a:t>
            </a:r>
            <a:r>
              <a:rPr lang="zh-CN" altLang="en-US"/>
              <a:t>参军司人员协力有功</a:t>
            </a:r>
            <a:r>
              <a:rPr lang="en-US" altLang="zh-CN"/>
              <a:t>”</a:t>
            </a:r>
            <a:r>
              <a:rPr lang="zh-CN" altLang="en-US"/>
              <a:t>一语带过。徐慕之趁机发难，指陆沉</a:t>
            </a:r>
            <a:r>
              <a:rPr lang="en-US" altLang="zh-CN"/>
              <a:t>“</a:t>
            </a:r>
            <a:r>
              <a:rPr lang="zh-CN" altLang="en-US"/>
              <a:t>焚村之举，有伤仁德，且其戴罪之身不宜赏</a:t>
            </a:r>
            <a:r>
              <a:rPr lang="en-US" altLang="zh-CN"/>
              <a:t>”</a:t>
            </a:r>
            <a:r>
              <a:rPr lang="zh-CN" altLang="en-US"/>
              <a:t>。陆沉沉默以对。宴后，杨啸单独召见陆沉，直言：</a:t>
            </a:r>
            <a:r>
              <a:rPr lang="en-US" altLang="zh-CN"/>
              <a:t>“</a:t>
            </a:r>
            <a:r>
              <a:rPr lang="zh-CN" altLang="en-US"/>
              <a:t>你的功劳，我记着。但此刻重赏你，是害你。慕之等人代表朝廷清议，不可正面冲突。</a:t>
            </a:r>
            <a:r>
              <a:rPr lang="en-US" altLang="zh-CN"/>
              <a:t>”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上位者的平衡术：杨啸需要陆沉的才能，也需要维护内部派系平衡与外部（朝廷）观感。</a:t>
            </a:r>
            <a:br>
              <a:rPr lang="zh-CN" altLang="en-US"/>
            </a:br>
            <a:r>
              <a:rPr lang="en-US" altLang="zh-CN"/>
              <a:t>  - “</a:t>
            </a:r>
            <a:r>
              <a:rPr lang="zh-CN" altLang="en-US"/>
              <a:t>功劳暂记，以后补偿</a:t>
            </a:r>
            <a:r>
              <a:rPr lang="en-US" altLang="zh-CN"/>
              <a:t>”</a:t>
            </a:r>
            <a:r>
              <a:rPr lang="zh-CN" altLang="en-US"/>
              <a:t>是常见的驭下手段。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理解政治现实的复杂性</a:t>
            </a:r>
            <a:r>
              <a:rPr lang="en-US" altLang="zh-CN"/>
              <a:t>**</a:t>
            </a:r>
            <a:r>
              <a:rPr lang="zh-CN" altLang="en-US"/>
              <a:t>：功劳</a:t>
            </a:r>
            <a:r>
              <a:rPr lang="en-US" altLang="zh-CN"/>
              <a:t>≠</a:t>
            </a:r>
            <a:r>
              <a:rPr lang="zh-CN" altLang="en-US"/>
              <a:t>即时奖赏，需要考量多方博弈。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获得杨啸的私下承诺与进一步信任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你先去督粮台，把军需账给我理清。张明（张司吏）的事，该了结了。</a:t>
            </a:r>
            <a:r>
              <a:rPr lang="en-US" altLang="zh-CN"/>
              <a:t>”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上位者私下认可的秘密爽感</a:t>
            </a:r>
            <a:r>
              <a:rPr lang="en-US" altLang="zh-CN"/>
              <a:t>**</a:t>
            </a:r>
            <a:r>
              <a:rPr lang="zh-CN" altLang="en-US"/>
              <a:t>。虽无公开荣誉，但实际进入了权力核心的视野与计划。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15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账海寻针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：陆沉正式调入督粮台，名义上是协助，实则杨啸授意其全面核查近年军粮、军械账目。秦望之也被秘密从牢中提出，以</a:t>
            </a:r>
            <a:r>
              <a:rPr lang="en-US" altLang="zh-CN"/>
              <a:t>“</a:t>
            </a:r>
            <a:r>
              <a:rPr lang="zh-CN" altLang="en-US"/>
              <a:t>戴罪协理</a:t>
            </a:r>
            <a:r>
              <a:rPr lang="en-US" altLang="zh-CN"/>
              <a:t>”</a:t>
            </a:r>
            <a:r>
              <a:rPr lang="zh-CN" altLang="en-US"/>
              <a:t>身份暗中辅助。两人昼夜盘账，逐渐厘清一张由张司吏、漕帮分舵、乃至燕云镇内部分中低层军官构成的贪墨网络，涉及粮草、被服、铁器，甚至军马。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古代账目审计手法：四柱清算法、跨年度对比、实物盘点与账册差异分析。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贪腐网络的典型结构：关键节点（张司吏）、执行层（其亲属、下属）、受益方（漕帮、相关军官）、保护伞（暗示有更高层默许）。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与秦望之建立稳固的师徒</a:t>
            </a:r>
            <a:r>
              <a:rPr lang="en-US" altLang="zh-CN"/>
              <a:t>/</a:t>
            </a:r>
            <a:r>
              <a:rPr lang="zh-CN" altLang="en-US"/>
              <a:t>搭档关系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掌握足以扳倒张司吏乃至震动燕云镇的核心经济罪证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抽丝剥茧的解谜感</a:t>
            </a:r>
            <a:r>
              <a:rPr lang="en-US" altLang="zh-CN"/>
              <a:t>**</a:t>
            </a:r>
            <a:r>
              <a:rPr lang="zh-CN" altLang="en-US"/>
              <a:t>。在数字迷宫中找到关键线索，揭开黑幕一角。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16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雷霆一击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：陆沉将整理好的罪证摘要呈交杨啸。杨啸震怒，但未立即发作。三日后，恰逢朝廷巡边御史抵达燕云。杨啸在接待宴后，将部分涉及</a:t>
            </a:r>
            <a:r>
              <a:rPr lang="en-US" altLang="zh-CN"/>
              <a:t>“</a:t>
            </a:r>
            <a:r>
              <a:rPr lang="zh-CN" altLang="en-US"/>
              <a:t>可能资敌</a:t>
            </a:r>
            <a:r>
              <a:rPr lang="en-US" altLang="zh-CN"/>
              <a:t>”</a:t>
            </a:r>
            <a:r>
              <a:rPr lang="zh-CN" altLang="en-US"/>
              <a:t>（私自贩卖铁器出关）的罪证</a:t>
            </a:r>
            <a:r>
              <a:rPr lang="en-US" altLang="zh-CN"/>
              <a:t>“</a:t>
            </a:r>
            <a:r>
              <a:rPr lang="zh-CN" altLang="en-US"/>
              <a:t>巧妙</a:t>
            </a:r>
            <a:r>
              <a:rPr lang="en-US" altLang="zh-CN"/>
              <a:t>”</a:t>
            </a:r>
            <a:r>
              <a:rPr lang="zh-CN" altLang="en-US"/>
              <a:t>地让御史</a:t>
            </a:r>
            <a:r>
              <a:rPr lang="en-US" altLang="zh-CN"/>
              <a:t>“</a:t>
            </a:r>
            <a:r>
              <a:rPr lang="zh-CN" altLang="en-US"/>
              <a:t>发现</a:t>
            </a:r>
            <a:r>
              <a:rPr lang="en-US" altLang="zh-CN"/>
              <a:t>”</a:t>
            </a:r>
            <a:r>
              <a:rPr lang="zh-CN" altLang="en-US"/>
              <a:t>。御史为挣政绩，当即要求严查。杨啸顺水推舟，下令抓捕张司吏及相关人等。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借刀杀人</a:t>
            </a:r>
            <a:r>
              <a:rPr lang="en-US" altLang="zh-CN"/>
              <a:t>**</a:t>
            </a:r>
            <a:r>
              <a:rPr lang="zh-CN" altLang="en-US"/>
              <a:t>的高明运用：利用朝廷御史的职权和急于立功的心态，将内部清洗包装成</a:t>
            </a:r>
            <a:r>
              <a:rPr lang="en-US" altLang="zh-CN"/>
              <a:t>“</a:t>
            </a:r>
            <a:r>
              <a:rPr lang="zh-CN" altLang="en-US"/>
              <a:t>响应朝廷督查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政治表态：杨啸此举既清理了门户，又向朝廷展示了</a:t>
            </a:r>
            <a:r>
              <a:rPr lang="en-US" altLang="zh-CN"/>
              <a:t>“</a:t>
            </a:r>
            <a:r>
              <a:rPr lang="zh-CN" altLang="en-US"/>
              <a:t>严于律己、配合巡查</a:t>
            </a:r>
            <a:r>
              <a:rPr lang="en-US" altLang="zh-CN"/>
              <a:t>”</a:t>
            </a:r>
            <a:r>
              <a:rPr lang="zh-CN" altLang="en-US"/>
              <a:t>的姿态。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亲历一次高层次的权谋操作</a:t>
            </a:r>
            <a:r>
              <a:rPr lang="en-US" altLang="zh-CN"/>
              <a:t>**</a:t>
            </a:r>
            <a:r>
              <a:rPr lang="zh-CN" altLang="en-US"/>
              <a:t>，学习如何利用外部力量达成内部目的。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张司吏倒台</a:t>
            </a:r>
            <a:r>
              <a:rPr lang="en-US" altLang="zh-CN"/>
              <a:t>**</a:t>
            </a:r>
            <a:r>
              <a:rPr lang="zh-CN" altLang="en-US"/>
              <a:t>，直接威胁解除。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借势碾压的畅快</a:t>
            </a:r>
            <a:r>
              <a:rPr lang="en-US" altLang="zh-CN"/>
              <a:t>**</a:t>
            </a:r>
            <a:r>
              <a:rPr lang="zh-CN" altLang="en-US"/>
              <a:t>。看仇敌被更强大的力量粉碎，且自身隐于幕后。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17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余波与擢升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：张司吏下狱，其党羽或被清洗，或倒戈。漕帮燕云分舵主被迫交出部分利益并推出替罪羊。杨啸论功行赏，陆沉因</a:t>
            </a:r>
            <a:r>
              <a:rPr lang="en-US" altLang="zh-CN"/>
              <a:t>“</a:t>
            </a:r>
            <a:r>
              <a:rPr lang="zh-CN" altLang="en-US"/>
              <a:t>清账有功，于军务多有裨益</a:t>
            </a:r>
            <a:r>
              <a:rPr lang="en-US" altLang="zh-CN"/>
              <a:t>”</a:t>
            </a:r>
            <a:r>
              <a:rPr lang="zh-CN" altLang="en-US"/>
              <a:t>，被正式擢升为</a:t>
            </a:r>
            <a:r>
              <a:rPr lang="en-US" altLang="zh-CN"/>
              <a:t>**</a:t>
            </a:r>
            <a:r>
              <a:rPr lang="zh-CN" altLang="en-US"/>
              <a:t>从九品都督府录事</a:t>
            </a:r>
            <a:r>
              <a:rPr lang="en-US" altLang="zh-CN"/>
              <a:t>**</a:t>
            </a:r>
            <a:r>
              <a:rPr lang="zh-CN" altLang="en-US"/>
              <a:t>，脱离流外吏身份，成为最低品级文官。秦望之也被特赦，安置在督粮台为吏。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昭胤官制：流外吏与流内官的天壤之别。录事虽低，却有品级，可参与一定级别的会议，享有基本俸禄与法律特权。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战后（或事后的）利益再分配：空出的职位（如刑房司吏）成为各方争夺的新焦点。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完成身份阶级的关键跃迁</a:t>
            </a:r>
            <a:r>
              <a:rPr lang="en-US" altLang="zh-CN"/>
              <a:t>**</a:t>
            </a:r>
            <a:r>
              <a:rPr lang="zh-CN" altLang="en-US"/>
              <a:t>：从任人宰割的蝼蚁，变为有官方身份的</a:t>
            </a:r>
            <a:r>
              <a:rPr lang="en-US" altLang="zh-CN"/>
              <a:t>“</a:t>
            </a:r>
            <a:r>
              <a:rPr lang="zh-CN" altLang="en-US"/>
              <a:t>棋格中人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获得初步权力基础</a:t>
            </a:r>
            <a:r>
              <a:rPr lang="en-US" altLang="zh-CN"/>
              <a:t>**</a:t>
            </a:r>
            <a:r>
              <a:rPr lang="zh-CN" altLang="en-US"/>
              <a:t>：在督粮台有了正式职位和秦望之这位得力助手。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阶层跨越的里程碑</a:t>
            </a:r>
            <a:r>
              <a:rPr lang="en-US" altLang="zh-CN"/>
              <a:t>**</a:t>
            </a:r>
            <a:r>
              <a:rPr lang="zh-CN" altLang="en-US"/>
              <a:t>。正式踏入官场，有了博弈的基本资格。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18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世子招揽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：杨啸长子，世子杨文煜设宴邀请陆沉。宴间极力拉拢，暗示父亲年事渐高，自己未来承袭都督之位后，需陆沉这般干才辅佐，并许以</a:t>
            </a:r>
            <a:r>
              <a:rPr lang="en-US" altLang="zh-CN"/>
              <a:t>“</a:t>
            </a:r>
            <a:r>
              <a:rPr lang="zh-CN" altLang="en-US"/>
              <a:t>典狱司主事</a:t>
            </a:r>
            <a:r>
              <a:rPr lang="en-US" altLang="zh-CN"/>
              <a:t>”</a:t>
            </a:r>
            <a:r>
              <a:rPr lang="zh-CN" altLang="en-US"/>
              <a:t>（正九品）之职。陆沉谦恭应对，未明确表态。归途中，秦望之提醒：世子急躁而刻薄，非明主；且都督杨啸春秋鼎盛，世子如此急切，恐招祸患。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古代继承权博弈的凶险：世子往往急于培植自己势力，易触怒现任统治者。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站队选择的重要性：早期押注可能获大利，也可能万劫不复。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面临第一次重大政治站队诱惑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获得秦望之的关键指点</a:t>
            </a:r>
            <a:r>
              <a:rPr lang="en-US" altLang="zh-CN"/>
              <a:t>**</a:t>
            </a:r>
            <a:r>
              <a:rPr lang="zh-CN" altLang="en-US"/>
              <a:t>，开始学习</a:t>
            </a:r>
            <a:r>
              <a:rPr lang="en-US" altLang="zh-CN"/>
              <a:t>“</a:t>
            </a:r>
            <a:r>
              <a:rPr lang="zh-CN" altLang="en-US"/>
              <a:t>观人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审势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被上位者争抢的价值感</a:t>
            </a:r>
            <a:r>
              <a:rPr lang="en-US" altLang="zh-CN"/>
              <a:t>**</a:t>
            </a:r>
            <a:r>
              <a:rPr lang="zh-CN" altLang="en-US"/>
              <a:t>。初露头角便成为潜力股，但主角保持清醒。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19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密室暗议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：杨啸密召陆沉，询问其对世子招揽的看法。陆沉坦然相告，并道：</a:t>
            </a:r>
            <a:r>
              <a:rPr lang="en-US" altLang="zh-CN"/>
              <a:t>“</a:t>
            </a:r>
            <a:r>
              <a:rPr lang="zh-CN" altLang="en-US"/>
              <a:t>沉之本分，在为都督理清粮饷，整肃蠹虫。储位之事，非人臣所宜言。</a:t>
            </a:r>
            <a:r>
              <a:rPr lang="en-US" altLang="zh-CN"/>
              <a:t>”</a:t>
            </a:r>
            <a:r>
              <a:rPr lang="zh-CN" altLang="en-US"/>
              <a:t>杨啸满意其谨慎，透露忧虑：次子杨文燧（嫡出）虽年幼，但其母族在朝廷有影响力。朝廷有意在军镇继承问题上</a:t>
            </a:r>
            <a:r>
              <a:rPr lang="en-US" altLang="zh-CN"/>
              <a:t>“</a:t>
            </a:r>
            <a:r>
              <a:rPr lang="zh-CN" altLang="en-US"/>
              <a:t>以嫡压长</a:t>
            </a:r>
            <a:r>
              <a:rPr lang="en-US" altLang="zh-CN"/>
              <a:t>”</a:t>
            </a:r>
            <a:r>
              <a:rPr lang="zh-CN" altLang="en-US"/>
              <a:t>，制衡杨家。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中央对边疆军镇的制衡策略：利用继承法（嫡长子继承制）与实际情况（长子往往更得军心）的矛盾，制造军镇内部不稳。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主公的试探：杨啸既测试陆沉的忠诚度，也观察其政治智慧。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通过忠诚测试</a:t>
            </a:r>
            <a:r>
              <a:rPr lang="en-US" altLang="zh-CN"/>
              <a:t>**</a:t>
            </a:r>
            <a:r>
              <a:rPr lang="zh-CN" altLang="en-US"/>
              <a:t>，进一步巩固在杨啸心中的地位。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获悉燕云镇最高层的核心矛盾与潜在危机</a:t>
            </a:r>
            <a:r>
              <a:rPr lang="en-US" altLang="zh-CN"/>
              <a:t>**</a:t>
            </a:r>
            <a:r>
              <a:rPr lang="zh-CN" altLang="en-US"/>
              <a:t>（继承权之争）。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参与核心机密的信任感</a:t>
            </a:r>
            <a:r>
              <a:rPr lang="en-US" altLang="zh-CN"/>
              <a:t>**</a:t>
            </a:r>
            <a:r>
              <a:rPr lang="zh-CN" altLang="en-US"/>
              <a:t>。成为主公心腹的入门标志。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20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盐案初现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：朝廷户部发文，要求各军镇自查</a:t>
            </a:r>
            <a:r>
              <a:rPr lang="en-US" altLang="zh-CN"/>
              <a:t>“</a:t>
            </a:r>
            <a:r>
              <a:rPr lang="zh-CN" altLang="en-US"/>
              <a:t>开中法</a:t>
            </a:r>
            <a:r>
              <a:rPr lang="en-US" altLang="zh-CN"/>
              <a:t>”</a:t>
            </a:r>
            <a:r>
              <a:rPr lang="zh-CN" altLang="en-US"/>
              <a:t>实行以来的盐粮兑换账目，以备巡查。燕云镇多年来通过</a:t>
            </a:r>
            <a:r>
              <a:rPr lang="en-US" altLang="zh-CN"/>
              <a:t>“</a:t>
            </a:r>
            <a:r>
              <a:rPr lang="zh-CN" altLang="en-US"/>
              <a:t>开中法</a:t>
            </a:r>
            <a:r>
              <a:rPr lang="en-US" altLang="zh-CN"/>
              <a:t>”</a:t>
            </a:r>
            <a:r>
              <a:rPr lang="zh-CN" altLang="en-US"/>
              <a:t>用粮食换取两淮盐引，再转卖获利，以补军费，其中猫腻极多。杨啸命陆沉主理自查，实为设法</a:t>
            </a:r>
            <a:r>
              <a:rPr lang="en-US" altLang="zh-CN"/>
              <a:t>“</a:t>
            </a:r>
            <a:r>
              <a:rPr lang="zh-CN" altLang="en-US"/>
              <a:t>做账</a:t>
            </a:r>
            <a:r>
              <a:rPr lang="en-US" altLang="zh-CN"/>
              <a:t>”</a:t>
            </a:r>
            <a:r>
              <a:rPr lang="zh-CN" altLang="en-US"/>
              <a:t>应对。陆沉与秦望之研究后，发现一个巨大隐患：三年前一批盐引的兑付，经手人是世子的门人，且与已经倒台的张司吏有牵扯。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**“</a:t>
            </a:r>
            <a:r>
              <a:rPr lang="zh-CN" altLang="en-US"/>
              <a:t>开中法</a:t>
            </a:r>
            <a:r>
              <a:rPr lang="en-US" altLang="zh-CN"/>
              <a:t>”</a:t>
            </a:r>
            <a:r>
              <a:rPr lang="zh-CN" altLang="en-US"/>
              <a:t>的详细运作与腐败空间</a:t>
            </a:r>
            <a:r>
              <a:rPr lang="en-US" altLang="zh-CN"/>
              <a:t>**</a:t>
            </a:r>
            <a:r>
              <a:rPr lang="zh-CN" altLang="en-US"/>
              <a:t>：盐引的发放、兑换、转卖链条。</a:t>
            </a:r>
            <a:br>
              <a:rPr lang="zh-CN" altLang="en-US"/>
            </a:br>
            <a:r>
              <a:rPr lang="en-US" altLang="zh-CN"/>
              <a:t>  - “</a:t>
            </a:r>
            <a:r>
              <a:rPr lang="zh-CN" altLang="en-US"/>
              <a:t>自查</a:t>
            </a:r>
            <a:r>
              <a:rPr lang="en-US" altLang="zh-CN"/>
              <a:t>”</a:t>
            </a:r>
            <a:r>
              <a:rPr lang="zh-CN" altLang="en-US"/>
              <a:t>的官场艺术：既要应付朝廷，又要保全自身核心利益，还需平衡内部派系（不能只让世子的人背锅）。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接触军镇核心财源秘密</a:t>
            </a:r>
            <a:r>
              <a:rPr lang="en-US" altLang="zh-CN"/>
              <a:t>**</a:t>
            </a:r>
            <a:r>
              <a:rPr lang="zh-CN" altLang="en-US"/>
              <a:t>，理解燕云镇的经济命脉。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陷入更复杂的漩涡</a:t>
            </a:r>
            <a:r>
              <a:rPr lang="en-US" altLang="zh-CN"/>
              <a:t>**</a:t>
            </a:r>
            <a:r>
              <a:rPr lang="zh-CN" altLang="en-US"/>
              <a:t>：处理此事，必然同时得罪世子、朝廷，甚至杨啸本人（若处理不当）。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接手更高难度的挑战</a:t>
            </a:r>
            <a:r>
              <a:rPr lang="en-US" altLang="zh-CN"/>
              <a:t>**</a:t>
            </a:r>
            <a:r>
              <a:rPr lang="zh-CN" altLang="en-US"/>
              <a:t>。从清理小贪腐到处理涉及储君、朝廷的财政大案，层次升级。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 **</a:t>
            </a:r>
            <a:r>
              <a:rPr lang="zh-CN" altLang="en-US"/>
              <a:t>第一卷：寒吏藏锋（第</a:t>
            </a:r>
            <a:r>
              <a:rPr lang="en-US" altLang="zh-CN"/>
              <a:t>21-30</a:t>
            </a:r>
            <a:r>
              <a:rPr lang="zh-CN" altLang="en-US"/>
              <a:t>章）详细章纲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21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盐引迷踪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：陆沉与秦望之彻查三年前那批问题盐引的流向。账面上显示盐引已兑换并售出，但销售回款的银两却未完全入军库，其中三成</a:t>
            </a:r>
            <a:r>
              <a:rPr lang="en-US" altLang="zh-CN"/>
              <a:t>“</a:t>
            </a:r>
            <a:r>
              <a:rPr lang="zh-CN" altLang="en-US"/>
              <a:t>损耗</a:t>
            </a:r>
            <a:r>
              <a:rPr lang="en-US" altLang="zh-CN"/>
              <a:t>”</a:t>
            </a:r>
            <a:r>
              <a:rPr lang="zh-CN" altLang="en-US"/>
              <a:t>记录模糊。追踪发现，这笔钱经由多个皮包商号周转，最终流向</a:t>
            </a:r>
            <a:r>
              <a:rPr lang="en-US" altLang="zh-CN"/>
              <a:t>**</a:t>
            </a:r>
            <a:r>
              <a:rPr lang="zh-CN" altLang="en-US"/>
              <a:t>京城</a:t>
            </a:r>
            <a:r>
              <a:rPr lang="en-US" altLang="zh-CN"/>
              <a:t>“</a:t>
            </a:r>
            <a:r>
              <a:rPr lang="zh-CN" altLang="en-US"/>
              <a:t>永昌票号</a:t>
            </a:r>
            <a:r>
              <a:rPr lang="en-US" altLang="zh-CN"/>
              <a:t>”**——</a:t>
            </a:r>
            <a:r>
              <a:rPr lang="zh-CN" altLang="en-US"/>
              <a:t>一个与晋阳世族关系密切的银号。更棘手的是，经手此事的世子门人已在半年前</a:t>
            </a:r>
            <a:r>
              <a:rPr lang="en-US" altLang="zh-CN"/>
              <a:t>“</a:t>
            </a:r>
            <a:r>
              <a:rPr lang="zh-CN" altLang="en-US"/>
              <a:t>暴病身亡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古代洗钱与资金转移的粗糙但有效手法：通过关联商号虚构交易，层层转账。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晋阳世族在边疆的利益触角：通过金融渠道渗透、控制或勒索军镇。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关键发现</a:t>
            </a:r>
            <a:r>
              <a:rPr lang="en-US" altLang="zh-CN"/>
              <a:t>**</a:t>
            </a:r>
            <a:r>
              <a:rPr lang="zh-CN" altLang="en-US"/>
              <a:t>：死无对证是官方灭口的典型特征，但资金链条本身留下了痕迹。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触及到燕云镇与朝廷世族的隐秘经济关联</a:t>
            </a:r>
            <a:r>
              <a:rPr lang="en-US" altLang="zh-CN"/>
              <a:t>**</a:t>
            </a:r>
            <a:r>
              <a:rPr lang="zh-CN" altLang="en-US"/>
              <a:t>，意识到问题远超内部贪腐。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获得关键物证</a:t>
            </a:r>
            <a:r>
              <a:rPr lang="en-US" altLang="zh-CN"/>
              <a:t>**</a:t>
            </a:r>
            <a:r>
              <a:rPr lang="zh-CN" altLang="en-US"/>
              <a:t>：复制了资金流转的部分原始凭证。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深入虎穴，发现更大黑幕</a:t>
            </a:r>
            <a:r>
              <a:rPr lang="en-US" altLang="zh-CN"/>
              <a:t>**</a:t>
            </a:r>
            <a:r>
              <a:rPr lang="zh-CN" altLang="en-US"/>
              <a:t>。调查不断升级，牵出更强大的幕后势力。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22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两难之局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：陆沉向杨啸汇报初步调查结果，隐晦提及资金流向京城世族，并暗示可能与世子有关。杨啸沉默良久，下令：第一，账目上做成</a:t>
            </a:r>
            <a:r>
              <a:rPr lang="en-US" altLang="zh-CN"/>
              <a:t>“</a:t>
            </a:r>
            <a:r>
              <a:rPr lang="zh-CN" altLang="en-US"/>
              <a:t>商号欺诈，已追缴部分</a:t>
            </a:r>
            <a:r>
              <a:rPr lang="en-US" altLang="zh-CN"/>
              <a:t>”</a:t>
            </a:r>
            <a:r>
              <a:rPr lang="zh-CN" altLang="en-US"/>
              <a:t>，对朝廷交代；第二，暗中收集更多晋阳党介入的证据，但暂不动作；第三，对世子那边，</a:t>
            </a:r>
            <a:r>
              <a:rPr lang="en-US" altLang="zh-CN"/>
              <a:t>“</a:t>
            </a:r>
            <a:r>
              <a:rPr lang="zh-CN" altLang="en-US"/>
              <a:t>敲打但不撕破脸</a:t>
            </a:r>
            <a:r>
              <a:rPr lang="en-US" altLang="zh-CN"/>
              <a:t>”</a:t>
            </a:r>
            <a:r>
              <a:rPr lang="zh-CN" altLang="en-US"/>
              <a:t>。陆沉领命，深知这是走钢丝。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封疆大吏面对中央世族的谨慎：既不甘被吸血，又不敢轻易翻脸。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父亲对儿子的复杂态度：既怒其不肖、引狼入室，又需维护家族整体利益与表面和睦。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学习</a:t>
            </a:r>
            <a:r>
              <a:rPr lang="en-US" altLang="zh-CN"/>
              <a:t>“</a:t>
            </a:r>
            <a:r>
              <a:rPr lang="zh-CN" altLang="en-US"/>
              <a:t>有限度斗争</a:t>
            </a:r>
            <a:r>
              <a:rPr lang="en-US" altLang="zh-CN"/>
              <a:t>”</a:t>
            </a:r>
            <a:r>
              <a:rPr lang="zh-CN" altLang="en-US"/>
              <a:t>的艺术</a:t>
            </a:r>
            <a:r>
              <a:rPr lang="en-US" altLang="zh-CN"/>
              <a:t>**</a:t>
            </a:r>
            <a:r>
              <a:rPr lang="zh-CN" altLang="en-US"/>
              <a:t>：政治不是非黑即白，很多时候是妥协与平衡。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获得杨啸更深的倚重</a:t>
            </a:r>
            <a:r>
              <a:rPr lang="en-US" altLang="zh-CN"/>
              <a:t>**</a:t>
            </a:r>
            <a:r>
              <a:rPr lang="zh-CN" altLang="en-US"/>
              <a:t>：将其视为能处理敏感、隐秘事务的心腹。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被委以机密重任的信任升级</a:t>
            </a:r>
            <a:r>
              <a:rPr lang="en-US" altLang="zh-CN"/>
              <a:t>**</a:t>
            </a:r>
            <a:r>
              <a:rPr lang="zh-CN" altLang="en-US"/>
              <a:t>。主角成为主公手中一把处理脏活、难活的利刃。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23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黑市交锋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：为落实杨啸</a:t>
            </a:r>
            <a:r>
              <a:rPr lang="en-US" altLang="zh-CN"/>
              <a:t>“</a:t>
            </a:r>
            <a:r>
              <a:rPr lang="zh-CN" altLang="en-US"/>
              <a:t>敲打</a:t>
            </a:r>
            <a:r>
              <a:rPr lang="en-US" altLang="zh-CN"/>
              <a:t>”</a:t>
            </a:r>
            <a:r>
              <a:rPr lang="zh-CN" altLang="en-US"/>
              <a:t>世子的指示，陆沉设计。他通过漕帮老舵主的关系，接触燕云黑市，故意放出风声：有一批</a:t>
            </a:r>
            <a:r>
              <a:rPr lang="en-US" altLang="zh-CN"/>
              <a:t>“</a:t>
            </a:r>
            <a:r>
              <a:rPr lang="zh-CN" altLang="en-US"/>
              <a:t>来历不明但价格极低</a:t>
            </a:r>
            <a:r>
              <a:rPr lang="en-US" altLang="zh-CN"/>
              <a:t>”</a:t>
            </a:r>
            <a:r>
              <a:rPr lang="zh-CN" altLang="en-US"/>
              <a:t>的盐引（实为伪造的相似凭证）急于出手。世子门下负责灰色生意的人果然上钩，在交易时被</a:t>
            </a:r>
            <a:r>
              <a:rPr lang="en-US" altLang="zh-CN"/>
              <a:t>“</a:t>
            </a:r>
            <a:r>
              <a:rPr lang="zh-CN" altLang="en-US"/>
              <a:t>恰好</a:t>
            </a:r>
            <a:r>
              <a:rPr lang="en-US" altLang="zh-CN"/>
              <a:t>”</a:t>
            </a:r>
            <a:r>
              <a:rPr lang="zh-CN" altLang="en-US"/>
              <a:t>巡查的赵虎带队抓获。人赃并获，世子面上无光。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古代黑市交易规则与陷阱：信任基于熟人引荐，但也可被利用。</a:t>
            </a:r>
            <a:br>
              <a:rPr lang="zh-CN" altLang="en-US"/>
            </a:br>
            <a:r>
              <a:rPr lang="en-US" altLang="zh-CN"/>
              <a:t>  - “</a:t>
            </a:r>
            <a:r>
              <a:rPr lang="zh-CN" altLang="en-US"/>
              <a:t>钓鱼执法</a:t>
            </a:r>
            <a:r>
              <a:rPr lang="en-US" altLang="zh-CN"/>
              <a:t>”</a:t>
            </a:r>
            <a:r>
              <a:rPr lang="zh-CN" altLang="en-US"/>
              <a:t>的古代版本：利用对手的贪欲设局。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成功完成一次针对性的战术打击</a:t>
            </a:r>
            <a:r>
              <a:rPr lang="en-US" altLang="zh-CN"/>
              <a:t>**</a:t>
            </a:r>
            <a:r>
              <a:rPr lang="zh-CN" altLang="en-US"/>
              <a:t>，展现执行力的狠辣与精细。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与赵虎建立更稳固的合作关系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精准打击对手痛处的快意</a:t>
            </a:r>
            <a:r>
              <a:rPr lang="en-US" altLang="zh-CN"/>
              <a:t>**</a:t>
            </a:r>
            <a:r>
              <a:rPr lang="zh-CN" altLang="en-US"/>
              <a:t>。让敌手吃亏还无法声张。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24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世子的报复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：世子杨文煜认定是陆沉捣鬼，怒不可遏。他指使徐慕之等清流幕僚，联名上书杨啸，弹劾陆沉</a:t>
            </a:r>
            <a:r>
              <a:rPr lang="en-US" altLang="zh-CN"/>
              <a:t>“</a:t>
            </a:r>
            <a:r>
              <a:rPr lang="zh-CN" altLang="en-US"/>
              <a:t>结交江湖匪类（漕帮）、操纵黑市、败坏军镇法纪</a:t>
            </a:r>
            <a:r>
              <a:rPr lang="en-US" altLang="zh-CN"/>
              <a:t>”</a:t>
            </a:r>
            <a:r>
              <a:rPr lang="zh-CN" altLang="en-US"/>
              <a:t>。同时，世子妃（出身京城某世族旁支）也向杨啸吹枕边风。压力汇聚，杨啸不得不召陆沉问话。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官僚体系内斗的典型手段：用道德文章和程序问题攻击政敌。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内宅政治对前线政务的影响。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面临第一次来自体制内的正式政治攻击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认识到自己虽有杨啸信任，但根基浅薄，易受攻击。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危机升级的紧张感</a:t>
            </a:r>
            <a:r>
              <a:rPr lang="en-US" altLang="zh-CN"/>
              <a:t>**</a:t>
            </a:r>
            <a:r>
              <a:rPr lang="zh-CN" altLang="en-US"/>
              <a:t>。来自更高层面（世子）的反扑，考验主角应对能力。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25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釜底抽薪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：陆沉面对弹劾，不辩解自己，反而向杨啸呈上一份新的报告：详细列举近年来世子一系人员经手的各项事务中，存在的</a:t>
            </a:r>
            <a:r>
              <a:rPr lang="en-US" altLang="zh-CN"/>
              <a:t>“</a:t>
            </a:r>
            <a:r>
              <a:rPr lang="zh-CN" altLang="en-US"/>
              <a:t>程序瑕疵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利益输送嫌疑</a:t>
            </a:r>
            <a:r>
              <a:rPr lang="en-US" altLang="zh-CN"/>
              <a:t>”</a:t>
            </a:r>
            <a:r>
              <a:rPr lang="zh-CN" altLang="en-US"/>
              <a:t>（部分为真，部分为陆沉根据秦望之指导</a:t>
            </a:r>
            <a:r>
              <a:rPr lang="en-US" altLang="zh-CN"/>
              <a:t>“</a:t>
            </a:r>
            <a:r>
              <a:rPr lang="zh-CN" altLang="en-US"/>
              <a:t>合理推测</a:t>
            </a:r>
            <a:r>
              <a:rPr lang="en-US" altLang="zh-CN"/>
              <a:t>”</a:t>
            </a:r>
            <a:r>
              <a:rPr lang="zh-CN" altLang="en-US"/>
              <a:t>），并指出</a:t>
            </a:r>
            <a:r>
              <a:rPr lang="en-US" altLang="zh-CN"/>
              <a:t>“</a:t>
            </a:r>
            <a:r>
              <a:rPr lang="zh-CN" altLang="en-US"/>
              <a:t>若严格按清流所言之法度，世子门下多数人皆难逃究问</a:t>
            </a:r>
            <a:r>
              <a:rPr lang="en-US" altLang="zh-CN"/>
              <a:t>”</a:t>
            </a:r>
            <a:r>
              <a:rPr lang="zh-CN" altLang="en-US"/>
              <a:t>。其潜台词是：世子攻击我的理由，同样适用于他们自己，若掀桌子，大家都没好处。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互相毁灭的威慑策略（</a:t>
            </a:r>
            <a:r>
              <a:rPr lang="en-US" altLang="zh-CN"/>
              <a:t>MAD</a:t>
            </a:r>
            <a:r>
              <a:rPr lang="zh-CN" altLang="en-US"/>
              <a:t>）</a:t>
            </a:r>
            <a:r>
              <a:rPr lang="en-US" altLang="zh-CN"/>
              <a:t>**</a:t>
            </a:r>
            <a:r>
              <a:rPr lang="zh-CN" altLang="en-US"/>
              <a:t>：在权力斗争中，有时让对方意识到</a:t>
            </a:r>
            <a:r>
              <a:rPr lang="en-US" altLang="zh-CN"/>
              <a:t>“</a:t>
            </a:r>
            <a:r>
              <a:rPr lang="zh-CN" altLang="en-US"/>
              <a:t>斗则两伤</a:t>
            </a:r>
            <a:r>
              <a:rPr lang="en-US" altLang="zh-CN"/>
              <a:t>”</a:t>
            </a:r>
            <a:r>
              <a:rPr lang="zh-CN" altLang="en-US"/>
              <a:t>是有效的制衡。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攻击重点从</a:t>
            </a:r>
            <a:r>
              <a:rPr lang="en-US" altLang="zh-CN"/>
              <a:t>“</a:t>
            </a:r>
            <a:r>
              <a:rPr lang="zh-CN" altLang="en-US"/>
              <a:t>道德</a:t>
            </a:r>
            <a:r>
              <a:rPr lang="en-US" altLang="zh-CN"/>
              <a:t>”</a:t>
            </a:r>
            <a:r>
              <a:rPr lang="zh-CN" altLang="en-US"/>
              <a:t>转向</a:t>
            </a:r>
            <a:r>
              <a:rPr lang="en-US" altLang="zh-CN"/>
              <a:t>“</a:t>
            </a:r>
            <a:r>
              <a:rPr lang="zh-CN" altLang="en-US"/>
              <a:t>实利</a:t>
            </a:r>
            <a:r>
              <a:rPr lang="en-US" altLang="zh-CN"/>
              <a:t>”</a:t>
            </a:r>
            <a:r>
              <a:rPr lang="zh-CN" altLang="en-US"/>
              <a:t>：点明世子派系的利益要害。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掌握更高级的斗争策略</a:t>
            </a:r>
            <a:r>
              <a:rPr lang="en-US" altLang="zh-CN"/>
              <a:t>**</a:t>
            </a:r>
            <a:r>
              <a:rPr lang="zh-CN" altLang="en-US"/>
              <a:t>：不纠缠于具体指控，而是抬高斗争层级和代价。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迫使杨啸表态</a:t>
            </a:r>
            <a:r>
              <a:rPr lang="en-US" altLang="zh-CN"/>
              <a:t>**</a:t>
            </a:r>
            <a:r>
              <a:rPr lang="zh-CN" altLang="en-US"/>
              <a:t>：杨啸必须压制世子，以维持整体平衡。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以攻代守，反将一军</a:t>
            </a:r>
            <a:r>
              <a:rPr lang="en-US" altLang="zh-CN"/>
              <a:t>**</a:t>
            </a:r>
            <a:r>
              <a:rPr lang="zh-CN" altLang="en-US"/>
              <a:t>。用对手的逻辑反击对手，展现高超的政治智慧。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26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都督的抉择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：杨啸权衡利弊，最终出手。他严厉斥责徐慕之等人</a:t>
            </a:r>
            <a:r>
              <a:rPr lang="en-US" altLang="zh-CN"/>
              <a:t>“</a:t>
            </a:r>
            <a:r>
              <a:rPr lang="zh-CN" altLang="en-US"/>
              <a:t>不同实务、空言误事</a:t>
            </a:r>
            <a:r>
              <a:rPr lang="en-US" altLang="zh-CN"/>
              <a:t>”</a:t>
            </a:r>
            <a:r>
              <a:rPr lang="zh-CN" altLang="en-US"/>
              <a:t>，将其中两人调离幕府。同时，他召见世子，严令其</a:t>
            </a:r>
            <a:r>
              <a:rPr lang="en-US" altLang="zh-CN"/>
              <a:t>“</a:t>
            </a:r>
            <a:r>
              <a:rPr lang="zh-CN" altLang="en-US"/>
              <a:t>修身养性，约束门下，不得再插手军镇具体事务</a:t>
            </a:r>
            <a:r>
              <a:rPr lang="en-US" altLang="zh-CN"/>
              <a:t>”</a:t>
            </a:r>
            <a:r>
              <a:rPr lang="zh-CN" altLang="en-US"/>
              <a:t>。对于陆沉，杨啸明面上</a:t>
            </a:r>
            <a:r>
              <a:rPr lang="en-US" altLang="zh-CN"/>
              <a:t>“</a:t>
            </a:r>
            <a:r>
              <a:rPr lang="zh-CN" altLang="en-US"/>
              <a:t>申饬其行事不谨</a:t>
            </a:r>
            <a:r>
              <a:rPr lang="en-US" altLang="zh-CN"/>
              <a:t>”</a:t>
            </a:r>
            <a:r>
              <a:rPr lang="zh-CN" altLang="en-US"/>
              <a:t>，罚俸三月，暗地里却将督粮台的权限扩大，并允许陆沉组建一个不超过五人的</a:t>
            </a:r>
            <a:r>
              <a:rPr lang="en-US" altLang="zh-CN"/>
              <a:t>“</a:t>
            </a:r>
            <a:r>
              <a:rPr lang="zh-CN" altLang="en-US"/>
              <a:t>稽核小组</a:t>
            </a:r>
            <a:r>
              <a:rPr lang="en-US" altLang="zh-CN"/>
              <a:t>”</a:t>
            </a:r>
            <a:r>
              <a:rPr lang="zh-CN" altLang="en-US"/>
              <a:t>，直属其本人。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领导者的平衡术结果：各打五十大板，但实际削弱挑战者（世子），加强核心工具（陆沉）。</a:t>
            </a:r>
            <a:br>
              <a:rPr lang="zh-CN" altLang="en-US"/>
            </a:br>
            <a:r>
              <a:rPr lang="en-US" altLang="zh-CN"/>
              <a:t>  - “</a:t>
            </a:r>
            <a:r>
              <a:rPr lang="zh-CN" altLang="en-US"/>
              <a:t>明罚暗赏</a:t>
            </a:r>
            <a:r>
              <a:rPr lang="en-US" altLang="zh-CN"/>
              <a:t>”</a:t>
            </a:r>
            <a:r>
              <a:rPr lang="zh-CN" altLang="en-US"/>
              <a:t>的驭下手段。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危机化解，地位反而巩固</a:t>
            </a:r>
            <a:r>
              <a:rPr lang="en-US" altLang="zh-CN"/>
              <a:t>**</a:t>
            </a:r>
            <a:r>
              <a:rPr lang="zh-CN" altLang="en-US"/>
              <a:t>。获得独立的小团队和更大权限。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清晰看到杨啸的底线与手腕</a:t>
            </a:r>
            <a:r>
              <a:rPr lang="en-US" altLang="zh-CN"/>
              <a:t>**</a:t>
            </a:r>
            <a:r>
              <a:rPr lang="zh-CN" altLang="en-US"/>
              <a:t>：在维护整体稳定和家族利益的前提下，可以牺牲部分人。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赢下第一场党内斗争</a:t>
            </a:r>
            <a:r>
              <a:rPr lang="en-US" altLang="zh-CN"/>
              <a:t>**</a:t>
            </a:r>
            <a:r>
              <a:rPr lang="zh-CN" altLang="en-US"/>
              <a:t>。虽无大胜，但成功立足，并获得发展空间。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27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组建班底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：陆沉开始组建稽核小组。核心成员包括：</a:t>
            </a:r>
            <a:r>
              <a:rPr lang="en-US" altLang="zh-CN"/>
              <a:t>**</a:t>
            </a:r>
            <a:r>
              <a:rPr lang="zh-CN" altLang="en-US"/>
              <a:t>秦望之</a:t>
            </a:r>
            <a:r>
              <a:rPr lang="en-US" altLang="zh-CN"/>
              <a:t>**</a:t>
            </a:r>
            <a:r>
              <a:rPr lang="zh-CN" altLang="en-US"/>
              <a:t>（财政大脑）、</a:t>
            </a:r>
            <a:r>
              <a:rPr lang="en-US" altLang="zh-CN"/>
              <a:t>**</a:t>
            </a:r>
            <a:r>
              <a:rPr lang="zh-CN" altLang="en-US"/>
              <a:t>赵虎</a:t>
            </a:r>
            <a:r>
              <a:rPr lang="en-US" altLang="zh-CN"/>
              <a:t>**</a:t>
            </a:r>
            <a:r>
              <a:rPr lang="zh-CN" altLang="en-US"/>
              <a:t>（武力与执行保障，借调而来）、一名精通燕云地方田亩赋税的</a:t>
            </a:r>
            <a:r>
              <a:rPr lang="en-US" altLang="zh-CN"/>
              <a:t>**</a:t>
            </a:r>
            <a:r>
              <a:rPr lang="zh-CN" altLang="en-US"/>
              <a:t>老书吏</a:t>
            </a:r>
            <a:r>
              <a:rPr lang="en-US" altLang="zh-CN"/>
              <a:t>**</a:t>
            </a:r>
            <a:r>
              <a:rPr lang="zh-CN" altLang="en-US"/>
              <a:t>、一名擅长追踪记录和文书整理的</a:t>
            </a:r>
            <a:r>
              <a:rPr lang="en-US" altLang="zh-CN"/>
              <a:t>**</a:t>
            </a:r>
            <a:r>
              <a:rPr lang="zh-CN" altLang="en-US"/>
              <a:t>年轻落魄秀才</a:t>
            </a:r>
            <a:r>
              <a:rPr lang="en-US" altLang="zh-CN"/>
              <a:t>**</a:t>
            </a:r>
            <a:r>
              <a:rPr lang="zh-CN" altLang="en-US"/>
              <a:t>。陆沉制定了严格的内部规章和保密条例，小组开始系统性地梳理军镇经济、人事档案，建立私密情报库。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团队建设的重要性：专业互补，忠诚优先。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古代情报</a:t>
            </a:r>
            <a:r>
              <a:rPr lang="en-US" altLang="zh-CN"/>
              <a:t>/</a:t>
            </a:r>
            <a:r>
              <a:rPr lang="zh-CN" altLang="en-US"/>
              <a:t>档案管理雏形：分类、摘要、交叉索引。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拥有了第一个完全听命于自己的核心团队</a:t>
            </a:r>
            <a:r>
              <a:rPr lang="en-US" altLang="zh-CN"/>
              <a:t>**</a:t>
            </a:r>
            <a:r>
              <a:rPr lang="zh-CN" altLang="en-US"/>
              <a:t>，不再是孤军奋战。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开始构建信息优势</a:t>
            </a:r>
            <a:r>
              <a:rPr lang="en-US" altLang="zh-CN"/>
              <a:t>**</a:t>
            </a:r>
            <a:r>
              <a:rPr lang="zh-CN" altLang="en-US"/>
              <a:t>，这是未来权谋的基础。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拥有自己团队的成就感</a:t>
            </a:r>
            <a:r>
              <a:rPr lang="en-US" altLang="zh-CN"/>
              <a:t>**</a:t>
            </a:r>
            <a:r>
              <a:rPr lang="zh-CN" altLang="en-US"/>
              <a:t>。从单打独斗到初具组织形态。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28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北狄再谋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边境斥候传回急报，北狄白水部与黑山部似有和解迹象，并联合西羌某部，可能在秋高马肥时大举南下。此次规模将远超以往。燕云镇面临真正的生存危机。杨啸召集核心文武，商讨对策。陆沉作为稽核主事列席。军议上，主流意见是向朝廷求援、坚壁清野。陆沉却提出一个更大胆的计划</a:t>
            </a:r>
            <a:r>
              <a:rPr lang="en-US" altLang="zh-CN"/>
              <a:t>……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游牧民族政治：部落联盟的脆弱性与利益驱动。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大规模边境战争的预警与备战流程。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正式进入军镇最高决策圈（列席）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面临关乎一镇生死存亡的终极考验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登上更大舞台的仪式感</a:t>
            </a:r>
            <a:r>
              <a:rPr lang="en-US" altLang="zh-CN"/>
              <a:t>**</a:t>
            </a:r>
            <a:r>
              <a:rPr lang="zh-CN" altLang="en-US"/>
              <a:t>。在决定数十万人生死的会议上，拥有发言权。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29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连环计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：陆沉提出</a:t>
            </a:r>
            <a:r>
              <a:rPr lang="en-US" altLang="zh-CN"/>
              <a:t>“</a:t>
            </a:r>
            <a:r>
              <a:rPr lang="zh-CN" altLang="en-US"/>
              <a:t>上、中、下</a:t>
            </a:r>
            <a:r>
              <a:rPr lang="en-US" altLang="zh-CN"/>
              <a:t>”</a:t>
            </a:r>
            <a:r>
              <a:rPr lang="zh-CN" altLang="en-US"/>
              <a:t>三策。下策为求援固守；中策为主动出击，击破一部，瓦解联盟；</a:t>
            </a:r>
            <a:r>
              <a:rPr lang="en-US" altLang="zh-CN"/>
              <a:t>**</a:t>
            </a:r>
            <a:r>
              <a:rPr lang="zh-CN" altLang="en-US"/>
              <a:t>上策则为</a:t>
            </a:r>
            <a:r>
              <a:rPr lang="en-US" altLang="zh-CN"/>
              <a:t>“</a:t>
            </a:r>
            <a:r>
              <a:rPr lang="zh-CN" altLang="en-US"/>
              <a:t>伐交</a:t>
            </a:r>
            <a:r>
              <a:rPr lang="en-US" altLang="zh-CN"/>
              <a:t>”**</a:t>
            </a:r>
            <a:r>
              <a:rPr lang="zh-CN" altLang="en-US"/>
              <a:t>：利用稽核小组整理出的、关于晋阳党与北狄部落可能存在私下马匹贸易（违禁）的情报（源自盐引案资金链的旁支信息），设计让朝廷（或朝廷中的敌对派系）得知此事。朝廷必然震怒，严查边境贸易。此举可一石二鸟：既能扰乱北狄的后勤与联盟（断其部分财路和物资），又能打击晋阳党，为燕云争取朝廷内部的政治支持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**“</a:t>
            </a:r>
            <a:r>
              <a:rPr lang="zh-CN" altLang="en-US"/>
              <a:t>伐交</a:t>
            </a:r>
            <a:r>
              <a:rPr lang="en-US" altLang="zh-CN"/>
              <a:t>”</a:t>
            </a:r>
            <a:r>
              <a:rPr lang="zh-CN" altLang="en-US"/>
              <a:t>战略</a:t>
            </a:r>
            <a:r>
              <a:rPr lang="en-US" altLang="zh-CN"/>
              <a:t>**</a:t>
            </a:r>
            <a:r>
              <a:rPr lang="zh-CN" altLang="en-US"/>
              <a:t>：军事问题政治解决，利用外部矛盾化解内部危机。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情报的综合运用：将经济情报转化为战略武器。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提出第一个具有全局视野的战略性谋略</a:t>
            </a:r>
            <a:r>
              <a:rPr lang="en-US" altLang="zh-CN"/>
              <a:t>**</a:t>
            </a:r>
            <a:r>
              <a:rPr lang="zh-CN" altLang="en-US"/>
              <a:t>，格局打开。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谋略获得杨啸及部分老将的高度重视</a:t>
            </a:r>
            <a:r>
              <a:rPr lang="en-US" altLang="zh-CN"/>
              <a:t>**</a:t>
            </a:r>
            <a:r>
              <a:rPr lang="zh-CN" altLang="en-US"/>
              <a:t>，被视为破局的关键可能。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宏观战略思维的惊艳展现</a:t>
            </a:r>
            <a:r>
              <a:rPr lang="en-US" altLang="zh-CN"/>
              <a:t>**</a:t>
            </a:r>
            <a:r>
              <a:rPr lang="zh-CN" altLang="en-US"/>
              <a:t>。跳出战术层面，在政治、经济、军事交叉点上寻找胜机。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30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定策与使命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：杨啸最终决定，三策并行。一面整军备战（中下策），一面全力执行上策。他授予陆沉更大权限和资源，命其负责</a:t>
            </a:r>
            <a:r>
              <a:rPr lang="en-US" altLang="zh-CN"/>
              <a:t>“</a:t>
            </a:r>
            <a:r>
              <a:rPr lang="zh-CN" altLang="en-US"/>
              <a:t>伐交</a:t>
            </a:r>
            <a:r>
              <a:rPr lang="en-US" altLang="zh-CN"/>
              <a:t>”</a:t>
            </a:r>
            <a:r>
              <a:rPr lang="zh-CN" altLang="en-US"/>
              <a:t>之策的细化和执行，关键任务是：</a:t>
            </a:r>
            <a:r>
              <a:rPr lang="en-US" altLang="zh-CN"/>
              <a:t>**</a:t>
            </a:r>
            <a:r>
              <a:rPr lang="zh-CN" altLang="en-US"/>
              <a:t>将晋阳党与北狄走私的证据，安全、隐秘、且能产生最大政治效果地，递送到京城</a:t>
            </a:r>
            <a:r>
              <a:rPr lang="en-US" altLang="zh-CN"/>
              <a:t>“</a:t>
            </a:r>
            <a:r>
              <a:rPr lang="zh-CN" altLang="en-US"/>
              <a:t>合适的人</a:t>
            </a:r>
            <a:r>
              <a:rPr lang="en-US" altLang="zh-CN"/>
              <a:t>”</a:t>
            </a:r>
            <a:r>
              <a:rPr lang="zh-CN" altLang="en-US"/>
              <a:t>手中</a:t>
            </a:r>
            <a:r>
              <a:rPr lang="en-US" altLang="zh-CN"/>
              <a:t>**</a:t>
            </a:r>
            <a:r>
              <a:rPr lang="zh-CN" altLang="en-US"/>
              <a:t>。杨啸意味深长地说：</a:t>
            </a:r>
            <a:r>
              <a:rPr lang="en-US" altLang="zh-CN"/>
              <a:t>“</a:t>
            </a:r>
            <a:r>
              <a:rPr lang="zh-CN" altLang="en-US"/>
              <a:t>此去京城，如入龙潭。你需以燕云使者身份前往，但明面上，你是去户部核对历年边镇粮饷账目。</a:t>
            </a:r>
            <a:r>
              <a:rPr lang="en-US" altLang="zh-CN"/>
              <a:t>”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被赋予决定燕云乃至北境命运的重大使命</a:t>
            </a:r>
            <a:r>
              <a:rPr lang="en-US" altLang="zh-CN"/>
              <a:t>**</a:t>
            </a:r>
            <a:r>
              <a:rPr lang="zh-CN" altLang="en-US"/>
              <a:t>，完成从</a:t>
            </a:r>
            <a:r>
              <a:rPr lang="en-US" altLang="zh-CN"/>
              <a:t>“</a:t>
            </a:r>
            <a:r>
              <a:rPr lang="zh-CN" altLang="en-US"/>
              <a:t>处理内部问题的刀</a:t>
            </a:r>
            <a:r>
              <a:rPr lang="en-US" altLang="zh-CN"/>
              <a:t>”</a:t>
            </a:r>
            <a:r>
              <a:rPr lang="zh-CN" altLang="en-US"/>
              <a:t>到</a:t>
            </a:r>
            <a:r>
              <a:rPr lang="en-US" altLang="zh-CN"/>
              <a:t>“</a:t>
            </a:r>
            <a:r>
              <a:rPr lang="zh-CN" altLang="en-US"/>
              <a:t>影响外部格局的棋手</a:t>
            </a:r>
            <a:r>
              <a:rPr lang="en-US" altLang="zh-CN"/>
              <a:t>”</a:t>
            </a:r>
            <a:r>
              <a:rPr lang="zh-CN" altLang="en-US"/>
              <a:t>的关键转变。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获得京师之行的机会</a:t>
            </a:r>
            <a:r>
              <a:rPr lang="en-US" altLang="zh-CN"/>
              <a:t>**</a:t>
            </a:r>
            <a:r>
              <a:rPr lang="zh-CN" altLang="en-US"/>
              <a:t>，舞台从边疆扩展到帝国中心。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第一卷收官</a:t>
            </a:r>
            <a:r>
              <a:rPr lang="en-US" altLang="zh-CN"/>
              <a:t>**</a:t>
            </a:r>
            <a:r>
              <a:rPr lang="zh-CN" altLang="en-US"/>
              <a:t>：陆沉不再是那个风雪中的将死小吏，而是手握一定权柄、肩负重大使命、拥有核心团队的</a:t>
            </a:r>
            <a:r>
              <a:rPr lang="en-US" altLang="zh-CN"/>
              <a:t>“</a:t>
            </a:r>
            <a:r>
              <a:rPr lang="zh-CN" altLang="en-US"/>
              <a:t>潜龙</a:t>
            </a:r>
            <a:r>
              <a:rPr lang="en-US" altLang="zh-CN"/>
              <a:t>”</a:t>
            </a:r>
            <a:r>
              <a:rPr lang="zh-CN" altLang="en-US"/>
              <a:t>，即将奔赴更广阔的天地，迎接更复杂的挑战。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阶段性质变与新征程开启</a:t>
            </a:r>
            <a:r>
              <a:rPr lang="en-US" altLang="zh-CN"/>
              <a:t>**</a:t>
            </a:r>
            <a:r>
              <a:rPr lang="zh-CN" altLang="en-US"/>
              <a:t>。完成边疆阶段的成长与积累，目标指向权力中心，留下巨大悬念和期待。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 **</a:t>
            </a:r>
            <a:r>
              <a:rPr lang="zh-CN" altLang="en-US"/>
              <a:t>第二卷：京华棋局（第</a:t>
            </a:r>
            <a:r>
              <a:rPr lang="en-US" altLang="zh-CN"/>
              <a:t>31-40</a:t>
            </a:r>
            <a:r>
              <a:rPr lang="zh-CN" altLang="en-US"/>
              <a:t>章）详细章纲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31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京华烟云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：陆沉携秦望之、赵虎及两名精干吏员，以</a:t>
            </a:r>
            <a:r>
              <a:rPr lang="en-US" altLang="zh-CN"/>
              <a:t>“</a:t>
            </a:r>
            <a:r>
              <a:rPr lang="zh-CN" altLang="en-US"/>
              <a:t>燕云镇督粮参军司主事（正九品）</a:t>
            </a:r>
            <a:r>
              <a:rPr lang="en-US" altLang="zh-CN"/>
              <a:t>”</a:t>
            </a:r>
            <a:r>
              <a:rPr lang="zh-CN" altLang="en-US"/>
              <a:t>身份抵达昭胤都城</a:t>
            </a:r>
            <a:r>
              <a:rPr lang="en-US" altLang="zh-CN"/>
              <a:t>“</a:t>
            </a:r>
            <a:r>
              <a:rPr lang="zh-CN" altLang="en-US"/>
              <a:t>承天</a:t>
            </a:r>
            <a:r>
              <a:rPr lang="en-US" altLang="zh-CN"/>
              <a:t>”</a:t>
            </a:r>
            <a:r>
              <a:rPr lang="zh-CN" altLang="en-US"/>
              <a:t>。入城即感受到与边镇截然不同的繁华与森严秩序。他们下榻于朝廷指定的</a:t>
            </a:r>
            <a:r>
              <a:rPr lang="en-US" altLang="zh-CN"/>
              <a:t>“</a:t>
            </a:r>
            <a:r>
              <a:rPr lang="zh-CN" altLang="en-US"/>
              <a:t>会同馆</a:t>
            </a:r>
            <a:r>
              <a:rPr lang="en-US" altLang="zh-CN"/>
              <a:t>”</a:t>
            </a:r>
            <a:r>
              <a:rPr lang="zh-CN" altLang="en-US"/>
              <a:t>（边镇人员入京住所）。陆沉目睹清流党中坚、吏部侍郎林惟庸的车驾被晋阳党子弟当街挑衅，林惟庸忍辱避让。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京城权力地理：皇城、各部衙门、世族聚居区、商业区的分布与象征意义。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党争公开化表现：当街羞辱是打击政敌威信、试探皇帝态度的常见手段。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直观感受京城政治生态的严峻与张扬</a:t>
            </a:r>
            <a:r>
              <a:rPr lang="en-US" altLang="zh-CN"/>
              <a:t>**</a:t>
            </a:r>
            <a:r>
              <a:rPr lang="zh-CN" altLang="en-US"/>
              <a:t>，意识到这里的斗争更讲究</a:t>
            </a:r>
            <a:r>
              <a:rPr lang="en-US" altLang="zh-CN"/>
              <a:t>“</a:t>
            </a:r>
            <a:r>
              <a:rPr lang="zh-CN" altLang="en-US"/>
              <a:t>势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名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初步锁定目标</a:t>
            </a:r>
            <a:r>
              <a:rPr lang="en-US" altLang="zh-CN"/>
              <a:t>**</a:t>
            </a:r>
            <a:r>
              <a:rPr lang="zh-CN" altLang="en-US"/>
              <a:t>：林惟庸的隐忍，或可作为切入点。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新世界观的冲击与铺垫</a:t>
            </a:r>
            <a:r>
              <a:rPr lang="en-US" altLang="zh-CN"/>
              <a:t>**</a:t>
            </a:r>
            <a:r>
              <a:rPr lang="zh-CN" altLang="en-US"/>
              <a:t>。从边关进入帝国心脏，氛围转换，矛盾升级。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32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户部刁难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：陆沉前往户部办理</a:t>
            </a:r>
            <a:r>
              <a:rPr lang="en-US" altLang="zh-CN"/>
              <a:t>“</a:t>
            </a:r>
            <a:r>
              <a:rPr lang="zh-CN" altLang="en-US"/>
              <a:t>核对边镇粮饷</a:t>
            </a:r>
            <a:r>
              <a:rPr lang="en-US" altLang="zh-CN"/>
              <a:t>”</a:t>
            </a:r>
            <a:r>
              <a:rPr lang="zh-CN" altLang="en-US"/>
              <a:t>的公事，遭遇户部云南清吏司（分管部分边镇）主事（晋阳党外围）的故意拖延与刁难，要求补交繁复无比的历年细目，试图将其困死在文书工作中。陆沉不卑不亢，提出可按《户部则例》简化流程，对方冷笑：</a:t>
            </a:r>
            <a:r>
              <a:rPr lang="en-US" altLang="zh-CN"/>
              <a:t>“</a:t>
            </a:r>
            <a:r>
              <a:rPr lang="zh-CN" altLang="en-US"/>
              <a:t>则例是则例，惯例是惯例。</a:t>
            </a:r>
            <a:r>
              <a:rPr lang="en-US" altLang="zh-CN"/>
              <a:t>”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官僚体系</a:t>
            </a:r>
            <a:r>
              <a:rPr lang="en-US" altLang="zh-CN"/>
              <a:t>“</a:t>
            </a:r>
            <a:r>
              <a:rPr lang="zh-CN" altLang="en-US"/>
              <a:t>合法拖延</a:t>
            </a:r>
            <a:r>
              <a:rPr lang="en-US" altLang="zh-CN"/>
              <a:t>”</a:t>
            </a:r>
            <a:r>
              <a:rPr lang="zh-CN" altLang="en-US"/>
              <a:t>的经典手段：用复杂程序消耗对手时间与精力。</a:t>
            </a:r>
            <a:br>
              <a:rPr lang="zh-CN" altLang="en-US"/>
            </a:br>
            <a:r>
              <a:rPr lang="en-US" altLang="zh-CN"/>
              <a:t>  - “</a:t>
            </a:r>
            <a:r>
              <a:rPr lang="zh-CN" altLang="en-US"/>
              <a:t>则例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惯例</a:t>
            </a:r>
            <a:r>
              <a:rPr lang="en-US" altLang="zh-CN"/>
              <a:t>”</a:t>
            </a:r>
            <a:r>
              <a:rPr lang="zh-CN" altLang="en-US"/>
              <a:t>的冲突：前者是明文规定，后者是潜规则，后者往往更有力。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亲身体验京城衙门的</a:t>
            </a:r>
            <a:r>
              <a:rPr lang="en-US" altLang="zh-CN"/>
              <a:t>“</a:t>
            </a:r>
            <a:r>
              <a:rPr lang="zh-CN" altLang="en-US"/>
              <a:t>门难进、脸难看、事难办</a:t>
            </a:r>
            <a:r>
              <a:rPr lang="en-US" altLang="zh-CN"/>
              <a:t>”**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收集第一个对手信息</a:t>
            </a:r>
            <a:r>
              <a:rPr lang="en-US" altLang="zh-CN"/>
              <a:t>**</a:t>
            </a:r>
            <a:r>
              <a:rPr lang="zh-CN" altLang="en-US"/>
              <a:t>：该主事的姓名、背景、行事风格。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遭遇体制性傲慢，激发破局欲望</a:t>
            </a:r>
            <a:r>
              <a:rPr lang="en-US" altLang="zh-CN"/>
              <a:t>**</a:t>
            </a:r>
            <a:r>
              <a:rPr lang="zh-CN" altLang="en-US"/>
              <a:t>。为后续反击铺垫情绪。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33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玲珑阁初探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：为打开局面，陆沉根据燕云老舵主提供的有限线索，寻访京城情报汇聚之地</a:t>
            </a:r>
            <a:r>
              <a:rPr lang="en-US" altLang="zh-CN"/>
              <a:t>“</a:t>
            </a:r>
            <a:r>
              <a:rPr lang="zh-CN" altLang="en-US"/>
              <a:t>玲珑阁</a:t>
            </a:r>
            <a:r>
              <a:rPr lang="en-US" altLang="zh-CN"/>
              <a:t>”</a:t>
            </a:r>
            <a:r>
              <a:rPr lang="zh-CN" altLang="en-US"/>
              <a:t>。表面是乐坊，实为高级交际场所。陆沉以边镇武将（赵虎）名义订座，见到玲珑阁主事苏怀瑾。苏怀瑾谈吐不凡，洞察敏锐，对边事似有了解。陆沉谨慎应对，未露真实意图，但约定再访。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古代高级情报场所的运营模式：以风雅为表，提供社交平台与信息中介服务。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试探与反试探的对话艺术。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接触关键人物苏怀瑾</a:t>
            </a:r>
            <a:r>
              <a:rPr lang="en-US" altLang="zh-CN"/>
              <a:t>**</a:t>
            </a:r>
            <a:r>
              <a:rPr lang="zh-CN" altLang="en-US"/>
              <a:t>，留下初步印象。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意识到京城情报获取的难度与专业性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接触神秘美人</a:t>
            </a:r>
            <a:r>
              <a:rPr lang="en-US" altLang="zh-CN"/>
              <a:t>/</a:t>
            </a:r>
            <a:r>
              <a:rPr lang="zh-CN" altLang="en-US"/>
              <a:t>潜在盟友的悬念感</a:t>
            </a:r>
            <a:r>
              <a:rPr lang="en-US" altLang="zh-CN"/>
              <a:t>**</a:t>
            </a:r>
            <a:r>
              <a:rPr lang="zh-CN" altLang="en-US"/>
              <a:t>。为后续情感线与情报线埋下伏笔。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34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盐引为饵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：陆沉调整策略。他让秦望之整理出部分无关燕云核心利益、但能证明晋阳党关联商号在边镇贸易中</a:t>
            </a:r>
            <a:r>
              <a:rPr lang="en-US" altLang="zh-CN"/>
              <a:t>“</a:t>
            </a:r>
            <a:r>
              <a:rPr lang="zh-CN" altLang="en-US"/>
              <a:t>违规操作</a:t>
            </a:r>
            <a:r>
              <a:rPr lang="en-US" altLang="zh-CN"/>
              <a:t>”</a:t>
            </a:r>
            <a:r>
              <a:rPr lang="zh-CN" altLang="en-US"/>
              <a:t>的账目证据（例如，以次等盐充好盐）。通过苏怀瑾的中介（支付不菲费用），将这些证据匿名透露给与晋阳党有隙的御史台某年轻御史。很快，都察院出现弹劾相关商号的奏章。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政治斗争中</a:t>
            </a:r>
            <a:r>
              <a:rPr lang="en-US" altLang="zh-CN"/>
              <a:t>“</a:t>
            </a:r>
            <a:r>
              <a:rPr lang="zh-CN" altLang="en-US"/>
              <a:t>喂料</a:t>
            </a:r>
            <a:r>
              <a:rPr lang="en-US" altLang="zh-CN"/>
              <a:t>”</a:t>
            </a:r>
            <a:r>
              <a:rPr lang="zh-CN" altLang="en-US"/>
              <a:t>给对手的政敌，是常见且安全的攻击方式。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御史的职能与运作：风闻奏事，但需要</a:t>
            </a:r>
            <a:r>
              <a:rPr lang="en-US" altLang="zh-CN"/>
              <a:t>“</a:t>
            </a:r>
            <a:r>
              <a:rPr lang="zh-CN" altLang="en-US"/>
              <a:t>料</a:t>
            </a:r>
            <a:r>
              <a:rPr lang="en-US" altLang="zh-CN"/>
              <a:t>”</a:t>
            </a:r>
            <a:r>
              <a:rPr lang="zh-CN" altLang="en-US"/>
              <a:t>来引发关注。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成功在京城政治池塘中投下第一颗石子，引发微小涟漪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验证苏怀瑾渠道的有效性，并建立初步</a:t>
            </a:r>
            <a:r>
              <a:rPr lang="en-US" altLang="zh-CN"/>
              <a:t>“</a:t>
            </a:r>
            <a:r>
              <a:rPr lang="zh-CN" altLang="en-US"/>
              <a:t>交易</a:t>
            </a:r>
            <a:r>
              <a:rPr lang="en-US" altLang="zh-CN"/>
              <a:t>”</a:t>
            </a:r>
            <a:r>
              <a:rPr lang="zh-CN" altLang="en-US"/>
              <a:t>关系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幕后操纵的快感</a:t>
            </a:r>
            <a:r>
              <a:rPr lang="en-US" altLang="zh-CN"/>
              <a:t>**</a:t>
            </a:r>
            <a:r>
              <a:rPr lang="zh-CN" altLang="en-US"/>
              <a:t>。虽身处低位，却能利用信息影响朝堂议论。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35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林府夜宴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：因弹劾事件，林惟庸注意到背后可能有</a:t>
            </a:r>
            <a:r>
              <a:rPr lang="en-US" altLang="zh-CN"/>
              <a:t>“</a:t>
            </a:r>
            <a:r>
              <a:rPr lang="zh-CN" altLang="en-US"/>
              <a:t>知情人</a:t>
            </a:r>
            <a:r>
              <a:rPr lang="en-US" altLang="zh-CN"/>
              <a:t>”</a:t>
            </a:r>
            <a:r>
              <a:rPr lang="zh-CN" altLang="en-US"/>
              <a:t>。经苏怀瑾暗中牵线（未暴露陆沉），林惟庸以</a:t>
            </a:r>
            <a:r>
              <a:rPr lang="en-US" altLang="zh-CN"/>
              <a:t>“</a:t>
            </a:r>
            <a:r>
              <a:rPr lang="zh-CN" altLang="en-US"/>
              <a:t>咨议边镇实务</a:t>
            </a:r>
            <a:r>
              <a:rPr lang="en-US" altLang="zh-CN"/>
              <a:t>”</a:t>
            </a:r>
            <a:r>
              <a:rPr lang="zh-CN" altLang="en-US"/>
              <a:t>为由，在府中设私宴邀请陆沉。宴上，陆沉对燕云军政、边贸的见解令林惟庸刮目相看。陆沉适时抛出部分北狄部落与某些</a:t>
            </a:r>
            <a:r>
              <a:rPr lang="en-US" altLang="zh-CN"/>
              <a:t>“</a:t>
            </a:r>
            <a:r>
              <a:rPr lang="zh-CN" altLang="en-US"/>
              <a:t>内地商号</a:t>
            </a:r>
            <a:r>
              <a:rPr lang="en-US" altLang="zh-CN"/>
              <a:t>”</a:t>
            </a:r>
            <a:r>
              <a:rPr lang="zh-CN" altLang="en-US"/>
              <a:t>过从甚密的观察，引起林惟庸高度警惕。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清流党与实权边将的潜在合作基础：都受世族压制，都有整顿边防的需求。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私宴是非正式但重要的政治沟通场合。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与清流党实权人物建立直接联系</a:t>
            </a:r>
            <a:r>
              <a:rPr lang="en-US" altLang="zh-CN"/>
              <a:t>**</a:t>
            </a:r>
            <a:r>
              <a:rPr lang="zh-CN" altLang="en-US"/>
              <a:t>，获得一个重要政治窗口。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成功传递关键信息（北狄与晋阳党关联）而不暴露自身全部底牌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获得高层赏识与接纳</a:t>
            </a:r>
            <a:r>
              <a:rPr lang="en-US" altLang="zh-CN"/>
              <a:t>**</a:t>
            </a:r>
            <a:r>
              <a:rPr lang="zh-CN" altLang="en-US"/>
              <a:t>。凭真才实学赢得尊重，打开上升通道。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36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内行厂的影子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：陆沉发现会同馆附近有可疑人员窥探，赵虎擒住一人，从其身上搜出</a:t>
            </a:r>
            <a:r>
              <a:rPr lang="en-US" altLang="zh-CN"/>
              <a:t>“</a:t>
            </a:r>
            <a:r>
              <a:rPr lang="zh-CN" altLang="en-US"/>
              <a:t>内行厂</a:t>
            </a:r>
            <a:r>
              <a:rPr lang="en-US" altLang="zh-CN"/>
              <a:t>”</a:t>
            </a:r>
            <a:r>
              <a:rPr lang="zh-CN" altLang="en-US"/>
              <a:t>的腰牌（低等）。对方称只是例行监视边镇入京人员。陆沉惊觉自己可能已被特务机构注意。他立即通过苏怀瑾核实，苏怀瑾暗示内行厂内部派系复杂，有人可能与晋阳党勾结，试图掌握陆沉手中的</a:t>
            </a:r>
            <a:r>
              <a:rPr lang="en-US" altLang="zh-CN"/>
              <a:t>“</a:t>
            </a:r>
            <a:r>
              <a:rPr lang="zh-CN" altLang="en-US"/>
              <a:t>证据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明朝厂卫制度的借鉴：内行厂作为皇帝耳目，也常被权臣利用，内部存在竞争。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暴露在特务监视下的生存法则：谨言慎行，必要时反跟踪与误导。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意识到京城危险不仅来自党争，还有无处不在的监视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与苏怀瑾关系更进一步</a:t>
            </a:r>
            <a:r>
              <a:rPr lang="en-US" altLang="zh-CN"/>
              <a:t>**</a:t>
            </a:r>
            <a:r>
              <a:rPr lang="zh-CN" altLang="en-US"/>
              <a:t>，她提供了关键保护建议（更换住所、信息传递方式）。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危机感升级，接触更黑暗的权力触角</a:t>
            </a:r>
            <a:r>
              <a:rPr lang="en-US" altLang="zh-CN"/>
              <a:t>**</a:t>
            </a:r>
            <a:r>
              <a:rPr lang="zh-CN" altLang="en-US"/>
              <a:t>。斗争维度增加。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37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移花接木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：为摆脱监视并安全传递核心证据，陆沉设计。他让秦望之伪造另一套涉及其他边镇（非燕云）的</a:t>
            </a:r>
            <a:r>
              <a:rPr lang="en-US" altLang="zh-CN"/>
              <a:t>“</a:t>
            </a:r>
            <a:r>
              <a:rPr lang="zh-CN" altLang="en-US"/>
              <a:t>问题账目</a:t>
            </a:r>
            <a:r>
              <a:rPr lang="en-US" altLang="zh-CN"/>
              <a:t>”</a:t>
            </a:r>
            <a:r>
              <a:rPr lang="zh-CN" altLang="en-US"/>
              <a:t>，故意让内行厂的眼线</a:t>
            </a:r>
            <a:r>
              <a:rPr lang="en-US" altLang="zh-CN"/>
              <a:t>“</a:t>
            </a:r>
            <a:r>
              <a:rPr lang="zh-CN" altLang="en-US"/>
              <a:t>偷走</a:t>
            </a:r>
            <a:r>
              <a:rPr lang="en-US" altLang="zh-CN"/>
              <a:t>”</a:t>
            </a:r>
            <a:r>
              <a:rPr lang="zh-CN" altLang="en-US"/>
              <a:t>。同时，他将真正的核心证据（晋阳党与北狄走私的铁证）加密后，混入一批发往林惟庸老家</a:t>
            </a:r>
            <a:r>
              <a:rPr lang="en-US" altLang="zh-CN"/>
              <a:t>“</a:t>
            </a:r>
            <a:r>
              <a:rPr lang="zh-CN" altLang="en-US"/>
              <a:t>代购书籍</a:t>
            </a:r>
            <a:r>
              <a:rPr lang="en-US" altLang="zh-CN"/>
              <a:t>”</a:t>
            </a:r>
            <a:r>
              <a:rPr lang="zh-CN" altLang="en-US"/>
              <a:t>的货箱中，由赵虎亲自护送，利用林家商队渠道送出京城，直达林惟庸信任的南方书院保存。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信息战中的欺骗与掩护：用假情报消耗对手注意力，保护真情报。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利用合法商业渠道传递敏感物品的安全性。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成功实施一次精密的情报安全操作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核心证据得以保全并送至安全地点</a:t>
            </a:r>
            <a:r>
              <a:rPr lang="en-US" altLang="zh-CN"/>
              <a:t>**</a:t>
            </a:r>
            <a:r>
              <a:rPr lang="zh-CN" altLang="en-US"/>
              <a:t>，完成了杨啸任务的关键一步。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瞒天过海的智力优越感</a:t>
            </a:r>
            <a:r>
              <a:rPr lang="en-US" altLang="zh-CN"/>
              <a:t>**</a:t>
            </a:r>
            <a:r>
              <a:rPr lang="zh-CN" altLang="en-US"/>
              <a:t>。在敌人眼皮底下完成关键动作。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38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开中法博弈（上）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：朝廷正式议事，讨论</a:t>
            </a:r>
            <a:r>
              <a:rPr lang="en-US" altLang="zh-CN"/>
              <a:t>“</a:t>
            </a:r>
            <a:r>
              <a:rPr lang="zh-CN" altLang="en-US"/>
              <a:t>是否扩大开中法于北境四镇</a:t>
            </a:r>
            <a:r>
              <a:rPr lang="en-US" altLang="zh-CN"/>
              <a:t>”</a:t>
            </a:r>
            <a:r>
              <a:rPr lang="zh-CN" altLang="en-US"/>
              <a:t>。晋阳党以</a:t>
            </a:r>
            <a:r>
              <a:rPr lang="en-US" altLang="zh-CN"/>
              <a:t>“</a:t>
            </a:r>
            <a:r>
              <a:rPr lang="zh-CN" altLang="en-US"/>
              <a:t>恐滋边将贪墨、不利朝廷统筹</a:t>
            </a:r>
            <a:r>
              <a:rPr lang="en-US" altLang="zh-CN"/>
              <a:t>”</a:t>
            </a:r>
            <a:r>
              <a:rPr lang="zh-CN" altLang="en-US"/>
              <a:t>为由强烈反对。林惟庸代表清流党（部分）主张扩大，以纾解边镇粮饷压力。陆沉受林惟庸邀请，以</a:t>
            </a:r>
            <a:r>
              <a:rPr lang="en-US" altLang="zh-CN"/>
              <a:t>“</a:t>
            </a:r>
            <a:r>
              <a:rPr lang="zh-CN" altLang="en-US"/>
              <a:t>边镇实务者</a:t>
            </a:r>
            <a:r>
              <a:rPr lang="en-US" altLang="zh-CN"/>
              <a:t>”</a:t>
            </a:r>
            <a:r>
              <a:rPr lang="zh-CN" altLang="en-US"/>
              <a:t>身份在朝会外（非正式场合）向部分中立官员陈述利弊，提供详实数据。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国家财政政策辩论的焦点：中央控制</a:t>
            </a:r>
            <a:r>
              <a:rPr lang="en-US" altLang="zh-CN"/>
              <a:t> vs </a:t>
            </a:r>
            <a:r>
              <a:rPr lang="zh-CN" altLang="en-US"/>
              <a:t>地方灵活性，效率</a:t>
            </a:r>
            <a:r>
              <a:rPr lang="en-US" altLang="zh-CN"/>
              <a:t> vs </a:t>
            </a:r>
            <a:r>
              <a:rPr lang="zh-CN" altLang="en-US"/>
              <a:t>腐败风险。</a:t>
            </a:r>
            <a:br>
              <a:rPr lang="zh-CN" altLang="en-US"/>
            </a:br>
            <a:r>
              <a:rPr lang="en-US" altLang="zh-CN"/>
              <a:t>  - “</a:t>
            </a:r>
            <a:r>
              <a:rPr lang="zh-CN" altLang="en-US"/>
              <a:t>朝会外影响</a:t>
            </a:r>
            <a:r>
              <a:rPr lang="en-US" altLang="zh-CN"/>
              <a:t>”</a:t>
            </a:r>
            <a:r>
              <a:rPr lang="zh-CN" altLang="en-US"/>
              <a:t>的重要性：很多决策在正式会议前就已通过私下沟通达成共识。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首次参与国家级政策讨论</a:t>
            </a:r>
            <a:r>
              <a:rPr lang="en-US" altLang="zh-CN"/>
              <a:t>**</a:t>
            </a:r>
            <a:r>
              <a:rPr lang="zh-CN" altLang="en-US"/>
              <a:t>，展现专业能力。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为燕云争取利益，也是为自己积累政治资本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以专业知识影响国策的成就感</a:t>
            </a:r>
            <a:r>
              <a:rPr lang="en-US" altLang="zh-CN"/>
              <a:t>**</a:t>
            </a:r>
            <a:r>
              <a:rPr lang="zh-CN" altLang="en-US"/>
              <a:t>。小人物撬动大议题。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39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开中法博弈（下）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：博弈白热化。晋阳党祭出杀手锏：指使户部官员抛出</a:t>
            </a:r>
            <a:r>
              <a:rPr lang="en-US" altLang="zh-CN"/>
              <a:t>“</a:t>
            </a:r>
            <a:r>
              <a:rPr lang="zh-CN" altLang="en-US"/>
              <a:t>燕云镇近年盐引兑换账目疑点</a:t>
            </a:r>
            <a:r>
              <a:rPr lang="en-US" altLang="zh-CN"/>
              <a:t>”</a:t>
            </a:r>
            <a:r>
              <a:rPr lang="zh-CN" altLang="en-US"/>
              <a:t>，直指杨啸管理不力，试图将开中法辩论引向对燕云的攻击。陆沉早有准备，当庭（在得到林惟庸和部分官员允许的陈述场合）出示已准备好的</a:t>
            </a:r>
            <a:r>
              <a:rPr lang="en-US" altLang="zh-CN"/>
              <a:t>“</a:t>
            </a:r>
            <a:r>
              <a:rPr lang="zh-CN" altLang="en-US"/>
              <a:t>自查报告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整改方案</a:t>
            </a:r>
            <a:r>
              <a:rPr lang="en-US" altLang="zh-CN"/>
              <a:t>”</a:t>
            </a:r>
            <a:r>
              <a:rPr lang="zh-CN" altLang="en-US"/>
              <a:t>，承认存在</a:t>
            </a:r>
            <a:r>
              <a:rPr lang="en-US" altLang="zh-CN"/>
              <a:t>“</a:t>
            </a:r>
            <a:r>
              <a:rPr lang="zh-CN" altLang="en-US"/>
              <a:t>下属吏员欺瞒</a:t>
            </a:r>
            <a:r>
              <a:rPr lang="en-US" altLang="zh-CN"/>
              <a:t>”</a:t>
            </a:r>
            <a:r>
              <a:rPr lang="zh-CN" altLang="en-US"/>
              <a:t>问题（推给已倒台的张司吏等），并强调杨啸已严厉整顿，且新式稽核制度可有效防止再犯。逻辑清晰，数据扎实，化解了攻势。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危机公关：主动承认可控范围内的错误，展示整改决心，转移焦点。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用具体方案和制度设计来回应质疑，比空谈忠心更有效。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成功为燕云化解一次重大政治危机</a:t>
            </a:r>
            <a:r>
              <a:rPr lang="en-US" altLang="zh-CN"/>
              <a:t>**</a:t>
            </a:r>
            <a:r>
              <a:rPr lang="zh-CN" altLang="en-US"/>
              <a:t>，巩固了杨啸的信任（消息传回）。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在京城中级官员圈中树立</a:t>
            </a:r>
            <a:r>
              <a:rPr lang="en-US" altLang="zh-CN"/>
              <a:t>“</a:t>
            </a:r>
            <a:r>
              <a:rPr lang="zh-CN" altLang="en-US"/>
              <a:t>干练、务实、善应对</a:t>
            </a:r>
            <a:r>
              <a:rPr lang="en-US" altLang="zh-CN"/>
              <a:t>”</a:t>
            </a:r>
            <a:r>
              <a:rPr lang="zh-CN" altLang="en-US"/>
              <a:t>的个人品牌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临危不乱，公开答辩获胜</a:t>
            </a:r>
            <a:r>
              <a:rPr lang="en-US" altLang="zh-CN"/>
              <a:t>**</a:t>
            </a:r>
            <a:r>
              <a:rPr lang="zh-CN" altLang="en-US"/>
              <a:t>。在政治攻击中捍卫己方，并赢得声誉。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40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盟友与裂痕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：开中法博弈以</a:t>
            </a:r>
            <a:r>
              <a:rPr lang="en-US" altLang="zh-CN"/>
              <a:t>“</a:t>
            </a:r>
            <a:r>
              <a:rPr lang="zh-CN" altLang="en-US"/>
              <a:t>北境四镇试行新规，加强户部监管</a:t>
            </a:r>
            <a:r>
              <a:rPr lang="en-US" altLang="zh-CN"/>
              <a:t>”</a:t>
            </a:r>
            <a:r>
              <a:rPr lang="zh-CN" altLang="en-US"/>
              <a:t>的折中方案告终，燕云利益基本保全。林惟庸对陆沉愈加器重，引为外援。但陆沉也察觉到清流党内部并非铁板一块：部分</a:t>
            </a:r>
            <a:r>
              <a:rPr lang="en-US" altLang="zh-CN"/>
              <a:t>“</a:t>
            </a:r>
            <a:r>
              <a:rPr lang="zh-CN" altLang="en-US"/>
              <a:t>清流</a:t>
            </a:r>
            <a:r>
              <a:rPr lang="en-US" altLang="zh-CN"/>
              <a:t>”</a:t>
            </a:r>
            <a:r>
              <a:rPr lang="zh-CN" altLang="en-US"/>
              <a:t>更重道德文章，对陆沉</a:t>
            </a:r>
            <a:r>
              <a:rPr lang="en-US" altLang="zh-CN"/>
              <a:t>“</a:t>
            </a:r>
            <a:r>
              <a:rPr lang="zh-CN" altLang="en-US"/>
              <a:t>过于务实乃至权变</a:t>
            </a:r>
            <a:r>
              <a:rPr lang="en-US" altLang="zh-CN"/>
              <a:t>”</a:t>
            </a:r>
            <a:r>
              <a:rPr lang="zh-CN" altLang="en-US"/>
              <a:t>的风格有所非议，认为其</a:t>
            </a:r>
            <a:r>
              <a:rPr lang="en-US" altLang="zh-CN"/>
              <a:t>“</a:t>
            </a:r>
            <a:r>
              <a:rPr lang="zh-CN" altLang="en-US"/>
              <a:t>近术而远道</a:t>
            </a:r>
            <a:r>
              <a:rPr lang="en-US" altLang="zh-CN"/>
              <a:t>”</a:t>
            </a:r>
            <a:r>
              <a:rPr lang="zh-CN" altLang="en-US"/>
              <a:t>。同时，苏怀瑾提醒陆沉，林惟庸与司礼监某太监有隐秘往来，须有所警惕。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政治盟友的复杂性：有共同敌人不等于理念一致，且盟友自身也有其他利益关系。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政治光谱的细分：</a:t>
            </a:r>
            <a:r>
              <a:rPr lang="en-US" altLang="zh-CN"/>
              <a:t>“</a:t>
            </a:r>
            <a:r>
              <a:rPr lang="zh-CN" altLang="en-US"/>
              <a:t>道德清流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实务清流</a:t>
            </a:r>
            <a:r>
              <a:rPr lang="en-US" altLang="zh-CN"/>
              <a:t>”</a:t>
            </a:r>
            <a:r>
              <a:rPr lang="zh-CN" altLang="en-US"/>
              <a:t>的区别。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与林惟庸联盟巩固，但认识到其局限性（理念差异、其他关联）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获得苏怀瑾更深入的提醒，意识到政治人物往往有多重面孔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政治洞察力深化</a:t>
            </a:r>
            <a:r>
              <a:rPr lang="en-US" altLang="zh-CN"/>
              <a:t>**</a:t>
            </a:r>
            <a:r>
              <a:rPr lang="zh-CN" altLang="en-US"/>
              <a:t>。看清盟友的局限与政治的灰度，避免盲目信任。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 **</a:t>
            </a:r>
            <a:r>
              <a:rPr lang="zh-CN" altLang="en-US"/>
              <a:t>第二卷：京华棋局（第</a:t>
            </a:r>
            <a:r>
              <a:rPr lang="en-US" altLang="zh-CN"/>
              <a:t>41-50</a:t>
            </a:r>
            <a:r>
              <a:rPr lang="zh-CN" altLang="en-US"/>
              <a:t>章）详细章纲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41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漕帮暗潮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：漕帮总舵一名账房先生（与燕云老舵主有旧）秘密求见陆沉，透露晋阳党正通过曹谨（司礼监掌印）的关系，试图收编或打压漕帮，以完全控制运河命脉。作为交换，漕帮希望陆沉能协助他们在朝廷中找到新的</a:t>
            </a:r>
            <a:r>
              <a:rPr lang="en-US" altLang="zh-CN"/>
              <a:t>“</a:t>
            </a:r>
            <a:r>
              <a:rPr lang="zh-CN" altLang="en-US"/>
              <a:t>保护伞</a:t>
            </a:r>
            <a:r>
              <a:rPr lang="en-US" altLang="zh-CN"/>
              <a:t>”</a:t>
            </a:r>
            <a:r>
              <a:rPr lang="zh-CN" altLang="en-US"/>
              <a:t>，并提供晋阳党与曹谨勾结的部分证据（涉及私运宫禁物资）。陆沉意识到，漕帮是一把双刃剑，但也是重要的情报和行动力量。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漕运体系的灰色地带：漕帮半官半匪的性质，与朝廷、地方、世族的复杂关系。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利益交换的政治逻辑：弱势方寻求新靠山时，必须拿出足够的</a:t>
            </a:r>
            <a:r>
              <a:rPr lang="en-US" altLang="zh-CN"/>
              <a:t>“</a:t>
            </a:r>
            <a:r>
              <a:rPr lang="zh-CN" altLang="en-US"/>
              <a:t>投名状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获得关于晋阳党与司礼监勾结的关键线索和部分证据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与漕帮建立更深入、基于利益交换的合作关系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获得意外的重要盟友与筹码</a:t>
            </a:r>
            <a:r>
              <a:rPr lang="en-US" altLang="zh-CN"/>
              <a:t>**</a:t>
            </a:r>
            <a:r>
              <a:rPr lang="zh-CN" altLang="en-US"/>
              <a:t>。在京城复杂网络中，找到新的支点。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42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皇子萧彻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：在一次林惟庸举办的雅集上，陆沉</a:t>
            </a:r>
            <a:r>
              <a:rPr lang="en-US" altLang="zh-CN"/>
              <a:t>“</a:t>
            </a:r>
            <a:r>
              <a:rPr lang="zh-CN" altLang="en-US"/>
              <a:t>偶遇</a:t>
            </a:r>
            <a:r>
              <a:rPr lang="en-US" altLang="zh-CN"/>
              <a:t>”</a:t>
            </a:r>
            <a:r>
              <a:rPr lang="zh-CN" altLang="en-US"/>
              <a:t>皇七子萧彻。萧彻表现平庸，对诗词歌赋兴趣寥寥，反而对陆沉提到的边镇风物、军械粮草流露出不经意的好奇。交谈中，萧彻提及宫中用度节俭，但某些采买价格奇高，似有感慨。陆沉心中一动，觉得此皇子或许并非表面那么简单。苏怀瑾事后告知，萧彻生母早逝，在宫中备受冷落，但其母族似与当年一桩旧案有关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皇室边缘成员的生存状态与可能的心机。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宫廷采买是贪腐重灾区，也是扳倒权宦的常见突破口。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注意到一个潜在的、被忽视的皇室力量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获得关于宫廷财政的又一个切入点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发现</a:t>
            </a:r>
            <a:r>
              <a:rPr lang="en-US" altLang="zh-CN"/>
              <a:t>“</a:t>
            </a:r>
            <a:r>
              <a:rPr lang="zh-CN" altLang="en-US"/>
              <a:t>隐藏人物</a:t>
            </a:r>
            <a:r>
              <a:rPr lang="en-US" altLang="zh-CN"/>
              <a:t>”</a:t>
            </a:r>
            <a:r>
              <a:rPr lang="zh-CN" altLang="en-US"/>
              <a:t>的敏锐感</a:t>
            </a:r>
            <a:r>
              <a:rPr lang="en-US" altLang="zh-CN"/>
              <a:t>**</a:t>
            </a:r>
            <a:r>
              <a:rPr lang="zh-CN" altLang="en-US"/>
              <a:t>。在不起眼处看到潜在的关键棋子。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43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蛛丝马迹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：陆沉将漕帮提供的线索、萧彻无意透露的信息、以及秦望之对宫廷账目的专业分析结合，发现一条隐约的链条：晋阳党关联商号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司礼监采买太监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虚高报价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利益分润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部分资金可能流向北狄（通过边境贸易洗白）。这个猜测大胆而惊人，若证实，将是扳倒曹谨和晋阳党部分核心人物的重磅炸弹。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跨领域信息整合与逻辑推理能力。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贪腐链条的跨国界延伸可能性（虽风险极高，但利润也极高）。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形成对敌人核心集团更完整、更致命的犯罪网络假说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明确下一步调查方向</a:t>
            </a:r>
            <a:r>
              <a:rPr lang="en-US" altLang="zh-CN"/>
              <a:t>**</a:t>
            </a:r>
            <a:r>
              <a:rPr lang="zh-CN" altLang="en-US"/>
              <a:t>：深入宫廷采买体系，寻找铁证。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拼图逐渐完整的推理快感</a:t>
            </a:r>
            <a:r>
              <a:rPr lang="en-US" altLang="zh-CN"/>
              <a:t>**</a:t>
            </a:r>
            <a:r>
              <a:rPr lang="zh-CN" altLang="en-US"/>
              <a:t>。将碎片信息串联成可能的惊天黑幕。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44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玲珑阁密谈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与苏怀瑾在玲珑阁密室深谈。陆沉坦言部分猜测，苏怀瑾沉默良久，最终透露自己的另一重身份：她是曹谨早年对手（已故某太监）的养女，被曹谨安排在此作为眼线，实则心怀复仇之念。她手中掌握部分曹谨与晋阳党资金来往的隐秘账册副本，但无法直接拿出，因会暴露自己。她建议陆沉从</a:t>
            </a:r>
            <a:r>
              <a:rPr lang="en-US" altLang="zh-CN"/>
              <a:t>“</a:t>
            </a:r>
            <a:r>
              <a:rPr lang="zh-CN" altLang="en-US"/>
              <a:t>尚宝监</a:t>
            </a:r>
            <a:r>
              <a:rPr lang="en-US" altLang="zh-CN"/>
              <a:t>”</a:t>
            </a:r>
            <a:r>
              <a:rPr lang="zh-CN" altLang="en-US"/>
              <a:t>（掌管宫中部分仓库）一名不得志的老宦官入手。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宫廷内部恩怨与太监政治的残酷性。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线人与双重间谍的生存之道与价值。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与苏怀瑾的关系发生质变，从交易合作变为带有共同秘密与目标的同盟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获得关键内应和具体突破口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美人坦诚身份，关系深化</a:t>
            </a:r>
            <a:r>
              <a:rPr lang="en-US" altLang="zh-CN"/>
              <a:t>**</a:t>
            </a:r>
            <a:r>
              <a:rPr lang="zh-CN" altLang="en-US"/>
              <a:t>。获得强大内应，情感线与事业线交汇。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45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尚宝监老黄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在苏怀瑾安排下，伪装成为宫中供应特殊边镇药材的商人，接触尚宝监宦官黄德。黄德年老体衰，备受排挤，对曹谨一系充满怨怼。陆沉以重金和承诺为其养老送终为条件，换取其回忆和查找某些特定年份、特定物品的入库出库记录。黄德提供了一条关键信息：一批标注为</a:t>
            </a:r>
            <a:r>
              <a:rPr lang="en-US" altLang="zh-CN"/>
              <a:t>“</a:t>
            </a:r>
            <a:r>
              <a:rPr lang="zh-CN" altLang="en-US"/>
              <a:t>辽东贡参</a:t>
            </a:r>
            <a:r>
              <a:rPr lang="en-US" altLang="zh-CN"/>
              <a:t>”</a:t>
            </a:r>
            <a:r>
              <a:rPr lang="zh-CN" altLang="en-US"/>
              <a:t>的货物，实际入库重量与单据严重不符，且出库记录被篡改，经手人是曹谨的干儿子。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宫中仓库管理的漏洞与腐败手法。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如何利用失意者的怨恨获取情报。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获得指向曹谨的直接物证线索</a:t>
            </a:r>
            <a:r>
              <a:rPr lang="en-US" altLang="zh-CN"/>
              <a:t>**</a:t>
            </a:r>
            <a:r>
              <a:rPr lang="zh-CN" altLang="en-US"/>
              <a:t>（被篡改的原始库房底单可能还在）。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在宫廷内部发展了一个底层眼线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从内部攻破堡垒</a:t>
            </a:r>
            <a:r>
              <a:rPr lang="en-US" altLang="zh-CN"/>
              <a:t>**</a:t>
            </a:r>
            <a:r>
              <a:rPr lang="zh-CN" altLang="en-US"/>
              <a:t>。用金钱和情感攻势打开缺口。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46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账册惊魂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：黄德冒险从废旧档案库中偷出了几页相关年份的尚宝监原始底单。秦望之核对后，确认了</a:t>
            </a:r>
            <a:r>
              <a:rPr lang="en-US" altLang="zh-CN"/>
              <a:t>“</a:t>
            </a:r>
            <a:r>
              <a:rPr lang="zh-CN" altLang="en-US"/>
              <a:t>贡参案</a:t>
            </a:r>
            <a:r>
              <a:rPr lang="en-US" altLang="zh-CN"/>
              <a:t>”</a:t>
            </a:r>
            <a:r>
              <a:rPr lang="zh-CN" altLang="en-US"/>
              <a:t>中巨大的数量差，折算成银两惊人。然而，取回账册的当晚，黄德在宫中住处</a:t>
            </a:r>
            <a:r>
              <a:rPr lang="en-US" altLang="zh-CN"/>
              <a:t>“</a:t>
            </a:r>
            <a:r>
              <a:rPr lang="zh-CN" altLang="en-US"/>
              <a:t>意外失足落井身亡</a:t>
            </a:r>
            <a:r>
              <a:rPr lang="en-US" altLang="zh-CN"/>
              <a:t>”</a:t>
            </a:r>
            <a:r>
              <a:rPr lang="zh-CN" altLang="en-US"/>
              <a:t>。陆沉等人意识到行动已暴露，曹谨开始清理门户。他们紧急转移住所，并将账册副本分多处隐藏。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政治斗争中灭口的残酷与效率。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获得关键证据后的安全处理与反追踪。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获得部分铁证，但付出代价（黄德之死）</a:t>
            </a:r>
            <a:r>
              <a:rPr lang="en-US" altLang="zh-CN"/>
              <a:t>**</a:t>
            </a:r>
            <a:r>
              <a:rPr lang="zh-CN" altLang="en-US"/>
              <a:t>，感受到斗争的残酷。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意识到曹谨的警惕与反击速度极快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获得关键证据的紧张与代价</a:t>
            </a:r>
            <a:r>
              <a:rPr lang="en-US" altLang="zh-CN"/>
              <a:t>**</a:t>
            </a:r>
            <a:r>
              <a:rPr lang="zh-CN" altLang="en-US"/>
              <a:t>。在危险边缘游走，氛围压抑而刺激。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47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反击的开始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：陆沉判断，曹谨虽知有人调查，但未必清楚具体进展和证据在谁手中。他决定主动出击扰乱对方。通过林惟庸渠道，将</a:t>
            </a:r>
            <a:r>
              <a:rPr lang="en-US" altLang="zh-CN"/>
              <a:t>“</a:t>
            </a:r>
            <a:r>
              <a:rPr lang="zh-CN" altLang="en-US"/>
              <a:t>尚宝监账目混乱，有宦官疑似监守自盗</a:t>
            </a:r>
            <a:r>
              <a:rPr lang="en-US" altLang="zh-CN"/>
              <a:t>”</a:t>
            </a:r>
            <a:r>
              <a:rPr lang="zh-CN" altLang="en-US"/>
              <a:t>的风声放给御史台。同时，让漕帮在江湖散布</a:t>
            </a:r>
            <a:r>
              <a:rPr lang="en-US" altLang="zh-CN"/>
              <a:t>“</a:t>
            </a:r>
            <a:r>
              <a:rPr lang="zh-CN" altLang="en-US"/>
              <a:t>曹公公最近手头紧，正在处理一批宫里的好东西</a:t>
            </a:r>
            <a:r>
              <a:rPr lang="en-US" altLang="zh-CN"/>
              <a:t>”</a:t>
            </a:r>
            <a:r>
              <a:rPr lang="zh-CN" altLang="en-US"/>
              <a:t>的谣言。双管齐下，制造舆论压力，让曹谨和晋阳党疑神疑鬼，忙于内部排查和公关。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舆论战与心理战在政治斗争中的应用。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多线并进，迫使对手多面应付，分散其注意力。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从被动防守转为主动设置议题，引导舆论风向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为下一步更致命的攻击创造混乱和机会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主动制造混乱，反客为主</a:t>
            </a:r>
            <a:r>
              <a:rPr lang="en-US" altLang="zh-CN"/>
              <a:t>**</a:t>
            </a:r>
            <a:r>
              <a:rPr lang="zh-CN" altLang="en-US"/>
              <a:t>。看对手陷入自己制造的麻烦。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48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萧彻的邀请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：皇七子萧彻忽然通过隐秘渠道（一个小太监）邀请陆沉至其偏僻的王府一叙。王府简朴异常。萧彻屏退左右，对陆沉直言：</a:t>
            </a:r>
            <a:r>
              <a:rPr lang="en-US" altLang="zh-CN"/>
              <a:t>“</a:t>
            </a:r>
            <a:r>
              <a:rPr lang="zh-CN" altLang="en-US"/>
              <a:t>我知道你在查曹谨和晋阳党。我母妃之死，与他们脱不了干系。我可以帮你，但我需要你帮我做一件事</a:t>
            </a:r>
            <a:r>
              <a:rPr lang="en-US" altLang="zh-CN"/>
              <a:t>——</a:t>
            </a:r>
            <a:r>
              <a:rPr lang="zh-CN" altLang="en-US"/>
              <a:t>让我在父皇面前，有一次展现能力的机会。</a:t>
            </a:r>
            <a:r>
              <a:rPr lang="en-US" altLang="zh-CN"/>
              <a:t>”</a:t>
            </a:r>
            <a:r>
              <a:rPr lang="zh-CN" altLang="en-US"/>
              <a:t>他提供了一条陆沉不知道的信息：曹谨在城外某庄园，秘密蓄养了一批</a:t>
            </a:r>
            <a:r>
              <a:rPr lang="en-US" altLang="zh-CN"/>
              <a:t>“</a:t>
            </a:r>
            <a:r>
              <a:rPr lang="zh-CN" altLang="en-US"/>
              <a:t>家奴</a:t>
            </a:r>
            <a:r>
              <a:rPr lang="en-US" altLang="zh-CN"/>
              <a:t>”</a:t>
            </a:r>
            <a:r>
              <a:rPr lang="zh-CN" altLang="en-US"/>
              <a:t>（实为私人武装）。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皇子政治诉求的表达方式：隐忍多年，寻找合作伙伴，提供稀缺资源（情报）作为交换。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宦官蓄养私兵的严重性（触及皇权逆鳞）。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与萧彻正式结盟，关系升级</a:t>
            </a:r>
            <a:r>
              <a:rPr lang="en-US" altLang="zh-CN"/>
              <a:t>**</a:t>
            </a:r>
            <a:r>
              <a:rPr lang="zh-CN" altLang="en-US"/>
              <a:t>。双方目标有重叠，可相互借力。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获得关于曹谨的又一重大罪证线索（私兵）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皇子坦诚合作，获得重磅情报</a:t>
            </a:r>
            <a:r>
              <a:rPr lang="en-US" altLang="zh-CN"/>
              <a:t>**</a:t>
            </a:r>
            <a:r>
              <a:rPr lang="zh-CN" altLang="en-US"/>
              <a:t>。政治联盟扩大，收获关键助力。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49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庄园探查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与赵虎亲自易装，探查曹谨城外庄园。发现守卫森严，进出人员训练有素，确实不像普通家仆。他们设法从庄园垃圾中发现了制式兵器保养后的废油棉，以及少量只有军队才配发的伤药包装。赵虎判断，这批私兵规模不下两百，且装备精良。同时，陆沉注意到庄园与晋阳党某核心成员的别院有秘密地道相连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古代私人武装的隐蔽方式与侦查手段。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物理证据（垃圾）在情报收集中的重要性。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基本坐实曹谨蓄养私兵的重罪</a:t>
            </a:r>
            <a:r>
              <a:rPr lang="en-US" altLang="zh-CN"/>
              <a:t>**</a:t>
            </a:r>
            <a:r>
              <a:rPr lang="zh-CN" altLang="en-US"/>
              <a:t>，并发现其与晋阳党的物理连接点（地道）。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获得实地侦查的第一手资料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实地冒险取证的成功</a:t>
            </a:r>
            <a:r>
              <a:rPr lang="en-US" altLang="zh-CN"/>
              <a:t>**</a:t>
            </a:r>
            <a:r>
              <a:rPr lang="zh-CN" altLang="en-US"/>
              <a:t>。如同特种侦查，获得确凿证据。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50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风暴前夕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：陆沉整合所有证据与线索：</a:t>
            </a:r>
            <a:r>
              <a:rPr lang="en-US" altLang="zh-CN"/>
              <a:t>1. </a:t>
            </a:r>
            <a:r>
              <a:rPr lang="zh-CN" altLang="en-US"/>
              <a:t>晋阳党</a:t>
            </a:r>
            <a:r>
              <a:rPr lang="en-US" altLang="zh-CN"/>
              <a:t>-</a:t>
            </a:r>
            <a:r>
              <a:rPr lang="zh-CN" altLang="en-US"/>
              <a:t>北狄走私的经济证据（在林惟庸处）；</a:t>
            </a:r>
            <a:r>
              <a:rPr lang="en-US" altLang="zh-CN"/>
              <a:t>2. </a:t>
            </a:r>
            <a:r>
              <a:rPr lang="zh-CN" altLang="en-US"/>
              <a:t>曹谨</a:t>
            </a:r>
            <a:r>
              <a:rPr lang="en-US" altLang="zh-CN"/>
              <a:t>-</a:t>
            </a:r>
            <a:r>
              <a:rPr lang="zh-CN" altLang="en-US"/>
              <a:t>晋阳党利益输送的宫廷账目证据；</a:t>
            </a:r>
            <a:r>
              <a:rPr lang="en-US" altLang="zh-CN"/>
              <a:t>3. </a:t>
            </a:r>
            <a:r>
              <a:rPr lang="zh-CN" altLang="en-US"/>
              <a:t>曹谨蓄养私兵的实地证据；</a:t>
            </a:r>
            <a:r>
              <a:rPr lang="en-US" altLang="zh-CN"/>
              <a:t>4. </a:t>
            </a:r>
            <a:r>
              <a:rPr lang="zh-CN" altLang="en-US"/>
              <a:t>漕帮提供的部分旁证。他制定了一个连环计划，核心是利用萧彻在合适时机向皇帝告发私兵之事（此事最易查证，且触怒皇帝），引发皇帝对曹谨的彻底不信任和调查，进而牵出其他罪证。同时，需确保林惟庸等清流在朝堂上形成呼应。陆沉与萧彻、苏怀瑾进行最终推演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总攻前的战略规划：选择突破口（最敏感、最易证实）、时机（皇帝心情、朝会日程）、配合（多方呼应）。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风险评估与预案准备。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完成对最终决战的整体布局</a:t>
            </a:r>
            <a:r>
              <a:rPr lang="en-US" altLang="zh-CN"/>
              <a:t>**</a:t>
            </a:r>
            <a:r>
              <a:rPr lang="zh-CN" altLang="en-US"/>
              <a:t>，整合了所有资源与盟友。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心态上准备好进行一场决定许多人命运的政治豪赌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布局完成的掌控感与大战将至的紧张感</a:t>
            </a:r>
            <a:r>
              <a:rPr lang="en-US" altLang="zh-CN"/>
              <a:t>**</a:t>
            </a:r>
            <a:r>
              <a:rPr lang="zh-CN" altLang="en-US"/>
              <a:t>。所有伏笔集结，准备收网。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 **</a:t>
            </a:r>
            <a:r>
              <a:rPr lang="zh-CN" altLang="en-US"/>
              <a:t>第二卷：京华棋局（第</a:t>
            </a:r>
            <a:r>
              <a:rPr lang="en-US" altLang="zh-CN"/>
              <a:t>51-60</a:t>
            </a:r>
            <a:r>
              <a:rPr lang="zh-CN" altLang="en-US"/>
              <a:t>章）详细章纲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51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背叛的苗头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在最终计划执行前夕，陆沉察觉到一丝异常：漕帮那位账房先生突然失去联系。赵虎暗中调查，发现其最后一次出现是与晋阳党某外围成员在一家小酒馆会面。与此同时，林惟庸也隐晦提醒陆沉，清流党内有人对</a:t>
            </a:r>
            <a:r>
              <a:rPr lang="en-US" altLang="zh-CN"/>
              <a:t>“</a:t>
            </a:r>
            <a:r>
              <a:rPr lang="zh-CN" altLang="en-US"/>
              <a:t>与边将、皇子走得过近</a:t>
            </a:r>
            <a:r>
              <a:rPr lang="en-US" altLang="zh-CN"/>
              <a:t>”</a:t>
            </a:r>
            <a:r>
              <a:rPr lang="zh-CN" altLang="en-US"/>
              <a:t>表示担忧，认为可能引来皇帝猜忌。陆沉虽感不安，但箭在弦上，只能加倍小心，并让秦望之再次检查所有证据链的安全性。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政治联盟的脆弱性：利益结合的盟友，在更大利益或威胁面前可能倒戈。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政治站队的</a:t>
            </a:r>
            <a:r>
              <a:rPr lang="en-US" altLang="zh-CN"/>
              <a:t>“</a:t>
            </a:r>
            <a:r>
              <a:rPr lang="zh-CN" altLang="en-US"/>
              <a:t>纯度</a:t>
            </a:r>
            <a:r>
              <a:rPr lang="en-US" altLang="zh-CN"/>
              <a:t>”</a:t>
            </a:r>
            <a:r>
              <a:rPr lang="zh-CN" altLang="en-US"/>
              <a:t>压力：清流党内存在</a:t>
            </a:r>
            <a:r>
              <a:rPr lang="en-US" altLang="zh-CN"/>
              <a:t>“</a:t>
            </a:r>
            <a:r>
              <a:rPr lang="zh-CN" altLang="en-US"/>
              <a:t>避免沾染军方、皇室</a:t>
            </a:r>
            <a:r>
              <a:rPr lang="en-US" altLang="zh-CN"/>
              <a:t>”</a:t>
            </a:r>
            <a:r>
              <a:rPr lang="zh-CN" altLang="en-US"/>
              <a:t>的洁癖派。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政治嗅觉进一步提升，察觉到潜在风险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但受限于时间和局势，无法进行彻底排查，埋下隐患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山雨欲来的悬疑感</a:t>
            </a:r>
            <a:r>
              <a:rPr lang="en-US" altLang="zh-CN"/>
              <a:t>**</a:t>
            </a:r>
            <a:r>
              <a:rPr lang="zh-CN" altLang="en-US"/>
              <a:t>。在高潮前设置障碍，增加戏剧张力。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52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惨痛背叛（中点转折</a:t>
            </a:r>
            <a:r>
              <a:rPr lang="en-US" altLang="zh-CN"/>
              <a:t>·</a:t>
            </a:r>
            <a:r>
              <a:rPr lang="zh-CN" altLang="en-US"/>
              <a:t>上）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：计划启动。萧彻按照约定，在一次仅有皇帝和少数近臣在场的</a:t>
            </a:r>
            <a:r>
              <a:rPr lang="en-US" altLang="zh-CN"/>
              <a:t>“</a:t>
            </a:r>
            <a:r>
              <a:rPr lang="zh-CN" altLang="en-US"/>
              <a:t>家宴</a:t>
            </a:r>
            <a:r>
              <a:rPr lang="en-US" altLang="zh-CN"/>
              <a:t>”</a:t>
            </a:r>
            <a:r>
              <a:rPr lang="zh-CN" altLang="en-US"/>
              <a:t>上，借谈论京城治安，状似无意地提及</a:t>
            </a:r>
            <a:r>
              <a:rPr lang="en-US" altLang="zh-CN"/>
              <a:t>“</a:t>
            </a:r>
            <a:r>
              <a:rPr lang="zh-CN" altLang="en-US"/>
              <a:t>听说城外有庄园藏有甲兵，百姓惶恐</a:t>
            </a:r>
            <a:r>
              <a:rPr lang="en-US" altLang="zh-CN"/>
              <a:t>”</a:t>
            </a:r>
            <a:r>
              <a:rPr lang="zh-CN" altLang="en-US"/>
              <a:t>。皇帝果然起疑，命内行厂另一派系（与曹谨不和）的太监暗中查探。然而，查探队伍出发不久，曹谨庄园的私兵竟提前转移一空，只留空壳。同时，晋阳党突然发难，指使御史弹劾燕云镇都督杨啸</a:t>
            </a:r>
            <a:r>
              <a:rPr lang="en-US" altLang="zh-CN"/>
              <a:t>“</a:t>
            </a:r>
            <a:r>
              <a:rPr lang="zh-CN" altLang="en-US"/>
              <a:t>勾结北狄、虚报战功、侵吞军饷</a:t>
            </a:r>
            <a:r>
              <a:rPr lang="en-US" altLang="zh-CN"/>
              <a:t>”</a:t>
            </a:r>
            <a:r>
              <a:rPr lang="zh-CN" altLang="en-US"/>
              <a:t>，并出示了部分</a:t>
            </a:r>
            <a:r>
              <a:rPr lang="en-US" altLang="zh-CN"/>
              <a:t>“</a:t>
            </a:r>
            <a:r>
              <a:rPr lang="zh-CN" altLang="en-US"/>
              <a:t>确凿</a:t>
            </a:r>
            <a:r>
              <a:rPr lang="en-US" altLang="zh-CN"/>
              <a:t>”</a:t>
            </a:r>
            <a:r>
              <a:rPr lang="zh-CN" altLang="en-US"/>
              <a:t>账目证据</a:t>
            </a:r>
            <a:r>
              <a:rPr lang="en-US" altLang="zh-CN"/>
              <a:t>——</a:t>
            </a:r>
            <a:r>
              <a:rPr lang="zh-CN" altLang="en-US"/>
              <a:t>这些证据竟与陆沉当初为应付朝廷自查而准备的</a:t>
            </a:r>
            <a:r>
              <a:rPr lang="en-US" altLang="zh-CN"/>
              <a:t>“</a:t>
            </a:r>
            <a:r>
              <a:rPr lang="zh-CN" altLang="en-US"/>
              <a:t>部分真实账目</a:t>
            </a:r>
            <a:r>
              <a:rPr lang="en-US" altLang="zh-CN"/>
              <a:t>”</a:t>
            </a:r>
            <a:r>
              <a:rPr lang="zh-CN" altLang="en-US"/>
              <a:t>高度吻合，且更加详尽。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对手的反制：可能通过内线（漕帮账房）提前获知计划，并进行了针对性布置。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用你准备好的</a:t>
            </a:r>
            <a:r>
              <a:rPr lang="en-US" altLang="zh-CN"/>
              <a:t>“</a:t>
            </a:r>
            <a:r>
              <a:rPr lang="zh-CN" altLang="en-US"/>
              <a:t>盾</a:t>
            </a:r>
            <a:r>
              <a:rPr lang="en-US" altLang="zh-CN"/>
              <a:t>”</a:t>
            </a:r>
            <a:r>
              <a:rPr lang="zh-CN" altLang="en-US"/>
              <a:t>反过来攻击你：利用陆沉为燕云辩护时提交的材料，进行断章取义和补充伪造，构成攻击。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计划遭遇重大挫折</a:t>
            </a:r>
            <a:r>
              <a:rPr lang="en-US" altLang="zh-CN"/>
              <a:t>**</a:t>
            </a:r>
            <a:r>
              <a:rPr lang="zh-CN" altLang="en-US"/>
              <a:t>：私兵证据失效，燕云反成攻击目标。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意识到内部有严重泄露，且敌人准备充分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53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惨痛背叛（中点转折</a:t>
            </a:r>
            <a:r>
              <a:rPr lang="en-US" altLang="zh-CN"/>
              <a:t>·</a:t>
            </a:r>
            <a:r>
              <a:rPr lang="zh-CN" altLang="en-US"/>
              <a:t>下）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：皇帝因私兵查无实据而认为萧彻</a:t>
            </a:r>
            <a:r>
              <a:rPr lang="en-US" altLang="zh-CN"/>
              <a:t>“</a:t>
            </a:r>
            <a:r>
              <a:rPr lang="zh-CN" altLang="en-US"/>
              <a:t>妄言</a:t>
            </a:r>
            <a:r>
              <a:rPr lang="en-US" altLang="zh-CN"/>
              <a:t>”</a:t>
            </a:r>
            <a:r>
              <a:rPr lang="zh-CN" altLang="en-US"/>
              <a:t>，对其更加冷淡。更致命的是，针对杨啸的弹劾证据中，出现了只有陆沉核心团队才掌握的、关于燕云镇与北狄边境贸易的</a:t>
            </a:r>
            <a:r>
              <a:rPr lang="en-US" altLang="zh-CN"/>
              <a:t>**</a:t>
            </a:r>
            <a:r>
              <a:rPr lang="zh-CN" altLang="en-US"/>
              <a:t>原始数据底稿</a:t>
            </a:r>
            <a:r>
              <a:rPr lang="en-US" altLang="zh-CN"/>
              <a:t>**</a:t>
            </a:r>
            <a:r>
              <a:rPr lang="zh-CN" altLang="en-US"/>
              <a:t>。这意味着背叛来自团队内部。紧接着，京兆尹衙门以</a:t>
            </a:r>
            <a:r>
              <a:rPr lang="en-US" altLang="zh-CN"/>
              <a:t>“</a:t>
            </a:r>
            <a:r>
              <a:rPr lang="zh-CN" altLang="en-US"/>
              <a:t>协助调查</a:t>
            </a:r>
            <a:r>
              <a:rPr lang="en-US" altLang="zh-CN"/>
              <a:t>”</a:t>
            </a:r>
            <a:r>
              <a:rPr lang="zh-CN" altLang="en-US"/>
              <a:t>为名，围困陆沉住所。赵虎拼死护着陆沉和秦望之从密道逃脱，但两名年轻吏员被捕。逃脱途中，秦望之为保护证据箱，被暗箭所伤。陆沉等人藏身于苏怀瑾提前准备的城外安全屋。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政治斗争失败的直接后果：被通缉、围捕，团队离散。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内部背叛的识别与后果：往往是身边最了解你的人造成的伤害最深。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遭遇重大挫败，从政治新星沦为逃犯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团队遭受重创（秦望之重伤，两名成员被捕，赵虎负轻伤）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关键证据部分丢失（部分账册在转移中遗失）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悲剧性与挫败感</a:t>
            </a:r>
            <a:r>
              <a:rPr lang="en-US" altLang="zh-CN"/>
              <a:t>**</a:t>
            </a:r>
            <a:r>
              <a:rPr lang="zh-CN" altLang="en-US"/>
              <a:t>（作为中点转折的必要低谷）。让主角从顺境跌入绝境，迫使深刻反思与蜕变。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54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绝境反思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：安全屋内，秦望之伤势稍稳。陆沉彻夜未眠，复盘整个计划。他意识到几个致命错误：</a:t>
            </a:r>
            <a:r>
              <a:rPr lang="en-US" altLang="zh-CN"/>
              <a:t>1. </a:t>
            </a:r>
            <a:r>
              <a:rPr lang="zh-CN" altLang="en-US"/>
              <a:t>过分依赖漕帮这类利益盟友，未做反制；</a:t>
            </a:r>
            <a:r>
              <a:rPr lang="en-US" altLang="zh-CN"/>
              <a:t>2. </a:t>
            </a:r>
            <a:r>
              <a:rPr lang="zh-CN" altLang="en-US"/>
              <a:t>对清流党的</a:t>
            </a:r>
            <a:r>
              <a:rPr lang="en-US" altLang="zh-CN"/>
              <a:t>“</a:t>
            </a:r>
            <a:r>
              <a:rPr lang="zh-CN" altLang="en-US"/>
              <a:t>理念纯洁性</a:t>
            </a:r>
            <a:r>
              <a:rPr lang="en-US" altLang="zh-CN"/>
              <a:t>”</a:t>
            </a:r>
            <a:r>
              <a:rPr lang="zh-CN" altLang="en-US"/>
              <a:t>估计过高，未防备其内部倾轧；</a:t>
            </a:r>
            <a:r>
              <a:rPr lang="en-US" altLang="zh-CN"/>
              <a:t>3. </a:t>
            </a:r>
            <a:r>
              <a:rPr lang="zh-CN" altLang="en-US"/>
              <a:t>最关键的是，自己的团队扩张太快，核心成员（两名年轻吏员）忠诚未经受足够考验，且保密层级划分不细。</a:t>
            </a:r>
            <a:r>
              <a:rPr lang="en-US" altLang="zh-CN"/>
              <a:t>**</a:t>
            </a:r>
            <a:r>
              <a:rPr lang="zh-CN" altLang="en-US"/>
              <a:t>苏怀瑾</a:t>
            </a:r>
            <a:r>
              <a:rPr lang="en-US" altLang="zh-CN"/>
              <a:t>**</a:t>
            </a:r>
            <a:r>
              <a:rPr lang="zh-CN" altLang="en-US"/>
              <a:t>冒险前来，带来消息：背叛者是那名</a:t>
            </a:r>
            <a:r>
              <a:rPr lang="en-US" altLang="zh-CN"/>
              <a:t>**</a:t>
            </a:r>
            <a:r>
              <a:rPr lang="zh-CN" altLang="en-US"/>
              <a:t>年轻秀才</a:t>
            </a:r>
            <a:r>
              <a:rPr lang="en-US" altLang="zh-CN"/>
              <a:t>**</a:t>
            </a:r>
            <a:r>
              <a:rPr lang="zh-CN" altLang="en-US"/>
              <a:t>，他出身寒微，晋阳党以重金和保证其家族安全为诱，使其倒戈。两名被捕吏员，一人已招供（但所知有限），一人抵死不认。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失败后的复盘与教训总结：情报安全、盟友可靠性、团队忠诚度建设。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对手的策反手段：针对人性弱点（金钱、家族胁迫）。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完成关键的认知蜕变</a:t>
            </a:r>
            <a:r>
              <a:rPr lang="en-US" altLang="zh-CN"/>
              <a:t>**</a:t>
            </a:r>
            <a:r>
              <a:rPr lang="zh-CN" altLang="en-US"/>
              <a:t>：认识到权谋不仅在于算计敌人，更在于管理己方（团队、盟友）。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明确背叛根源，心中燃起复仇与雪耻的火焰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痛定思痛的成长</a:t>
            </a:r>
            <a:r>
              <a:rPr lang="en-US" altLang="zh-CN"/>
              <a:t>**</a:t>
            </a:r>
            <a:r>
              <a:rPr lang="zh-CN" altLang="en-US"/>
              <a:t>。在绝境中完成思想上的升级，为崛起铺垫。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55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萧彻的决断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：萧彻通过苏怀瑾的渠道，秘密来到安全屋。他并未责怪陆沉，反而坦言：</a:t>
            </a:r>
            <a:r>
              <a:rPr lang="en-US" altLang="zh-CN"/>
              <a:t>“</a:t>
            </a:r>
            <a:r>
              <a:rPr lang="zh-CN" altLang="en-US"/>
              <a:t>此次失败，我亦有责，低估了曹谨在宫中的耳目。</a:t>
            </a:r>
            <a:r>
              <a:rPr lang="en-US" altLang="zh-CN"/>
              <a:t>” </a:t>
            </a:r>
            <a:r>
              <a:rPr lang="zh-CN" altLang="en-US"/>
              <a:t>他表示不会放弃，并提出一个更加冒险的计划：利用皇帝对曹谨</a:t>
            </a:r>
            <a:r>
              <a:rPr lang="en-US" altLang="zh-CN"/>
              <a:t>“</a:t>
            </a:r>
            <a:r>
              <a:rPr lang="zh-CN" altLang="en-US"/>
              <a:t>私兵事件</a:t>
            </a:r>
            <a:r>
              <a:rPr lang="en-US" altLang="zh-CN"/>
              <a:t>”</a:t>
            </a:r>
            <a:r>
              <a:rPr lang="zh-CN" altLang="en-US"/>
              <a:t>虽未坐实但已存疑的心理，结合陆沉手中可能还保留的部分核心证据（如宫廷账目），</a:t>
            </a:r>
            <a:r>
              <a:rPr lang="en-US" altLang="zh-CN"/>
              <a:t>**</a:t>
            </a:r>
            <a:r>
              <a:rPr lang="zh-CN" altLang="en-US"/>
              <a:t>直接向皇帝上密折</a:t>
            </a:r>
            <a:r>
              <a:rPr lang="en-US" altLang="zh-CN"/>
              <a:t>**</a:t>
            </a:r>
            <a:r>
              <a:rPr lang="zh-CN" altLang="en-US"/>
              <a:t>，揭露曹谨与晋阳党勾结、损公肥私、甚至可能危及皇权的罪行。这需要有人能将密折绕过曹谨控制的通政司，直接送达御前。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皇权政治中的</a:t>
            </a:r>
            <a:r>
              <a:rPr lang="en-US" altLang="zh-CN"/>
              <a:t>“</a:t>
            </a:r>
            <a:r>
              <a:rPr lang="zh-CN" altLang="en-US"/>
              <a:t>密折</a:t>
            </a:r>
            <a:r>
              <a:rPr lang="en-US" altLang="zh-CN"/>
              <a:t>”</a:t>
            </a:r>
            <a:r>
              <a:rPr lang="zh-CN" altLang="en-US"/>
              <a:t>通道：非正规但有时效性的上达天听方式。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盟友在逆境中的态度是检验其可靠性的试金石。萧彻选择了继续捆绑。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获得萧彻的继续支持</a:t>
            </a:r>
            <a:r>
              <a:rPr lang="en-US" altLang="zh-CN"/>
              <a:t>**</a:t>
            </a:r>
            <a:r>
              <a:rPr lang="zh-CN" altLang="en-US"/>
              <a:t>，联盟关系在挫折中反而加固。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明确了下一阶段的行动方向（上密折）和核心难点（递送渠道）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盟友不弃，重燃希望</a:t>
            </a:r>
            <a:r>
              <a:rPr lang="en-US" altLang="zh-CN"/>
              <a:t>**</a:t>
            </a:r>
            <a:r>
              <a:rPr lang="zh-CN" altLang="en-US"/>
              <a:t>。在低谷中获得关键人物的坚定支持。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56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苏怀瑾的牺牲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：苏怀瑾提出，她可以利用玲珑阁的特殊渠道</a:t>
            </a:r>
            <a:r>
              <a:rPr lang="en-US" altLang="zh-CN"/>
              <a:t>——</a:t>
            </a:r>
            <a:r>
              <a:rPr lang="zh-CN" altLang="en-US"/>
              <a:t>一位常年为宫内贵人供应香料、且能直入某位年老但尚存影响力的太妃宫中的老宦官</a:t>
            </a:r>
            <a:r>
              <a:rPr lang="en-US" altLang="zh-CN"/>
              <a:t>——</a:t>
            </a:r>
            <a:r>
              <a:rPr lang="zh-CN" altLang="en-US"/>
              <a:t>来传递密折。但此举风险极大，一旦被曹谨系统察觉，她和整个玲珑阁网络都将覆灭。陆沉犹豫，苏怀瑾却道：</a:t>
            </a:r>
            <a:r>
              <a:rPr lang="en-US" altLang="zh-CN"/>
              <a:t>“</a:t>
            </a:r>
            <a:r>
              <a:rPr lang="zh-CN" altLang="en-US"/>
              <a:t>我忍辱偷生多年，等的就是能给予他致命一击的机会。陆沉，勿作妇人之仁。</a:t>
            </a:r>
            <a:r>
              <a:rPr lang="en-US" altLang="zh-CN"/>
              <a:t>” </a:t>
            </a:r>
            <a:r>
              <a:rPr lang="zh-CN" altLang="en-US"/>
              <a:t>她开始部署传递方案。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间谍网络的终极利用：在关键时刻启动最高风险渠道。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情感与事业的冲突：陆沉对苏怀瑾已生情愫，不忍其涉险，但政治斗争不容私情泛滥。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见证并被迫接受政治斗争的残酷性</a:t>
            </a:r>
            <a:r>
              <a:rPr lang="en-US" altLang="zh-CN"/>
              <a:t>**</a:t>
            </a:r>
            <a:r>
              <a:rPr lang="zh-CN" altLang="en-US"/>
              <a:t>：有时需要牺牲重要的人或关系。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苏怀瑾的形象更加丰满，其决绝令人震撼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悲壮的决定与情感的冲击</a:t>
            </a:r>
            <a:r>
              <a:rPr lang="en-US" altLang="zh-CN"/>
              <a:t>**</a:t>
            </a:r>
            <a:r>
              <a:rPr lang="zh-CN" altLang="en-US"/>
              <a:t>。凸显女性角色的勇气与牺牲精神。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57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密折定稿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：陆沉、秦望之（带伤口述）、萧彻三人合力，撰写密折。密折以萧彻口吻，但由陆沉执笔，内容极尽策略：</a:t>
            </a:r>
            <a:r>
              <a:rPr lang="en-US" altLang="zh-CN"/>
              <a:t>**1. </a:t>
            </a:r>
            <a:r>
              <a:rPr lang="zh-CN" altLang="en-US"/>
              <a:t>诉冤</a:t>
            </a:r>
            <a:r>
              <a:rPr lang="en-US" altLang="zh-CN"/>
              <a:t>**</a:t>
            </a:r>
            <a:r>
              <a:rPr lang="zh-CN" altLang="en-US"/>
              <a:t>：先澄清自身</a:t>
            </a:r>
            <a:r>
              <a:rPr lang="en-US" altLang="zh-CN"/>
              <a:t>“</a:t>
            </a:r>
            <a:r>
              <a:rPr lang="zh-CN" altLang="en-US"/>
              <a:t>妄言</a:t>
            </a:r>
            <a:r>
              <a:rPr lang="en-US" altLang="zh-CN"/>
              <a:t>”</a:t>
            </a:r>
            <a:r>
              <a:rPr lang="zh-CN" altLang="en-US"/>
              <a:t>实出于忠君忧国之心，听闻流言便急报，虽查无实据，但一片赤诚。</a:t>
            </a:r>
            <a:r>
              <a:rPr lang="en-US" altLang="zh-CN"/>
              <a:t>**2. </a:t>
            </a:r>
            <a:r>
              <a:rPr lang="zh-CN" altLang="en-US"/>
              <a:t>举证</a:t>
            </a:r>
            <a:r>
              <a:rPr lang="en-US" altLang="zh-CN"/>
              <a:t>**</a:t>
            </a:r>
            <a:r>
              <a:rPr lang="zh-CN" altLang="en-US"/>
              <a:t>：附上无法伪造的宫廷采买账目差异证据（黄德提供的底单），指曹谨监守自盗。</a:t>
            </a:r>
            <a:r>
              <a:rPr lang="en-US" altLang="zh-CN"/>
              <a:t>**3. </a:t>
            </a:r>
            <a:r>
              <a:rPr lang="zh-CN" altLang="en-US"/>
              <a:t>牵连</a:t>
            </a:r>
            <a:r>
              <a:rPr lang="en-US" altLang="zh-CN"/>
              <a:t>**</a:t>
            </a:r>
            <a:r>
              <a:rPr lang="zh-CN" altLang="en-US"/>
              <a:t>：指出与此利益链关联的商号均属晋阳党核心家族。</a:t>
            </a:r>
            <a:r>
              <a:rPr lang="en-US" altLang="zh-CN"/>
              <a:t>**4. </a:t>
            </a:r>
            <a:r>
              <a:rPr lang="zh-CN" altLang="en-US"/>
              <a:t>升华</a:t>
            </a:r>
            <a:r>
              <a:rPr lang="en-US" altLang="zh-CN"/>
              <a:t>**</a:t>
            </a:r>
            <a:r>
              <a:rPr lang="zh-CN" altLang="en-US"/>
              <a:t>：暗示此等勾结外朝、侵吞国帑、私蓄武力之举，恐非人臣之道，长此以往，皇权旁落。措辞严谨，证据扎实，煽动性强。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奏疏（密折）的写作艺术：如何摆事实、讲道理、诉感情、触逆鳞。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政治攻击的层次递进：从具体犯罪到政治危害。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创作出一份足以改变政局的关键政治文件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与萧彻、秦望之的配合达到新的默契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打造致命武器的专注与精密感</a:t>
            </a:r>
            <a:r>
              <a:rPr lang="en-US" altLang="zh-CN"/>
              <a:t>**</a:t>
            </a:r>
            <a:r>
              <a:rPr lang="zh-CN" altLang="en-US"/>
              <a:t>。如同锻造神兵，倾注所有智慧。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58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惊险传递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苏怀瑾启动传递链。密折被藏于特制香料盒的夹层。老宦官例行送香料入宫，一切看似顺利。然而，在宫门处，曹谨的亲信太监突然要求抽查。老宦官强作镇定，打开香料盒。亲信太监仔细检查，甚至嗅闻，未发现异常，正要放行时，却故意打翻盒子。香料洒落，夹层险些暴露！千钧一发之际，另一位与太妃交好的老宫女路过，出声斥责那小太监毛手毛脚，惊了太妃的香料，并亲自蹲下收拾，巧妙地将盒子重新盖好，带离现场。危机暂时解除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宫内不同派系太监宫女之间的暗中较量与互助。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关键时刻的运气与人为干预的结合。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密折成功送入宫内，抵达太妃处（太妃承诺会转交皇帝）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过程惊心动魄，凸显成功之不易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极限操作下的成功</a:t>
            </a:r>
            <a:r>
              <a:rPr lang="en-US" altLang="zh-CN"/>
              <a:t>**</a:t>
            </a:r>
            <a:r>
              <a:rPr lang="zh-CN" altLang="en-US"/>
              <a:t>。屏住呼吸的紧张感后，获得释放。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59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无声惊雷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密折送达皇帝手中。皇帝阅后，独坐良久，未立即发作。但翌日，皇帝罕见地连续召见了几位与晋阳党关系较远的勋贵和老臣，询问宫中用度及边镇情况。同时，内行厂内与曹谨不和的派系开始被赋予更多调查权。曹谨和晋阳党核心成员感受到了微妙但危险的气氛变化，开始加紧内部串供和销毁证据，动作难免仓促，留下了新的破绽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皇帝心术与政治风暴的前兆：不立即表态，而是暗中观察、调动力量、施加心理压力。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对手在压力下的应激反应往往会产生新的漏洞。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密折产生初步效果，皇帝的态度发生转变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政治天平开始出现微妙倾斜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幕后布局开始显现威力</a:t>
            </a:r>
            <a:r>
              <a:rPr lang="en-US" altLang="zh-CN"/>
              <a:t>**</a:t>
            </a:r>
            <a:r>
              <a:rPr lang="zh-CN" altLang="en-US"/>
              <a:t>。看到敌人陷入慌乱，初步验证策略成功。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60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诏狱新生（上）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：皇帝在掌握更多情况后，终于出手。他以</a:t>
            </a:r>
            <a:r>
              <a:rPr lang="en-US" altLang="zh-CN"/>
              <a:t>“</a:t>
            </a:r>
            <a:r>
              <a:rPr lang="zh-CN" altLang="en-US"/>
              <a:t>核验边镇账目</a:t>
            </a:r>
            <a:r>
              <a:rPr lang="en-US" altLang="zh-CN"/>
              <a:t>”</a:t>
            </a:r>
            <a:r>
              <a:rPr lang="zh-CN" altLang="en-US"/>
              <a:t>为名，下令将陆沉</a:t>
            </a:r>
            <a:r>
              <a:rPr lang="en-US" altLang="zh-CN"/>
              <a:t>“</a:t>
            </a:r>
            <a:r>
              <a:rPr lang="zh-CN" altLang="en-US"/>
              <a:t>请</a:t>
            </a:r>
            <a:r>
              <a:rPr lang="en-US" altLang="zh-CN"/>
              <a:t>”</a:t>
            </a:r>
            <a:r>
              <a:rPr lang="zh-CN" altLang="en-US"/>
              <a:t>至诏狱（皇家直属监狱），表面是审查，实为保护性拘押，避免他被晋阳党灭口，同时方便皇帝亲自或派心腹问询。赵虎、秦望之等人也被一同带入诏狱，但得到相对较好的关押条件。陆沉明白，这是危机中的转机，他将在狱中迎来与皇帝代表的直接对话，也是为燕云和自己辩护的最后机会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诏狱的双重性质：既是恐怖之地，也可能成为政治避风港和秘密谈判场所。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皇帝将关键人物控制在自己手中的政治考量。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脱离被公开通缉追杀的险境，进入一个相对可控但前途未卜的新阶段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获得向最高权力直接陈述的机会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绝处逢生，进入新关卡</a:t>
            </a:r>
            <a:r>
              <a:rPr lang="en-US" altLang="zh-CN"/>
              <a:t>**</a:t>
            </a:r>
            <a:r>
              <a:rPr lang="zh-CN" altLang="en-US"/>
              <a:t>。从亡命徒变为</a:t>
            </a:r>
            <a:r>
              <a:rPr lang="en-US" altLang="zh-CN"/>
              <a:t>“</a:t>
            </a:r>
            <a:r>
              <a:rPr lang="zh-CN" altLang="en-US"/>
              <a:t>皇帝关注的要犯</a:t>
            </a:r>
            <a:r>
              <a:rPr lang="en-US" altLang="zh-CN"/>
              <a:t>”</a:t>
            </a:r>
            <a:r>
              <a:rPr lang="zh-CN" altLang="en-US"/>
              <a:t>，处境变化带来新的希望与挑战。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 **</a:t>
            </a:r>
            <a:r>
              <a:rPr lang="zh-CN" altLang="en-US"/>
              <a:t>第二卷：京华棋局（第</a:t>
            </a:r>
            <a:r>
              <a:rPr lang="en-US" altLang="zh-CN"/>
              <a:t>61-70</a:t>
            </a:r>
            <a:r>
              <a:rPr lang="zh-CN" altLang="en-US"/>
              <a:t>章）详细章纲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61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诏狱新生（下）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：诏狱之中，环境虽阴森，但陆沉等人未被刑讯，反得静养。秦望之伤势得到医治。数日后，一位自称</a:t>
            </a:r>
            <a:r>
              <a:rPr lang="en-US" altLang="zh-CN"/>
              <a:t>“</a:t>
            </a:r>
            <a:r>
              <a:rPr lang="zh-CN" altLang="en-US"/>
              <a:t>刘公公</a:t>
            </a:r>
            <a:r>
              <a:rPr lang="en-US" altLang="zh-CN"/>
              <a:t>”</a:t>
            </a:r>
            <a:r>
              <a:rPr lang="zh-CN" altLang="en-US"/>
              <a:t>的老宦官（皇帝心腹，司礼监秉笔，与曹谨有隙）前来</a:t>
            </a:r>
            <a:r>
              <a:rPr lang="en-US" altLang="zh-CN"/>
              <a:t>“</a:t>
            </a:r>
            <a:r>
              <a:rPr lang="zh-CN" altLang="en-US"/>
              <a:t>问话</a:t>
            </a:r>
            <a:r>
              <a:rPr lang="en-US" altLang="zh-CN"/>
              <a:t>”</a:t>
            </a:r>
            <a:r>
              <a:rPr lang="zh-CN" altLang="en-US"/>
              <a:t>。问话实则是对陆沉能力、忠诚度及燕云镇情况的深入考察。陆沉从容应对，对燕云军务、边贸、财政乃至朝廷党争利弊，分析透彻，数据翔实，且不回避杨啸为维持边镇不得不做的</a:t>
            </a:r>
            <a:r>
              <a:rPr lang="en-US" altLang="zh-CN"/>
              <a:t>“</a:t>
            </a:r>
            <a:r>
              <a:rPr lang="zh-CN" altLang="en-US"/>
              <a:t>权宜之举</a:t>
            </a:r>
            <a:r>
              <a:rPr lang="en-US" altLang="zh-CN"/>
              <a:t>”</a:t>
            </a:r>
            <a:r>
              <a:rPr lang="zh-CN" altLang="en-US"/>
              <a:t>。刘公公表面不动声色，但眼中偶现嘉许。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皇帝心腹考察人才的模式：不只听你说什么，更看你如何说，逻辑是否自洽，立场是否清晰。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在皇帝面前如何评价自己的主公（杨啸）：需实事求是，既体现忠诚，又不过分美化。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通过第一次</a:t>
            </a:r>
            <a:r>
              <a:rPr lang="en-US" altLang="zh-CN"/>
              <a:t>“</a:t>
            </a:r>
            <a:r>
              <a:rPr lang="zh-CN" altLang="en-US"/>
              <a:t>御前答辩</a:t>
            </a:r>
            <a:r>
              <a:rPr lang="en-US" altLang="zh-CN"/>
              <a:t>”</a:t>
            </a:r>
            <a:r>
              <a:rPr lang="zh-CN" altLang="en-US"/>
              <a:t>，初步展现价值，赢得关键中间人（刘公公）的一定认可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在绝对安全环境下，与核心团队（秦、赵）重新整合，复盘局势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在特殊场合展现才华，赢得尊重</a:t>
            </a:r>
            <a:r>
              <a:rPr lang="en-US" altLang="zh-CN"/>
              <a:t>**</a:t>
            </a:r>
            <a:r>
              <a:rPr lang="zh-CN" altLang="en-US"/>
              <a:t>。于囚笼中播下希望的种子。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62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狱中结盟（上）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：陆沉在放风时，</a:t>
            </a:r>
            <a:r>
              <a:rPr lang="en-US" altLang="zh-CN"/>
              <a:t>“</a:t>
            </a:r>
            <a:r>
              <a:rPr lang="zh-CN" altLang="en-US"/>
              <a:t>偶遇</a:t>
            </a:r>
            <a:r>
              <a:rPr lang="en-US" altLang="zh-CN"/>
              <a:t>”</a:t>
            </a:r>
            <a:r>
              <a:rPr lang="zh-CN" altLang="en-US"/>
              <a:t>同样被关押在此的御史台少年御史</a:t>
            </a:r>
            <a:r>
              <a:rPr lang="en-US" altLang="zh-CN"/>
              <a:t>**</a:t>
            </a:r>
            <a:r>
              <a:rPr lang="zh-CN" altLang="en-US"/>
              <a:t>顾昭</a:t>
            </a:r>
            <a:r>
              <a:rPr lang="en-US" altLang="zh-CN"/>
              <a:t>**</a:t>
            </a:r>
            <a:r>
              <a:rPr lang="zh-CN" altLang="en-US"/>
              <a:t>。顾昭因弹劾晋阳党某成员强占民田、反被构陷</a:t>
            </a:r>
            <a:r>
              <a:rPr lang="en-US" altLang="zh-CN"/>
              <a:t>“</a:t>
            </a:r>
            <a:r>
              <a:rPr lang="zh-CN" altLang="en-US"/>
              <a:t>污蔑朝臣</a:t>
            </a:r>
            <a:r>
              <a:rPr lang="en-US" altLang="zh-CN"/>
              <a:t>”</a:t>
            </a:r>
            <a:r>
              <a:rPr lang="zh-CN" altLang="en-US"/>
              <a:t>而入狱。顾昭年轻气盛，在狱中仍大骂奸党。陆沉观察其言行，认为此人刚直可用，且其家族在清流中颇有清誉。陆沉主动接近，以</a:t>
            </a:r>
            <a:r>
              <a:rPr lang="en-US" altLang="zh-CN"/>
              <a:t>“</a:t>
            </a:r>
            <a:r>
              <a:rPr lang="zh-CN" altLang="en-US"/>
              <a:t>同为晋阳党所害</a:t>
            </a:r>
            <a:r>
              <a:rPr lang="en-US" altLang="zh-CN"/>
              <a:t>”</a:t>
            </a:r>
            <a:r>
              <a:rPr lang="zh-CN" altLang="en-US"/>
              <a:t>为切入点，与之结交，并分享部分对朝局的分析，令顾昭大为折服。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政治犯监狱往往成为政治人物</a:t>
            </a:r>
            <a:r>
              <a:rPr lang="en-US" altLang="zh-CN"/>
              <a:t> networking </a:t>
            </a:r>
            <a:r>
              <a:rPr lang="zh-CN" altLang="en-US"/>
              <a:t>的特殊场所。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如何识别和吸引潜在盟友：共同的敌人、相近的理念（或可塑造的理念）。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发现并开始拉拢重要潜力股顾昭</a:t>
            </a:r>
            <a:r>
              <a:rPr lang="en-US" altLang="zh-CN"/>
              <a:t>**</a:t>
            </a:r>
            <a:r>
              <a:rPr lang="zh-CN" altLang="en-US"/>
              <a:t>，其为清流新生代，有锐气有背景。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在狱中开始构建新的关系网络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于困境中发掘人才，扩展人脉</a:t>
            </a:r>
            <a:r>
              <a:rPr lang="en-US" altLang="zh-CN"/>
              <a:t>**</a:t>
            </a:r>
            <a:r>
              <a:rPr lang="zh-CN" altLang="en-US"/>
              <a:t>。展现主角的识人之明和凝聚力。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63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狱中结盟（下）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：陆沉通过顾昭，了解到更多清流党内部的分化细节，以及部分尚有良知和抱负的年轻官员对现状的不满。陆沉提出一个构想：若有机会出狱，当联合这些有志之士，不局限于清流、寒门标签，而以</a:t>
            </a:r>
            <a:r>
              <a:rPr lang="en-US" altLang="zh-CN"/>
              <a:t>“</a:t>
            </a:r>
            <a:r>
              <a:rPr lang="zh-CN" altLang="en-US"/>
              <a:t>实务救国、肃清贪腐</a:t>
            </a:r>
            <a:r>
              <a:rPr lang="en-US" altLang="zh-CN"/>
              <a:t>”</a:t>
            </a:r>
            <a:r>
              <a:rPr lang="zh-CN" altLang="en-US"/>
              <a:t>为目标，形成一个非正式但有力的政治团体。顾昭热血沸腾，视陆沉为兄长兼导师。与此同时，陆沉也通过刘公公的渠道，与萧彻保持着秘密通信，同步信息。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政治理念的塑造与团体雏形的建立：需要简洁有力的口号（实务救国）和共同的敌人。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如何在被监控环境下建立多重、安全的通信渠道。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初步构建起以自己为核心、涵盖皇子（萧彻）、清流新生代（顾昭）、实务干吏（秦望之）、武力亲信（赵虎）的微型政治联盟雏形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明确了自己未来的政治纲领和团队建设方向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在牢笼中绘制未来蓝图，凝聚人心</a:t>
            </a:r>
            <a:r>
              <a:rPr lang="en-US" altLang="zh-CN"/>
              <a:t>**</a:t>
            </a:r>
            <a:r>
              <a:rPr lang="zh-CN" altLang="en-US"/>
              <a:t>。展现领袖魅力与远见。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64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皇帝垂询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刘公公再次到来，此次神情更加严肃。他带来皇帝的口谕（非正式），询问陆沉对解决当前朝政积弊、尤其是边镇问题的具体方略。陆沉知道这是决定命运的考卷。他结合秦望之的财政知识、自己对边镇的了解以及近期对朝局的观察，提出数条方略：</a:t>
            </a:r>
            <a:r>
              <a:rPr lang="en-US" altLang="zh-CN"/>
              <a:t>1. **</a:t>
            </a:r>
            <a:r>
              <a:rPr lang="zh-CN" altLang="en-US"/>
              <a:t>审计清账</a:t>
            </a:r>
            <a:r>
              <a:rPr lang="en-US" altLang="zh-CN"/>
              <a:t>**</a:t>
            </a:r>
            <a:r>
              <a:rPr lang="zh-CN" altLang="en-US"/>
              <a:t>：对四大边镇及漕运、盐政进行交叉审计，用专业团队打破地方保护。</a:t>
            </a:r>
            <a:r>
              <a:rPr lang="en-US" altLang="zh-CN"/>
              <a:t>2. **</a:t>
            </a:r>
            <a:r>
              <a:rPr lang="zh-CN" altLang="en-US"/>
              <a:t>开中改良</a:t>
            </a:r>
            <a:r>
              <a:rPr lang="en-US" altLang="zh-CN"/>
              <a:t>**</a:t>
            </a:r>
            <a:r>
              <a:rPr lang="zh-CN" altLang="en-US"/>
              <a:t>：将盐引与实边功效更紧密挂钩，引入商号竞争，削弱世族垄断。</a:t>
            </a:r>
            <a:r>
              <a:rPr lang="en-US" altLang="zh-CN"/>
              <a:t>3. **</a:t>
            </a:r>
            <a:r>
              <a:rPr lang="zh-CN" altLang="en-US"/>
              <a:t>军功授田（试点）</a:t>
            </a:r>
            <a:r>
              <a:rPr lang="en-US" altLang="zh-CN"/>
              <a:t>**</a:t>
            </a:r>
            <a:r>
              <a:rPr lang="zh-CN" altLang="en-US"/>
              <a:t>：在边疆试行，激励士卒，稳固边防。</a:t>
            </a:r>
            <a:r>
              <a:rPr lang="en-US" altLang="zh-CN"/>
              <a:t>4. **</a:t>
            </a:r>
            <a:r>
              <a:rPr lang="zh-CN" altLang="en-US"/>
              <a:t>信息直达</a:t>
            </a:r>
            <a:r>
              <a:rPr lang="en-US" altLang="zh-CN"/>
              <a:t>**</a:t>
            </a:r>
            <a:r>
              <a:rPr lang="zh-CN" altLang="en-US"/>
              <a:t>：建立绕过层层官僚的边情军务直报系统（有限范围）。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向最高统治者献策的艺术：既要有高度（解决根本问题），又要有可操作性（试点、改良），还要避免触犯太多既得利益集团（循序渐进）。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展现系统性思维和解决复杂问题的能力。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完成对最高权力的正式</a:t>
            </a:r>
            <a:r>
              <a:rPr lang="en-US" altLang="zh-CN"/>
              <a:t>“</a:t>
            </a:r>
            <a:r>
              <a:rPr lang="zh-CN" altLang="en-US"/>
              <a:t>献策</a:t>
            </a:r>
            <a:r>
              <a:rPr lang="en-US" altLang="zh-CN"/>
              <a:t>”**</a:t>
            </a:r>
            <a:r>
              <a:rPr lang="zh-CN" altLang="en-US"/>
              <a:t>，其才能和思路得到皇帝（通过刘公公）的进一步认可。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所提方略，成为未来其执政的初步纲领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向最高层展示治国方略的成就感</a:t>
            </a:r>
            <a:r>
              <a:rPr lang="en-US" altLang="zh-CN"/>
              <a:t>**</a:t>
            </a:r>
            <a:r>
              <a:rPr lang="zh-CN" altLang="en-US"/>
              <a:t>。一介囚徒，所言却能影响国策。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65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交易与出路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：刘公公传达皇帝最终决定：皇帝认可陆沉的才干和忠诚（对朝廷），也认为杨啸需敲打但不宜动摇（边镇需要稳）。皇帝将下旨申饬杨啸</a:t>
            </a:r>
            <a:r>
              <a:rPr lang="en-US" altLang="zh-CN"/>
              <a:t>“</a:t>
            </a:r>
            <a:r>
              <a:rPr lang="zh-CN" altLang="en-US"/>
              <a:t>御下不严</a:t>
            </a:r>
            <a:r>
              <a:rPr lang="en-US" altLang="zh-CN"/>
              <a:t>”</a:t>
            </a:r>
            <a:r>
              <a:rPr lang="zh-CN" altLang="en-US"/>
              <a:t>，但驳回了对杨啸的重罪指控。作为交换和戴罪立功，陆沉需完成一个任务：作为朝廷</a:t>
            </a:r>
            <a:r>
              <a:rPr lang="en-US" altLang="zh-CN"/>
              <a:t>“</a:t>
            </a:r>
            <a:r>
              <a:rPr lang="zh-CN" altLang="en-US"/>
              <a:t>特派审计专员</a:t>
            </a:r>
            <a:r>
              <a:rPr lang="en-US" altLang="zh-CN"/>
              <a:t>”</a:t>
            </a:r>
            <a:r>
              <a:rPr lang="zh-CN" altLang="en-US"/>
              <a:t>（临时头衔），协同户部、都察院人员，前往</a:t>
            </a:r>
            <a:r>
              <a:rPr lang="en-US" altLang="zh-CN"/>
              <a:t>**</a:t>
            </a:r>
            <a:r>
              <a:rPr lang="zh-CN" altLang="en-US"/>
              <a:t>两淮盐场</a:t>
            </a:r>
            <a:r>
              <a:rPr lang="en-US" altLang="zh-CN"/>
              <a:t>**</a:t>
            </a:r>
            <a:r>
              <a:rPr lang="zh-CN" altLang="en-US"/>
              <a:t>，彻查盐税积弊，为朝廷打开财源，并打击晋阳党在该领域的势力。此举一石三鸟：用陆沉之能，解朝廷之急，同时将他调离京城是非之地，也给了他积累功绩重返舞台的机会。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帝王心术的典型运用：平衡、制衡、利用。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给予戴罪立功的机会，是控制和使用有能力但有过失或身处争议中官员的常见手段。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获得出狱和新的使命</a:t>
            </a:r>
            <a:r>
              <a:rPr lang="en-US" altLang="zh-CN"/>
              <a:t>**</a:t>
            </a:r>
            <a:r>
              <a:rPr lang="zh-CN" altLang="en-US"/>
              <a:t>，身份从</a:t>
            </a:r>
            <a:r>
              <a:rPr lang="en-US" altLang="zh-CN"/>
              <a:t>“</a:t>
            </a:r>
            <a:r>
              <a:rPr lang="zh-CN" altLang="en-US"/>
              <a:t>待罪之身</a:t>
            </a:r>
            <a:r>
              <a:rPr lang="en-US" altLang="zh-CN"/>
              <a:t>”</a:t>
            </a:r>
            <a:r>
              <a:rPr lang="zh-CN" altLang="en-US"/>
              <a:t>转变为</a:t>
            </a:r>
            <a:r>
              <a:rPr lang="en-US" altLang="zh-CN"/>
              <a:t>“</a:t>
            </a:r>
            <a:r>
              <a:rPr lang="zh-CN" altLang="en-US"/>
              <a:t>负有特殊使命的朝廷专员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任务艰巨但目标明确</a:t>
            </a:r>
            <a:r>
              <a:rPr lang="en-US" altLang="zh-CN"/>
              <a:t>**</a:t>
            </a:r>
            <a:r>
              <a:rPr lang="zh-CN" altLang="en-US"/>
              <a:t>，是重返权力场的跳板。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绝境反转，获得官方身份与重大任务</a:t>
            </a:r>
            <a:r>
              <a:rPr lang="en-US" altLang="zh-CN"/>
              <a:t>**</a:t>
            </a:r>
            <a:r>
              <a:rPr lang="zh-CN" altLang="en-US"/>
              <a:t>。从囚徒变为钦差（类），实现惊人逆转。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66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离别与善后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：陆沉即将出狱赴任。顾昭因家族运作和皇帝对清流的安抚，也将被释放。陆沉与顾昭约定后续联系渠道。秦望之因伤未愈，且年龄较大，陆沉安排其留在京城，以</a:t>
            </a:r>
            <a:r>
              <a:rPr lang="en-US" altLang="zh-CN"/>
              <a:t>“</a:t>
            </a:r>
            <a:r>
              <a:rPr lang="zh-CN" altLang="en-US"/>
              <a:t>养病</a:t>
            </a:r>
            <a:r>
              <a:rPr lang="en-US" altLang="zh-CN"/>
              <a:t>”</a:t>
            </a:r>
            <a:r>
              <a:rPr lang="zh-CN" altLang="en-US"/>
              <a:t>为名，暗中协助萧彻，并利用其财会专长，为陆沉在京城维持一个情报和财务支点。赵虎自然跟随陆沉南下。临行前，陆沉通过刘公公，请求皇帝关照仍在诏狱中那位抵死不认的忠诚吏员，并严惩叛徒（年轻秀才已被晋阳党灭口）。皇帝应允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团队分工作业：根据成员特长和身体状况，分配不同任务，建立前后方呼应。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争取对忠诚下属的保护，体现首领的担当，有利于凝聚人心。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完成团队的重新部署</a:t>
            </a:r>
            <a:r>
              <a:rPr lang="en-US" altLang="zh-CN"/>
              <a:t>**</a:t>
            </a:r>
            <a:r>
              <a:rPr lang="zh-CN" altLang="en-US"/>
              <a:t>，建立京城（秦望之、萧彻）、地方（自己）的呼应体系。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了却部分心事，更能轻装上阵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妥善安排，展现首领关怀与远谋</a:t>
            </a:r>
            <a:r>
              <a:rPr lang="en-US" altLang="zh-CN"/>
              <a:t>**</a:t>
            </a:r>
            <a:r>
              <a:rPr lang="zh-CN" altLang="en-US"/>
              <a:t>。团队建设趋于成熟。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67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南下途中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与赵虎，以及朝廷派出的户部、都察院各一名低阶官员（均为不得志、相对清白者）及少量护卫，乘船沿运河南下。途中，陆沉不摆架子，与同僚交流，了解户部、都察院内部运作细节及两淮盐政的种种传闻。同时，他秘密联络沿途漕帮节点（通过老舵主的关系），获取关于两淮盐场、盐商、地方官府的第一手民间情报。他发现，两淮盐政的腐败，远比朝廷案牍上记载的更为触目惊心，且盘根错节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利用旅途时间进行情报收集和团队融合。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官方渠道与民间渠道信息互补，揭示问题的全貌。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对两淮盐政的复杂性和危险性有了更清醒的认识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初步整合新的临时团队（朝廷派员）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深入虎穴前的调研与准备</a:t>
            </a:r>
            <a:r>
              <a:rPr lang="en-US" altLang="zh-CN"/>
              <a:t>**</a:t>
            </a:r>
            <a:r>
              <a:rPr lang="zh-CN" altLang="en-US"/>
              <a:t>。展现主角的谨慎与实干。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68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扬州初印象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：抵达扬州，盐运使司衙门表现出的却是超乎寻常的</a:t>
            </a:r>
            <a:r>
              <a:rPr lang="en-US" altLang="zh-CN"/>
              <a:t>“</a:t>
            </a:r>
            <a:r>
              <a:rPr lang="zh-CN" altLang="en-US"/>
              <a:t>配合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热情</a:t>
            </a:r>
            <a:r>
              <a:rPr lang="en-US" altLang="zh-CN"/>
              <a:t>”</a:t>
            </a:r>
            <a:r>
              <a:rPr lang="zh-CN" altLang="en-US"/>
              <a:t>。盐运使（晋阳党重要成员）设宴接风，席间不提公务，只谈风月，并暗示</a:t>
            </a:r>
            <a:r>
              <a:rPr lang="en-US" altLang="zh-CN"/>
              <a:t>“</a:t>
            </a:r>
            <a:r>
              <a:rPr lang="zh-CN" altLang="en-US"/>
              <a:t>盐务积重难返，水至清则无鱼</a:t>
            </a:r>
            <a:r>
              <a:rPr lang="en-US" altLang="zh-CN"/>
              <a:t>”</a:t>
            </a:r>
            <a:r>
              <a:rPr lang="zh-CN" altLang="en-US"/>
              <a:t>，只要陆沉</a:t>
            </a:r>
            <a:r>
              <a:rPr lang="en-US" altLang="zh-CN"/>
              <a:t>“</a:t>
            </a:r>
            <a:r>
              <a:rPr lang="zh-CN" altLang="en-US"/>
              <a:t>懂得变通</a:t>
            </a:r>
            <a:r>
              <a:rPr lang="en-US" altLang="zh-CN"/>
              <a:t>”</a:t>
            </a:r>
            <a:r>
              <a:rPr lang="zh-CN" altLang="en-US"/>
              <a:t>，不仅审计任务可</a:t>
            </a:r>
            <a:r>
              <a:rPr lang="en-US" altLang="zh-CN"/>
              <a:t>“</a:t>
            </a:r>
            <a:r>
              <a:rPr lang="zh-CN" altLang="en-US"/>
              <a:t>圆满</a:t>
            </a:r>
            <a:r>
              <a:rPr lang="en-US" altLang="zh-CN"/>
              <a:t>”</a:t>
            </a:r>
            <a:r>
              <a:rPr lang="zh-CN" altLang="en-US"/>
              <a:t>完成，个人也有厚礼相赠。地方豪商也纷纷递帖拜见。陆沉虚与委蛇，心中冷笑，知道这是糖衣炮弹加下马威。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地方利益集团应对中央检查的经典套路：拉拢、腐蚀、同化。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盐官与盐商的共生关系及奢靡生活。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直观感受盐政利益集团的庞大与嚣张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明确斗争策略：表面妥协，暗中调查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面对诱惑与压力的定力</a:t>
            </a:r>
            <a:r>
              <a:rPr lang="en-US" altLang="zh-CN"/>
              <a:t>**</a:t>
            </a:r>
            <a:r>
              <a:rPr lang="zh-CN" altLang="en-US"/>
              <a:t>。主角坚守原则，与腐败环境形成鲜明对比。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69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暗访灶户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：陆沉让赵虎伪装，自己则扮作收购私盐的客商（风险极大），深入盐场灶户（煮盐的底层盐民）聚居区。所见触目惊心：灶户生活困苦，被盐商和盐课官吏层层盘剥，许多人身负</a:t>
            </a:r>
            <a:r>
              <a:rPr lang="en-US" altLang="zh-CN"/>
              <a:t>“</a:t>
            </a:r>
            <a:r>
              <a:rPr lang="zh-CN" altLang="en-US"/>
              <a:t>盐债</a:t>
            </a:r>
            <a:r>
              <a:rPr lang="en-US" altLang="zh-CN"/>
              <a:t>”</a:t>
            </a:r>
            <a:r>
              <a:rPr lang="zh-CN" altLang="en-US"/>
              <a:t>，形同奴隶。他们私下透露，官盐产量被严重瞒报，大量</a:t>
            </a:r>
            <a:r>
              <a:rPr lang="en-US" altLang="zh-CN"/>
              <a:t>“</a:t>
            </a:r>
            <a:r>
              <a:rPr lang="zh-CN" altLang="en-US"/>
              <a:t>私盐</a:t>
            </a:r>
            <a:r>
              <a:rPr lang="en-US" altLang="zh-CN"/>
              <a:t>”</a:t>
            </a:r>
            <a:r>
              <a:rPr lang="zh-CN" altLang="en-US"/>
              <a:t>实际上被盐商勾结官吏，以</a:t>
            </a:r>
            <a:r>
              <a:rPr lang="en-US" altLang="zh-CN"/>
              <a:t>“</a:t>
            </a:r>
            <a:r>
              <a:rPr lang="zh-CN" altLang="en-US"/>
              <a:t>官盐</a:t>
            </a:r>
            <a:r>
              <a:rPr lang="en-US" altLang="zh-CN"/>
              <a:t>”</a:t>
            </a:r>
            <a:r>
              <a:rPr lang="zh-CN" altLang="en-US"/>
              <a:t>名义走私，获取暴利。陆沉获得了几份灶户血泪控诉的手印状和简易账目。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盐业生产底层的真实状况，是盐政腐败的根基。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如何获取最底层、最真实的证据：需要冒险、伪装和同理心。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掌握盐政腐败最核心、最血淋淋的证据（底层压迫与系统性瞒产）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赢得灶户的信任与潜在支持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微服访贫苦，获得关键民情证据</a:t>
            </a:r>
            <a:r>
              <a:rPr lang="en-US" altLang="zh-CN"/>
              <a:t>**</a:t>
            </a:r>
            <a:r>
              <a:rPr lang="zh-CN" altLang="en-US"/>
              <a:t>。展现主角的胆识与亲民。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70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盐商夜宴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：最大的盐商，</a:t>
            </a:r>
            <a:r>
              <a:rPr lang="en-US" altLang="zh-CN"/>
              <a:t>“</a:t>
            </a:r>
            <a:r>
              <a:rPr lang="zh-CN" altLang="en-US"/>
              <a:t>淮扬盐业总会</a:t>
            </a:r>
            <a:r>
              <a:rPr lang="en-US" altLang="zh-CN"/>
              <a:t>”</a:t>
            </a:r>
            <a:r>
              <a:rPr lang="zh-CN" altLang="en-US"/>
              <a:t>会长设下奢华至极的夜宴，邀请陆沉。席间，会长展示了其与多位京城高官（包括晋阳党核心及部分清流）的</a:t>
            </a:r>
            <a:r>
              <a:rPr lang="en-US" altLang="zh-CN"/>
              <a:t>“</a:t>
            </a:r>
            <a:r>
              <a:rPr lang="zh-CN" altLang="en-US"/>
              <a:t>友谊</a:t>
            </a:r>
            <a:r>
              <a:rPr lang="en-US" altLang="zh-CN"/>
              <a:t>”</a:t>
            </a:r>
            <a:r>
              <a:rPr lang="zh-CN" altLang="en-US"/>
              <a:t>（书信、礼物往来记录），暗示其背景通天。他软硬兼施：若陆沉肯高抬贵手，会长承诺不仅重金酬谢，还可动用京城关系，保陆沉日后官运亨通；若执意彻查，则</a:t>
            </a:r>
            <a:r>
              <a:rPr lang="en-US" altLang="zh-CN"/>
              <a:t>“</a:t>
            </a:r>
            <a:r>
              <a:rPr lang="zh-CN" altLang="en-US"/>
              <a:t>扬州城虽大，恐怕无君立锥之地</a:t>
            </a:r>
            <a:r>
              <a:rPr lang="en-US" altLang="zh-CN"/>
              <a:t>”</a:t>
            </a:r>
            <a:r>
              <a:rPr lang="zh-CN" altLang="en-US"/>
              <a:t>。陆沉从容应对，不置可否，但暗中记下了那些官员的名字。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地方豪商与中央官僚的勾结网络展示，是一种威慑。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如何应对赤裸裸的贿赂与威胁：不立即撕破脸，为深入调查争取时间。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窥见盐商背后庞大的保护伞网络</a:t>
            </a:r>
            <a:r>
              <a:rPr lang="en-US" altLang="zh-CN"/>
              <a:t>**</a:t>
            </a:r>
            <a:r>
              <a:rPr lang="zh-CN" altLang="en-US"/>
              <a:t>，意识到此案牵涉之广远超预期。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收集到又一批高层官员涉嫌腐败的线索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直面终极</a:t>
            </a:r>
            <a:r>
              <a:rPr lang="en-US" altLang="zh-CN"/>
              <a:t>BOSS</a:t>
            </a:r>
            <a:r>
              <a:rPr lang="zh-CN" altLang="en-US"/>
              <a:t>的威胁与诱惑</a:t>
            </a:r>
            <a:r>
              <a:rPr lang="en-US" altLang="zh-CN"/>
              <a:t>**</a:t>
            </a:r>
            <a:r>
              <a:rPr lang="zh-CN" altLang="en-US"/>
              <a:t>。在巨大压力下保持冷静，为后续反击蓄势。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 **</a:t>
            </a:r>
            <a:r>
              <a:rPr lang="zh-CN" altLang="en-US"/>
              <a:t>第二卷：京华棋局（第</a:t>
            </a:r>
            <a:r>
              <a:rPr lang="en-US" altLang="zh-CN"/>
              <a:t>71-80</a:t>
            </a:r>
            <a:r>
              <a:rPr lang="zh-CN" altLang="en-US"/>
              <a:t>章）详细章纲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71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审计困局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：陆沉正式进驻盐运使司衙门开始审计。盐运使司提供账册堆积如山，但关键年份、关键科目的账册或</a:t>
            </a:r>
            <a:r>
              <a:rPr lang="en-US" altLang="zh-CN"/>
              <a:t>“</a:t>
            </a:r>
            <a:r>
              <a:rPr lang="zh-CN" altLang="en-US"/>
              <a:t>遗失</a:t>
            </a:r>
            <a:r>
              <a:rPr lang="en-US" altLang="zh-CN"/>
              <a:t>”</a:t>
            </a:r>
            <a:r>
              <a:rPr lang="zh-CN" altLang="en-US"/>
              <a:t>，或记录混乱矛盾。户部随行官员很快陷入数字泥潭。都察院官员则被地方官以各种理由（拜访、宴会、游览）纠缠，难以脱身。陆沉意识到，对方在用</a:t>
            </a:r>
            <a:r>
              <a:rPr lang="en-US" altLang="zh-CN"/>
              <a:t>“</a:t>
            </a:r>
            <a:r>
              <a:rPr lang="zh-CN" altLang="en-US"/>
              <a:t>疲劳战术</a:t>
            </a:r>
            <a:r>
              <a:rPr lang="en-US" altLang="zh-CN"/>
              <a:t>”</a:t>
            </a:r>
            <a:r>
              <a:rPr lang="zh-CN" altLang="en-US"/>
              <a:t>和</a:t>
            </a:r>
            <a:r>
              <a:rPr lang="en-US" altLang="zh-CN"/>
              <a:t>“</a:t>
            </a:r>
            <a:r>
              <a:rPr lang="zh-CN" altLang="en-US"/>
              <a:t>信息迷雾</a:t>
            </a:r>
            <a:r>
              <a:rPr lang="en-US" altLang="zh-CN"/>
              <a:t>”</a:t>
            </a:r>
            <a:r>
              <a:rPr lang="zh-CN" altLang="en-US"/>
              <a:t>拖延时间，等待京城可能出现的变局（如晋阳党发力让朝廷召回他）。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官僚体系对抗审计的标准化策略：提供海量无关或混乱信息，消耗审计人员精力。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利益共同体对</a:t>
            </a:r>
            <a:r>
              <a:rPr lang="en-US" altLang="zh-CN"/>
              <a:t>“</a:t>
            </a:r>
            <a:r>
              <a:rPr lang="zh-CN" altLang="en-US"/>
              <a:t>外来者</a:t>
            </a:r>
            <a:r>
              <a:rPr lang="en-US" altLang="zh-CN"/>
              <a:t>”</a:t>
            </a:r>
            <a:r>
              <a:rPr lang="zh-CN" altLang="en-US"/>
              <a:t>的集体软抵制。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识破对手的拖延战术</a:t>
            </a:r>
            <a:r>
              <a:rPr lang="en-US" altLang="zh-CN"/>
              <a:t>**</a:t>
            </a:r>
            <a:r>
              <a:rPr lang="zh-CN" altLang="en-US"/>
              <a:t>，知道必须跳出常规审计，寻找突破口。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决定双线并进</a:t>
            </a:r>
            <a:r>
              <a:rPr lang="en-US" altLang="zh-CN"/>
              <a:t>**</a:t>
            </a:r>
            <a:r>
              <a:rPr lang="zh-CN" altLang="en-US"/>
              <a:t>：明面继续审计施压，暗地启动非常规调查。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识破阴谋，主动破局</a:t>
            </a:r>
            <a:r>
              <a:rPr lang="en-US" altLang="zh-CN"/>
              <a:t>**</a:t>
            </a:r>
            <a:r>
              <a:rPr lang="zh-CN" altLang="en-US"/>
              <a:t>。在看似被动的局面中，展现主角的洞察力与决断力。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72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劫杀与反击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决定深入调查盐商走私渠道，赵虎带人暗中跟踪一支可疑盐队，发现其并非运往指定官仓，而是深夜运抵运河码头，准备装船。就在取证时，遭遇伪装成水匪的盐商武装袭击。赵虎等人早有准备，激烈交战，击退袭击者，并擒获一名头目。头目招供，他们是受盐业总会指使，定期将</a:t>
            </a:r>
            <a:r>
              <a:rPr lang="en-US" altLang="zh-CN"/>
              <a:t>“</a:t>
            </a:r>
            <a:r>
              <a:rPr lang="zh-CN" altLang="en-US"/>
              <a:t>账外盐</a:t>
            </a:r>
            <a:r>
              <a:rPr lang="en-US" altLang="zh-CN"/>
              <a:t>”</a:t>
            </a:r>
            <a:r>
              <a:rPr lang="zh-CN" altLang="en-US"/>
              <a:t>运往北方，买家涉及北境边军（非燕云镇）和草原部落。陆沉获得口供和物证。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盐商武装护私的普遍性与暴力性。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审讯技巧与获取关键口供的方法。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获得盐商武装走私、甚至可能资敌的铁证（人证、物证）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验证了此前关于盐利北流的猜测，并将案件性质升级（通敌嫌疑）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武力争斗获胜，获得突破性证据</a:t>
            </a:r>
            <a:r>
              <a:rPr lang="en-US" altLang="zh-CN"/>
              <a:t>**</a:t>
            </a:r>
            <a:r>
              <a:rPr lang="zh-CN" altLang="en-US"/>
              <a:t>。文武结合，打开局面。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73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釜底抽薪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不再纠缠于盐运司账册。他利用特派专员权限，直接拜访扬州府库和漕运分司，调取近五年运河关卡通行记录（特别是载货重船的）、以及扬州府银库的收支记录。通过秦望之远程指导的交叉对比方法，他发现盐商总会旗下商号，有大量货物（以其他商品名义）北运，但其在扬州缴纳的商税与货物价值严重不符。同时，府库记录显示，盐运使司常有</a:t>
            </a:r>
            <a:r>
              <a:rPr lang="en-US" altLang="zh-CN"/>
              <a:t>“</a:t>
            </a:r>
            <a:r>
              <a:rPr lang="zh-CN" altLang="en-US"/>
              <a:t>特别拨款</a:t>
            </a:r>
            <a:r>
              <a:rPr lang="en-US" altLang="zh-CN"/>
              <a:t>”</a:t>
            </a:r>
            <a:r>
              <a:rPr lang="zh-CN" altLang="en-US"/>
              <a:t>流入某些神秘账户。这些证据虽不直接指向私盐，但构成了完整的异常资金与物流链条。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跳出问题本身，从关联系统（物流、税收）寻找破绽。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利用职权调动不同系统资料进行关联分析。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构建起完整的间接证据链</a:t>
            </a:r>
            <a:r>
              <a:rPr lang="en-US" altLang="zh-CN"/>
              <a:t>**</a:t>
            </a:r>
            <a:r>
              <a:rPr lang="zh-CN" altLang="en-US"/>
              <a:t>，逻辑上足以证明大规模走私的存在。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掌握盐运使司挪用公款的证据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跳出框架，降维打击</a:t>
            </a:r>
            <a:r>
              <a:rPr lang="en-US" altLang="zh-CN"/>
              <a:t>**</a:t>
            </a:r>
            <a:r>
              <a:rPr lang="zh-CN" altLang="en-US"/>
              <a:t>。用更高维度的数据分析，让对手的局部防御失效。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74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分化瓦解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：陆沉将部分关于盐运使司挪用公款的证据，</a:t>
            </a:r>
            <a:r>
              <a:rPr lang="en-US" altLang="zh-CN"/>
              <a:t>“</a:t>
            </a:r>
            <a:r>
              <a:rPr lang="zh-CN" altLang="en-US"/>
              <a:t>不经意</a:t>
            </a:r>
            <a:r>
              <a:rPr lang="en-US" altLang="zh-CN"/>
              <a:t>”</a:t>
            </a:r>
            <a:r>
              <a:rPr lang="zh-CN" altLang="en-US"/>
              <a:t>地透露给盐运使的副手（一个长期被正使压制、且有把柄在陆沉手中的官员）。副使惊恐万分。陆沉给出条件：主动交代内部运作模式、提供部分关键真实账目副本，可算戴罪立功，保其家人平安。副使权衡后屈服，提供了盐务内部</a:t>
            </a:r>
            <a:r>
              <a:rPr lang="en-US" altLang="zh-CN"/>
              <a:t>“</a:t>
            </a:r>
            <a:r>
              <a:rPr lang="zh-CN" altLang="en-US"/>
              <a:t>两本账</a:t>
            </a:r>
            <a:r>
              <a:rPr lang="en-US" altLang="zh-CN"/>
              <a:t>”</a:t>
            </a:r>
            <a:r>
              <a:rPr lang="zh-CN" altLang="en-US"/>
              <a:t>的核对方法，以及总会向各级官员行贿的暗账目录（涉及多名地方及部分京官）。盐商与官府的利益同盟出现第一道裂痕。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“</a:t>
            </a:r>
            <a:r>
              <a:rPr lang="zh-CN" altLang="en-US"/>
              <a:t>堡垒从内部攻破</a:t>
            </a:r>
            <a:r>
              <a:rPr lang="en-US" altLang="zh-CN"/>
              <a:t>”</a:t>
            </a:r>
            <a:r>
              <a:rPr lang="zh-CN" altLang="en-US"/>
              <a:t>策略：利用对手内部的矛盾与恐惧。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如何选择分化对象：选择有弱点（把柄）、有不满（被压制）、且掌握一定核心信息的中层官员。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获得破解盐务</a:t>
            </a:r>
            <a:r>
              <a:rPr lang="en-US" altLang="zh-CN"/>
              <a:t>“</a:t>
            </a:r>
            <a:r>
              <a:rPr lang="zh-CN" altLang="en-US"/>
              <a:t>真假账</a:t>
            </a:r>
            <a:r>
              <a:rPr lang="en-US" altLang="zh-CN"/>
              <a:t>”</a:t>
            </a:r>
            <a:r>
              <a:rPr lang="zh-CN" altLang="en-US"/>
              <a:t>的钥匙和行贿名单</a:t>
            </a:r>
            <a:r>
              <a:rPr lang="en-US" altLang="zh-CN"/>
              <a:t>**</a:t>
            </a:r>
            <a:r>
              <a:rPr lang="zh-CN" altLang="en-US"/>
              <a:t>，审计工作取得实质性突破。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成功在敌方阵营中打入楔子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策反内线，获得核心机密</a:t>
            </a:r>
            <a:r>
              <a:rPr lang="en-US" altLang="zh-CN"/>
              <a:t>**</a:t>
            </a:r>
            <a:r>
              <a:rPr lang="zh-CN" altLang="en-US"/>
              <a:t>。智力博弈的胜利，瓦解敌人防线。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75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淮扬震动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：陆沉动作加快，根据新获证据，以</a:t>
            </a:r>
            <a:r>
              <a:rPr lang="en-US" altLang="zh-CN"/>
              <a:t>“</a:t>
            </a:r>
            <a:r>
              <a:rPr lang="zh-CN" altLang="en-US"/>
              <a:t>协助调查</a:t>
            </a:r>
            <a:r>
              <a:rPr lang="en-US" altLang="zh-CN"/>
              <a:t>”</a:t>
            </a:r>
            <a:r>
              <a:rPr lang="zh-CN" altLang="en-US"/>
              <a:t>为名，突然控制了几名关键的中层盐官和两名态度恶劣的中型盐商。总会会长坐不住了，一方面发动扬州士绅联名向朝廷上书，污蔑陆沉</a:t>
            </a:r>
            <a:r>
              <a:rPr lang="en-US" altLang="zh-CN"/>
              <a:t>“</a:t>
            </a:r>
            <a:r>
              <a:rPr lang="zh-CN" altLang="en-US"/>
              <a:t>罗织罪名、酷烈扰民、破坏盐业</a:t>
            </a:r>
            <a:r>
              <a:rPr lang="en-US" altLang="zh-CN"/>
              <a:t>”</a:t>
            </a:r>
            <a:r>
              <a:rPr lang="zh-CN" altLang="en-US"/>
              <a:t>；另一方面，狗急跳墙，策划更激烈的行动</a:t>
            </a:r>
            <a:r>
              <a:rPr lang="en-US" altLang="zh-CN"/>
              <a:t>——</a:t>
            </a:r>
            <a:r>
              <a:rPr lang="zh-CN" altLang="en-US"/>
              <a:t>绑架或刺杀陆沉。扬州城风声鹤唳，陆沉及团队的安全压力骤增。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地方利益集团反扑的典型方式：舆论攻势（勾结地方舆论喉舌）与暴力手段。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中央与地方的博弈：地方势力试图制造</a:t>
            </a:r>
            <a:r>
              <a:rPr lang="en-US" altLang="zh-CN"/>
              <a:t>“</a:t>
            </a:r>
            <a:r>
              <a:rPr lang="zh-CN" altLang="en-US"/>
              <a:t>民怨</a:t>
            </a:r>
            <a:r>
              <a:rPr lang="en-US" altLang="zh-CN"/>
              <a:t>”</a:t>
            </a:r>
            <a:r>
              <a:rPr lang="zh-CN" altLang="en-US"/>
              <a:t>假象，倒逼中央召回钦差。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行动引发对手强烈反弹，进入斗争最激烈、最危险的阶段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面临舆论和人身安全的双重威胁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引发敌人全面反扑，斗争白热化</a:t>
            </a:r>
            <a:r>
              <a:rPr lang="en-US" altLang="zh-CN"/>
              <a:t>**</a:t>
            </a:r>
            <a:r>
              <a:rPr lang="zh-CN" altLang="en-US"/>
              <a:t>。将矛盾推向顶点，营造最终对决氛围。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76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生死一线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总会会长重金雇佣江湖亡命之徒，趁陆沉外出勘察盐场时发动突袭。赵虎率护卫拼死抵抗，但刺客人数众多且武功高强，护卫伤亡惨重。陆沉且战且退，被逼至盐场废弃的卤水池边，身中一刀，危在旦夕。千钧一发之际，之前受过陆沉恩惠（或因其调查看到希望）的灶户们，手持扁担、铁锹等工具，从四面八方涌来，人数众多，声势骇人。刺客见势不妙，仓皇撤退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民心向背在关键时刻的作用。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底层民众对改变现状的渴望，可以转化为巨大的力量。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在生死边缘走一遭，更深刻地理解</a:t>
            </a:r>
            <a:r>
              <a:rPr lang="en-US" altLang="zh-CN"/>
              <a:t>“</a:t>
            </a:r>
            <a:r>
              <a:rPr lang="zh-CN" altLang="en-US"/>
              <a:t>民心可用</a:t>
            </a:r>
            <a:r>
              <a:rPr lang="en-US" altLang="zh-CN"/>
              <a:t>”**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与灶户的关系从同情变为生死与共的同盟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绝境逢生，民众相救的震撼与感动</a:t>
            </a:r>
            <a:r>
              <a:rPr lang="en-US" altLang="zh-CN"/>
              <a:t>**</a:t>
            </a:r>
            <a:r>
              <a:rPr lang="zh-CN" altLang="en-US"/>
              <a:t>。主角的仁政初心换来回报，情感升华。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77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铁证如山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：遇袭事件震惊朝廷。皇帝震怒，下旨严查，并增派锦衣卫（原型，可称</a:t>
            </a:r>
            <a:r>
              <a:rPr lang="en-US" altLang="zh-CN"/>
              <a:t>“</a:t>
            </a:r>
            <a:r>
              <a:rPr lang="zh-CN" altLang="en-US"/>
              <a:t>翊卫</a:t>
            </a:r>
            <a:r>
              <a:rPr lang="en-US" altLang="zh-CN"/>
              <a:t>”</a:t>
            </a:r>
            <a:r>
              <a:rPr lang="zh-CN" altLang="en-US"/>
              <a:t>）精锐南下保护并协助陆沉。借此东风，陆沉不再顾忌，联合锦衣卫，以雷霆之势查封盐业总会及其核心成员家宅、商号。搜查结果惊人：不仅查获海量的暗账、行贿记录、与北方的秘密通信，更在总会密室发现私造的官印、兵甲（虽不多，但已属谋逆），以及大量未来得及转移的黄金白银。铁证如山，盐商集团核心罪行彻底暴露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如何利用突发事件（遇刺）升级事态，争取最高层支持，获得更强大的执行力量。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抄家搜查的技巧与发现关键证据的戏剧性。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获得决定性的、无可辩驳的物证</a:t>
            </a:r>
            <a:r>
              <a:rPr lang="en-US" altLang="zh-CN"/>
              <a:t>**</a:t>
            </a:r>
            <a:r>
              <a:rPr lang="zh-CN" altLang="en-US"/>
              <a:t>，足以将对手置于死地。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获得皇帝派来的强力武装支持（锦衣卫），掌控局面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犁庭扫穴，查获如山铁证</a:t>
            </a:r>
            <a:r>
              <a:rPr lang="en-US" altLang="zh-CN"/>
              <a:t>**</a:t>
            </a:r>
            <a:r>
              <a:rPr lang="zh-CN" altLang="en-US"/>
              <a:t>。前期所有铺垫在此刻爆发，收获成果的极致畅快。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78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案卷成，风云动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：陆沉主持，将所有证据</a:t>
            </a:r>
            <a:r>
              <a:rPr lang="en-US" altLang="zh-CN"/>
              <a:t>——</a:t>
            </a:r>
            <a:r>
              <a:rPr lang="zh-CN" altLang="en-US"/>
              <a:t>从灶户血泪状、走私口供物证、异常物流税收记录、盐务内账、行贿名单、到查获的密信、私造印信兵甲</a:t>
            </a:r>
            <a:r>
              <a:rPr lang="en-US" altLang="zh-CN"/>
              <a:t>——</a:t>
            </a:r>
            <a:r>
              <a:rPr lang="zh-CN" altLang="en-US"/>
              <a:t>系统整理，编纂成一部详实无比、逻辑严密的</a:t>
            </a:r>
            <a:r>
              <a:rPr lang="en-US" altLang="zh-CN"/>
              <a:t>**</a:t>
            </a:r>
            <a:r>
              <a:rPr lang="zh-CN" altLang="en-US"/>
              <a:t>《两淮盐政弊案总卷》</a:t>
            </a:r>
            <a:r>
              <a:rPr lang="en-US" altLang="zh-CN"/>
              <a:t>**</a:t>
            </a:r>
            <a:r>
              <a:rPr lang="zh-CN" altLang="en-US"/>
              <a:t>。案卷附上处理建议：主犯严惩、从犯按情节处置、退赔赃款、改革盐政（提出初步方案）。案卷通过锦衣卫特殊渠道，以最快速度直送御前。同时，消息已飞快传回京城，晋阳党及所有涉案官员陷入巨大恐慌，开始最后的挣扎或切割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最终报告（案卷）的整理艺术：要清晰、有力、无可辩驳。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如何利用案卷影响朝局：使其成为政治斗争的核武器。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完成盐案调查的终极成果</a:t>
            </a:r>
            <a:r>
              <a:rPr lang="en-US" altLang="zh-CN"/>
              <a:t>**</a:t>
            </a:r>
            <a:r>
              <a:rPr lang="zh-CN" altLang="en-US"/>
              <a:t>，这份案卷将成为他政治生涯的重要资本。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亲手将一枚重磅炸弹投入京城政治核心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铸造终极武器，发送致命一击</a:t>
            </a:r>
            <a:r>
              <a:rPr lang="en-US" altLang="zh-CN"/>
              <a:t>**</a:t>
            </a:r>
            <a:r>
              <a:rPr lang="zh-CN" altLang="en-US"/>
              <a:t>。展现成果汇总的宏大与严谨。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79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京城的涟漪（上）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案卷送达，皇帝御览，勃然大怒。朝堂之上，风暴骤起。林惟庸等清流官员趁机发力，要求严惩案卷所列所有贪官污吏、不法盐商。晋阳党全力辩护、切割、弃车保帅，一片混乱。皇帝态度强硬，下旨：涉案盐商总会核心成员就地正法，家产抄没；两淮盐运使等主要官员押解进京，交三司会审；案卷涉及京官，由内行厂、都察院、刑部联合严查。晋阳党遭受自把持朝政以来最沉重的打击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中央层面政治斗争的连锁反应：一个地方大案的爆发如何引发高层地震。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皇帝借势清洗政敌、收回权力的操作。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其调查成果直接引发朝廷高层政治地震</a:t>
            </a:r>
            <a:r>
              <a:rPr lang="en-US" altLang="zh-CN"/>
              <a:t>**</a:t>
            </a:r>
            <a:r>
              <a:rPr lang="zh-CN" altLang="en-US"/>
              <a:t>，影响力达到新高度。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晋阳党势力被大幅削弱</a:t>
            </a:r>
            <a:r>
              <a:rPr lang="en-US" altLang="zh-CN"/>
              <a:t>**</a:t>
            </a:r>
            <a:r>
              <a:rPr lang="zh-CN" altLang="en-US"/>
              <a:t>，政治格局开始改变。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幕后推动朝堂巨变</a:t>
            </a:r>
            <a:r>
              <a:rPr lang="en-US" altLang="zh-CN"/>
              <a:t>**</a:t>
            </a:r>
            <a:r>
              <a:rPr lang="zh-CN" altLang="en-US"/>
              <a:t>。虽远在扬州，却已搅动天下风云。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80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京城的涟漪（下）与归途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：陆沉因查案有功，皇帝下旨嘉奖，擢升其为</a:t>
            </a:r>
            <a:r>
              <a:rPr lang="en-US" altLang="zh-CN"/>
              <a:t>**</a:t>
            </a:r>
            <a:r>
              <a:rPr lang="zh-CN" altLang="en-US"/>
              <a:t>户部云南清吏司郎中（正五品）</a:t>
            </a:r>
            <a:r>
              <a:rPr lang="en-US" altLang="zh-CN"/>
              <a:t>**</a:t>
            </a:r>
            <a:r>
              <a:rPr lang="zh-CN" altLang="en-US"/>
              <a:t>，即日回京任职。这个职位颇为微妙：正是当初刁难他的那个部门，且主管边镇钱粮，权责更重。同时，皇帝下旨褒奖燕云都督杨啸</a:t>
            </a:r>
            <a:r>
              <a:rPr lang="en-US" altLang="zh-CN"/>
              <a:t>“</a:t>
            </a:r>
            <a:r>
              <a:rPr lang="zh-CN" altLang="en-US"/>
              <a:t>治军有方，为国守边</a:t>
            </a:r>
            <a:r>
              <a:rPr lang="en-US" altLang="zh-CN"/>
              <a:t>”</a:t>
            </a:r>
            <a:r>
              <a:rPr lang="zh-CN" altLang="en-US"/>
              <a:t>，并准其试行</a:t>
            </a:r>
            <a:r>
              <a:rPr lang="en-US" altLang="zh-CN"/>
              <a:t>“</a:t>
            </a:r>
            <a:r>
              <a:rPr lang="zh-CN" altLang="en-US"/>
              <a:t>军功授田</a:t>
            </a:r>
            <a:r>
              <a:rPr lang="en-US" altLang="zh-CN"/>
              <a:t>”</a:t>
            </a:r>
            <a:r>
              <a:rPr lang="zh-CN" altLang="en-US"/>
              <a:t>等新政。陆沉知道，这是皇帝对他和杨啸的进一步肯定与绑定。南下时是戴罪之身，北归时已是功成名就的五品京官。扬州百姓（尤其是灶户）夹道相送。陆沉看着运河之水，心中感慨，但更知京城等待他的，将是胜利后的新一轮复杂博弈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论功行赏的政治智慧：将功臣放到关键且曾受屈的岗位，既是补偿也是考验。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皇帝对边镇态度的转变与安抚。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实现官职的跨越式晋升（从正九品到正五品）</a:t>
            </a:r>
            <a:r>
              <a:rPr lang="en-US" altLang="zh-CN"/>
              <a:t>**</a:t>
            </a:r>
            <a:r>
              <a:rPr lang="zh-CN" altLang="en-US"/>
              <a:t>，正式步入中级官员行列。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圆满完成盐案任务，声望、地位、皇帝信任度均达到新高峰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携大功与威势，重返京城政治舞台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功成名就，衣锦还京</a:t>
            </a:r>
            <a:r>
              <a:rPr lang="en-US" altLang="zh-CN"/>
              <a:t>**</a:t>
            </a:r>
            <a:r>
              <a:rPr lang="zh-CN" altLang="en-US"/>
              <a:t>。达成阶段性重大目标，荣誉加身，为下一卷更高层次的斗争铺平道路。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 **</a:t>
            </a:r>
            <a:r>
              <a:rPr lang="zh-CN" altLang="en-US"/>
              <a:t>第二卷：京华棋局（第</a:t>
            </a:r>
            <a:r>
              <a:rPr lang="en-US" altLang="zh-CN"/>
              <a:t>81-85</a:t>
            </a:r>
            <a:r>
              <a:rPr lang="zh-CN" altLang="en-US"/>
              <a:t>章）详细章纲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81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归京盛誉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乘官船抵达承天码头，此番景象与初次入京时截然不同。户部、都察院均派员迎接，林惟庸亦遣子到场。码头人群中有敬佩目光，也有暗中窥探的复杂眼神。入城后，陆沉先是入宫觐见谢恩。皇帝于偏殿召见，温言嘉勉，称其</a:t>
            </a:r>
            <a:r>
              <a:rPr lang="en-US" altLang="zh-CN"/>
              <a:t>“</a:t>
            </a:r>
            <a:r>
              <a:rPr lang="zh-CN" altLang="en-US"/>
              <a:t>不负朕望，公忠体国</a:t>
            </a:r>
            <a:r>
              <a:rPr lang="en-US" altLang="zh-CN"/>
              <a:t>”</a:t>
            </a:r>
            <a:r>
              <a:rPr lang="zh-CN" altLang="en-US"/>
              <a:t>，并勉励其在户部任上</a:t>
            </a:r>
            <a:r>
              <a:rPr lang="en-US" altLang="zh-CN"/>
              <a:t>“</a:t>
            </a:r>
            <a:r>
              <a:rPr lang="zh-CN" altLang="en-US"/>
              <a:t>再接再厉，厘清积弊</a:t>
            </a:r>
            <a:r>
              <a:rPr lang="en-US" altLang="zh-CN"/>
              <a:t>”</a:t>
            </a:r>
            <a:r>
              <a:rPr lang="zh-CN" altLang="en-US"/>
              <a:t>。殿内仅有刘公公侍立，气氛看似和谐，但陆沉能感到皇帝目光中的审视与更深沉的期待。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功臣回朝的礼仪与政治象征意义。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皇帝与得力臣子的私下对话：既有褒奖，也有隐含的警告（功高不可震主，需继续效力）。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获得官方最高认可</a:t>
            </a:r>
            <a:r>
              <a:rPr lang="en-US" altLang="zh-CN"/>
              <a:t>**</a:t>
            </a:r>
            <a:r>
              <a:rPr lang="zh-CN" altLang="en-US"/>
              <a:t>，政治地位稳固。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感受到</a:t>
            </a:r>
            <a:r>
              <a:rPr lang="en-US" altLang="zh-CN"/>
              <a:t>“</a:t>
            </a:r>
            <a:r>
              <a:rPr lang="zh-CN" altLang="en-US"/>
              <a:t>圣眷正隆</a:t>
            </a:r>
            <a:r>
              <a:rPr lang="en-US" altLang="zh-CN"/>
              <a:t>”</a:t>
            </a:r>
            <a:r>
              <a:rPr lang="zh-CN" altLang="en-US"/>
              <a:t>背后的压力</a:t>
            </a:r>
            <a:r>
              <a:rPr lang="en-US" altLang="zh-CN"/>
              <a:t>**</a:t>
            </a:r>
            <a:r>
              <a:rPr lang="zh-CN" altLang="en-US"/>
              <a:t>，明白自己已无退路，必须继续向前。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荣耀加身的巅峰体验</a:t>
            </a:r>
            <a:r>
              <a:rPr lang="en-US" altLang="zh-CN"/>
              <a:t>**</a:t>
            </a:r>
            <a:r>
              <a:rPr lang="zh-CN" altLang="en-US"/>
              <a:t>。历经磨难后获得最高权力者的公开肯定，成就感激增。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82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祭奠与誓言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：陆沉没有先回新府邸，而是带着赵虎，来到城外一处荒坡，祭奠为保护证据而死的黄德、以及此前在斗争中牺牲的忠诚下属。他亲手斟酒，焚化纸钱，默默伫立良久。赵虎眼中含泪。陆沉沉声道：</a:t>
            </a:r>
            <a:r>
              <a:rPr lang="en-US" altLang="zh-CN"/>
              <a:t>“</a:t>
            </a:r>
            <a:r>
              <a:rPr lang="zh-CN" altLang="en-US"/>
              <a:t>诸位在天之灵且看，沉必不负汝等血泪，定要涤荡这朝中污浊，还天下一个清明。此路艰险，然吾往矣。</a:t>
            </a:r>
            <a:r>
              <a:rPr lang="en-US" altLang="zh-CN"/>
              <a:t>” </a:t>
            </a:r>
            <a:r>
              <a:rPr lang="zh-CN" altLang="en-US"/>
              <a:t>此景被暗中跟随的萧彻（已封为郡王）看见，更坚定了与陆沉共事的决心。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政治人物情感流露的场合与分寸：私下祭奠，展现重情重义一面，有利于凝聚团队。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通过旁人之眼（萧彻）侧面烘托主角的人格魅力。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完成情感上的宣泄与升华</a:t>
            </a:r>
            <a:r>
              <a:rPr lang="en-US" altLang="zh-CN"/>
              <a:t>**</a:t>
            </a:r>
            <a:r>
              <a:rPr lang="zh-CN" altLang="en-US"/>
              <a:t>，将悲痛化为更坚定的政治决心。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其重情重义的形象深入赵虎、萧彻等核心成员心中</a:t>
            </a:r>
            <a:r>
              <a:rPr lang="en-US" altLang="zh-CN"/>
              <a:t>**</a:t>
            </a:r>
            <a:r>
              <a:rPr lang="zh-CN" altLang="en-US"/>
              <a:t>，团队忠诚度进一步提升。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不忘故人，情义深重</a:t>
            </a:r>
            <a:r>
              <a:rPr lang="en-US" altLang="zh-CN"/>
              <a:t>**</a:t>
            </a:r>
            <a:r>
              <a:rPr lang="zh-CN" altLang="en-US"/>
              <a:t>。展现主角有血有肉、重情重义的一面，增强读者情感共鸣。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83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新职与旧敌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正式到户部云南清吏司上任。衙门内气氛微妙，昔日刁难他的那位主事已被调离（晋阳党失势的结果），其余属官表面恭顺，实则观望。陆沉迅速进入状态，凭借盐案积累的审计经验和秦望之的辅助，开始梳理本司所管的边镇钱粮账目，很快发现不少遗留问题和新出现的疑点。同时，他注意到晋阳党虽受重创，但百足之虫死而不僵，残余势力与以曹谨（已失势被贬，但仍有余威）为首的宦官保守派，开始出现合流迹象，对他虎视眈眈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新官上任如何立威并开展工作：从专业领域入手，展现能力，发现问题是建立权威的第一步。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政治对手的演变与重新组合：失败后的势力往往会寻找新的同盟。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在关键实权部门站稳脚跟，开始运用权力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敏锐察觉政治对手的新动向</a:t>
            </a:r>
            <a:r>
              <a:rPr lang="en-US" altLang="zh-CN"/>
              <a:t>**</a:t>
            </a:r>
            <a:r>
              <a:rPr lang="zh-CN" altLang="en-US"/>
              <a:t>，保持警惕。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强势回归，专业领域继续碾压</a:t>
            </a:r>
            <a:r>
              <a:rPr lang="en-US" altLang="zh-CN"/>
              <a:t>**</a:t>
            </a:r>
            <a:r>
              <a:rPr lang="zh-CN" altLang="en-US"/>
              <a:t>。在曾经受辱的地方，以主人姿态开始工作。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84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核心圈密议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新府邸（皇帝赏赐）的书房内，举行了一次秘密会议。参会者：陆沉、萧彻（郡王）、顾昭（已升任监察御史）、秦望之（伤势已愈，作为幕僚）、赵虎（侍卫长）。苏怀瑾虽未直接出席，但通过秦望之传递了内行厂最新动态。会议分析了当前局势：皇帝有意整顿朝纲，但需要倚重他们这股新兴力量；晋阳党与宦官残余是主要障碍；清流党内部需进一步分化拉拢。陆沉提出下一阶段目标：</a:t>
            </a:r>
            <a:r>
              <a:rPr lang="en-US" altLang="zh-CN"/>
              <a:t>**</a:t>
            </a:r>
            <a:r>
              <a:rPr lang="zh-CN" altLang="en-US"/>
              <a:t>以户部为支点，推动边镇财政改革和盐政后续改革，并伺机彻底清除曹谨等阉党残余，同时为萧彻争取更多政治资本</a:t>
            </a:r>
            <a:r>
              <a:rPr lang="en-US" altLang="zh-CN"/>
              <a:t>**</a:t>
            </a:r>
            <a:r>
              <a:rPr lang="zh-CN" altLang="en-US"/>
              <a:t>。众人达成共识，分工协作。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核心政治团体的形成与运作模式：定期密议，分析形势，制定战略，分工落实。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明确共同的政治纲领和阶段性目标。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建立起稳定、高效、目标一致的最高决策核心圈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完成从</a:t>
            </a:r>
            <a:r>
              <a:rPr lang="en-US" altLang="zh-CN"/>
              <a:t>“</a:t>
            </a:r>
            <a:r>
              <a:rPr lang="zh-CN" altLang="en-US"/>
              <a:t>做事</a:t>
            </a:r>
            <a:r>
              <a:rPr lang="en-US" altLang="zh-CN"/>
              <a:t>”</a:t>
            </a:r>
            <a:r>
              <a:rPr lang="zh-CN" altLang="en-US"/>
              <a:t>到</a:t>
            </a:r>
            <a:r>
              <a:rPr lang="en-US" altLang="zh-CN"/>
              <a:t>“</a:t>
            </a:r>
            <a:r>
              <a:rPr lang="zh-CN" altLang="en-US"/>
              <a:t>谋局</a:t>
            </a:r>
            <a:r>
              <a:rPr lang="en-US" altLang="zh-CN"/>
              <a:t>”</a:t>
            </a:r>
            <a:r>
              <a:rPr lang="zh-CN" altLang="en-US"/>
              <a:t>的彻底转变</a:t>
            </a:r>
            <a:r>
              <a:rPr lang="en-US" altLang="zh-CN"/>
              <a:t>**</a:t>
            </a:r>
            <a:r>
              <a:rPr lang="zh-CN" altLang="en-US"/>
              <a:t>，成为真正的政治棋手。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顶级智囊团成型，共谋大业</a:t>
            </a:r>
            <a:r>
              <a:rPr lang="en-US" altLang="zh-CN"/>
              <a:t>**</a:t>
            </a:r>
            <a:r>
              <a:rPr lang="zh-CN" altLang="en-US"/>
              <a:t>。展现团队的力量和主角作为核心的凝聚力。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85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余波与新程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：林惟庸主动拜访陆沉，态度比以往更加亲近，暗示清流党中</a:t>
            </a:r>
            <a:r>
              <a:rPr lang="en-US" altLang="zh-CN"/>
              <a:t>“</a:t>
            </a:r>
            <a:r>
              <a:rPr lang="zh-CN" altLang="en-US"/>
              <a:t>实务派</a:t>
            </a:r>
            <a:r>
              <a:rPr lang="en-US" altLang="zh-CN"/>
              <a:t>”</a:t>
            </a:r>
            <a:r>
              <a:rPr lang="zh-CN" altLang="en-US"/>
              <a:t>将更加支持陆沉的改革主张。与此同时，宫中传出消息，皇帝身体近来时有小恙，虽不严重，但引发了关于储位（太子早夭，未立新储）的隐秘议论。一些原本中立的官员开始悄悄向崭露头角的萧彻靠拢。陆沉站在户部衙门的窗边，看着暮色中的皇城，深知</a:t>
            </a:r>
            <a:r>
              <a:rPr lang="en-US" altLang="zh-CN"/>
              <a:t>**</a:t>
            </a:r>
            <a:r>
              <a:rPr lang="zh-CN" altLang="en-US"/>
              <a:t>盐案风波已平，但更大的风暴</a:t>
            </a:r>
            <a:r>
              <a:rPr lang="en-US" altLang="zh-CN"/>
              <a:t>——</a:t>
            </a:r>
            <a:r>
              <a:rPr lang="zh-CN" altLang="en-US"/>
              <a:t>涉及国本、朝局根本变革的暴风雨</a:t>
            </a:r>
            <a:r>
              <a:rPr lang="en-US" altLang="zh-CN"/>
              <a:t>——</a:t>
            </a:r>
            <a:r>
              <a:rPr lang="zh-CN" altLang="en-US"/>
              <a:t>正在酝酿。他的征程，从求存到崛起，如今已真正踏入决定帝国命运的核心漩涡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政治胜利带来的连锁效应：吸引新的盟友，改变权力格局。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最高权力（皇权）的健康状况是影响朝局的最根本变量，为下一卷的皇位之争埋下伏笔。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政治影响力进一步扩大，获得清流实务派更明确的支持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明确下一阶段的核心矛盾将围绕</a:t>
            </a:r>
            <a:r>
              <a:rPr lang="en-US" altLang="zh-CN"/>
              <a:t>“</a:t>
            </a:r>
            <a:r>
              <a:rPr lang="zh-CN" altLang="en-US"/>
              <a:t>国本</a:t>
            </a:r>
            <a:r>
              <a:rPr lang="en-US" altLang="zh-CN"/>
              <a:t>”</a:t>
            </a:r>
            <a:r>
              <a:rPr lang="zh-CN" altLang="en-US"/>
              <a:t>（储君）和</a:t>
            </a:r>
            <a:r>
              <a:rPr lang="en-US" altLang="zh-CN"/>
              <a:t>“</a:t>
            </a:r>
            <a:r>
              <a:rPr lang="zh-CN" altLang="en-US"/>
              <a:t>根本改革</a:t>
            </a:r>
            <a:r>
              <a:rPr lang="en-US" altLang="zh-CN"/>
              <a:t>”</a:t>
            </a:r>
            <a:r>
              <a:rPr lang="zh-CN" altLang="en-US"/>
              <a:t>展开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第二卷收官</a:t>
            </a:r>
            <a:r>
              <a:rPr lang="en-US" altLang="zh-CN"/>
              <a:t>**</a:t>
            </a:r>
            <a:r>
              <a:rPr lang="zh-CN" altLang="en-US"/>
              <a:t>：陆沉完成了从边疆能吏到朝廷干臣，再到政治集团核心的蜕变。盐案之功让他站稳脚跟，但更大的舞台（决定皇位继承、推行全国性改革）和更强的对手（整合后的保守势力）已在眼前。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承前启后，展望更高格局</a:t>
            </a:r>
            <a:r>
              <a:rPr lang="en-US" altLang="zh-CN"/>
              <a:t>**</a:t>
            </a:r>
            <a:r>
              <a:rPr lang="zh-CN" altLang="en-US"/>
              <a:t>。在阶段性胜利的喜悦中，敏锐察觉更大的挑战，将故事推向最终卷的宏大叙事。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 **</a:t>
            </a:r>
            <a:r>
              <a:rPr lang="zh-CN" altLang="en-US"/>
              <a:t>第三卷：鼎革天下（第</a:t>
            </a:r>
            <a:r>
              <a:rPr lang="en-US" altLang="zh-CN"/>
              <a:t>86-90</a:t>
            </a:r>
            <a:r>
              <a:rPr lang="zh-CN" altLang="en-US"/>
              <a:t>章）详细章纲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86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帝恙与暗流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皇帝病情逐渐加重，虽仍勉强临朝，但精力不济，决策多依赖司礼监（新掌印为相对中立的刘公公）与内阁。朝中暗流汹涌，关于立储的议论从私密走向半公开。主要候选人：皇长子（庸懦，晋阳党残余及部分保守派支持）、皇三子（年幼，其母族为新兴军功世家）、</a:t>
            </a:r>
            <a:r>
              <a:rPr lang="en-US" altLang="zh-CN"/>
              <a:t>**</a:t>
            </a:r>
            <a:r>
              <a:rPr lang="zh-CN" altLang="en-US"/>
              <a:t>皇七子萧彻</a:t>
            </a:r>
            <a:r>
              <a:rPr lang="en-US" altLang="zh-CN"/>
              <a:t>**</a:t>
            </a:r>
            <a:r>
              <a:rPr lang="zh-CN" altLang="en-US"/>
              <a:t>（因盐案等事展现能力，得陆沉等实务派及部分清流支持）。曹谨虽被贬黜，但其在宫中、内行厂的残余势力与晋阳党残余合流，暗中支持皇长子，企图东山再起。陆沉与萧彻、核心圈研判：必须在皇帝尚能主事时，推动明确储位，否则一旦皇帝突然驾崩，必将天下大乱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皇帝健康对政治稳定的决定性影响。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储位争夺中各派系的合纵连横：利益而非血缘或道德是结盟基础。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明确终极政治任务：扶植萧彻上位，以推行彻底改革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面临政治生涯中最大、最危险的赌局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介入最高权力传承的紧张与使命感</a:t>
            </a:r>
            <a:r>
              <a:rPr lang="en-US" altLang="zh-CN"/>
              <a:t>**</a:t>
            </a:r>
            <a:r>
              <a:rPr lang="zh-CN" altLang="en-US"/>
              <a:t>。主角正式踏入决定帝国命运的核心棋局。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87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新政试刀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：陆沉以户部职权，联合兵部、工部中志同道合者，在皇帝默许下，于燕云镇及另外两个相对可控的边镇，全面试行</a:t>
            </a:r>
            <a:r>
              <a:rPr lang="en-US" altLang="zh-CN"/>
              <a:t> **“</a:t>
            </a:r>
            <a:r>
              <a:rPr lang="zh-CN" altLang="en-US"/>
              <a:t>新政三条</a:t>
            </a:r>
            <a:r>
              <a:rPr lang="en-US" altLang="zh-CN"/>
              <a:t>”**</a:t>
            </a:r>
            <a:r>
              <a:rPr lang="zh-CN" altLang="en-US"/>
              <a:t>：</a:t>
            </a:r>
            <a:r>
              <a:rPr lang="en-US" altLang="zh-CN"/>
              <a:t>1. **</a:t>
            </a:r>
            <a:r>
              <a:rPr lang="zh-CN" altLang="en-US"/>
              <a:t>军功授田与卫所整顿</a:t>
            </a:r>
            <a:r>
              <a:rPr lang="en-US" altLang="zh-CN"/>
              <a:t>**</a:t>
            </a:r>
            <a:r>
              <a:rPr lang="zh-CN" altLang="en-US"/>
              <a:t>（融合）；</a:t>
            </a:r>
            <a:r>
              <a:rPr lang="en-US" altLang="zh-CN"/>
              <a:t>2. **</a:t>
            </a:r>
            <a:r>
              <a:rPr lang="zh-CN" altLang="en-US"/>
              <a:t>盐、铁、马专营改良</a:t>
            </a:r>
            <a:r>
              <a:rPr lang="en-US" altLang="zh-CN"/>
              <a:t>**</a:t>
            </a:r>
            <a:r>
              <a:rPr lang="zh-CN" altLang="en-US"/>
              <a:t>（引入竞标，打破世族垄断）；</a:t>
            </a:r>
            <a:r>
              <a:rPr lang="en-US" altLang="zh-CN"/>
              <a:t>3. **</a:t>
            </a:r>
            <a:r>
              <a:rPr lang="zh-CN" altLang="en-US"/>
              <a:t>官吏考成与审计常态化</a:t>
            </a:r>
            <a:r>
              <a:rPr lang="en-US" altLang="zh-CN"/>
              <a:t>**</a:t>
            </a:r>
            <a:r>
              <a:rPr lang="zh-CN" altLang="en-US"/>
              <a:t>。此举触动了从地方到中央无数既得利益者的神经，反对声浪骤起，但燕云镇因杨啸坐镇及前期基础，成效初显，军心民心振奋，成为新政</a:t>
            </a:r>
            <a:r>
              <a:rPr lang="en-US" altLang="zh-CN"/>
              <a:t>“</a:t>
            </a:r>
            <a:r>
              <a:rPr lang="zh-CN" altLang="en-US"/>
              <a:t>样板</a:t>
            </a:r>
            <a:r>
              <a:rPr lang="en-US" altLang="zh-CN"/>
              <a:t>”</a:t>
            </a:r>
            <a:r>
              <a:rPr lang="zh-CN" altLang="en-US"/>
              <a:t>。陆沉以此为例，在朝堂上力排众议，为新政争取扩大试点的空间。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改革从试点开始，积累经验与成绩，减少阻力。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如何利用</a:t>
            </a:r>
            <a:r>
              <a:rPr lang="en-US" altLang="zh-CN"/>
              <a:t>“</a:t>
            </a:r>
            <a:r>
              <a:rPr lang="zh-CN" altLang="en-US"/>
              <a:t>样板工程</a:t>
            </a:r>
            <a:r>
              <a:rPr lang="en-US" altLang="zh-CN"/>
              <a:t>”</a:t>
            </a:r>
            <a:r>
              <a:rPr lang="zh-CN" altLang="en-US"/>
              <a:t>进行政治宣传和说服。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将政治理念转化为具体政策并落地，接受实践检验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获得宝贵的改革实践经验与数据，也积累了更多的反对者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亲手缔造新秩序的雏形</a:t>
            </a:r>
            <a:r>
              <a:rPr lang="en-US" altLang="zh-CN"/>
              <a:t>**</a:t>
            </a:r>
            <a:r>
              <a:rPr lang="zh-CN" altLang="en-US"/>
              <a:t>。看到自己的理念在现实中开花结果，成就感巨大。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88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刺王杀驾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反对派狗急跳墙。一次皇帝前往京郊祭天途中，遭遇精心策划的刺杀！刺客伪装成禁军，直扑御驾。千钧一发之际，萧彻（随行）奋不顾身护驾，身中一箭。赵虎率领的、已暗中渗透部分禁卫的陆沉系力量拼死抵抗，配合忠诚禁军平定乱局。皇帝受惊，但无恙。萧彻的英勇护驾行为在皇帝心中分量骤增。经刘公公和内行厂另一派系彻查，线索隐隐指向曹谨余党与晋阳党残余勾结，但关键人物已灭口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政治斗争中最极端的手段：刺杀皇帝或竞争对手。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如何利用突发事件（护驾）获取政治资本，以及如何追查并利用刺杀事件打击政敌。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萧彻获得</a:t>
            </a:r>
            <a:r>
              <a:rPr lang="en-US" altLang="zh-CN"/>
              <a:t>“</a:t>
            </a:r>
            <a:r>
              <a:rPr lang="zh-CN" altLang="en-US"/>
              <a:t>忠勇孝悌</a:t>
            </a:r>
            <a:r>
              <a:rPr lang="en-US" altLang="zh-CN"/>
              <a:t>”</a:t>
            </a:r>
            <a:r>
              <a:rPr lang="zh-CN" altLang="en-US"/>
              <a:t>的巨大政治声望和皇帝更深信任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获得清洗反对派（尤其是宦官中曹谨余党）的绝佳借口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危机中的英勇表现与政治收获</a:t>
            </a:r>
            <a:r>
              <a:rPr lang="en-US" altLang="zh-CN"/>
              <a:t>**</a:t>
            </a:r>
            <a:r>
              <a:rPr lang="zh-CN" altLang="en-US"/>
              <a:t>。惊险刺激的刺杀与护驾场面，带来巨大的戏剧转折和收益。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89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清洗与布局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借刺杀案东风，皇帝下旨，由刘公公、陆沉（协理）、萧彻督办，对内行厂及禁军进行大规模清洗。曹谨余党被连根拔起，晋阳党在军中的一些隐秘联系也被斩断。陆沉趁机安插更多可信之人进入关键岗位，尤其是掌握了一部分京城防务和情报系统。萧彻被正式册封为</a:t>
            </a:r>
            <a:r>
              <a:rPr lang="en-US" altLang="zh-CN"/>
              <a:t> **“</a:t>
            </a:r>
            <a:r>
              <a:rPr lang="zh-CN" altLang="en-US"/>
              <a:t>宸王</a:t>
            </a:r>
            <a:r>
              <a:rPr lang="en-US" altLang="zh-CN"/>
              <a:t>”** </a:t>
            </a:r>
            <a:r>
              <a:rPr lang="zh-CN" altLang="en-US"/>
              <a:t>，参与枢机议事，地位俨然超越诸皇子。反对派势力遭到重创，暂时转入地下蛰伏。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政治清洗的步骤与尺度：需有正当理由（刺驾），抓大放小，避免逼反整个官僚体系。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权力真空的填补：如何安插自己人，控制关键部门（京营、特务机构）。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萧彻取得决定性优势，离储位仅一步之遥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陆沉团队实际掌控了部分京城武力与情报网络</a:t>
            </a:r>
            <a:r>
              <a:rPr lang="en-US" altLang="zh-CN"/>
              <a:t>**</a:t>
            </a:r>
            <a:r>
              <a:rPr lang="zh-CN" altLang="en-US"/>
              <a:t>，为最终对决打下基础。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借势清理对手，扩大己方权力</a:t>
            </a:r>
            <a:r>
              <a:rPr lang="en-US" altLang="zh-CN"/>
              <a:t>**</a:t>
            </a:r>
            <a:r>
              <a:rPr lang="zh-CN" altLang="en-US"/>
              <a:t>。利用合法名义进行精准打击，巩固胜利果实。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90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最后的反扑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：反对派意识到已到生死存亡关头。皇长子一系的残余力量，勾结了北境另外两个对燕云镇和新政不满的军镇（陇西、平卢）都督，以及朝中部分极端保守的文官，酝酿一个惊人的计划：</a:t>
            </a:r>
            <a:r>
              <a:rPr lang="en-US" altLang="zh-CN"/>
              <a:t>**</a:t>
            </a:r>
            <a:r>
              <a:rPr lang="zh-CN" altLang="en-US"/>
              <a:t>伪造皇帝遗诏，策动边军以</a:t>
            </a:r>
            <a:r>
              <a:rPr lang="en-US" altLang="zh-CN"/>
              <a:t>“</a:t>
            </a:r>
            <a:r>
              <a:rPr lang="zh-CN" altLang="en-US"/>
              <a:t>清君侧、诛陆沉</a:t>
            </a:r>
            <a:r>
              <a:rPr lang="en-US" altLang="zh-CN"/>
              <a:t>”</a:t>
            </a:r>
            <a:r>
              <a:rPr lang="zh-CN" altLang="en-US"/>
              <a:t>为名南下，里应外合，废黜萧彻，拥立皇长子</a:t>
            </a:r>
            <a:r>
              <a:rPr lang="en-US" altLang="zh-CN"/>
              <a:t>**</a:t>
            </a:r>
            <a:r>
              <a:rPr lang="zh-CN" altLang="en-US"/>
              <a:t>。同时，他们在京城散布谣言，攻击陆沉</a:t>
            </a:r>
            <a:r>
              <a:rPr lang="en-US" altLang="zh-CN"/>
              <a:t>“</a:t>
            </a:r>
            <a:r>
              <a:rPr lang="zh-CN" altLang="en-US"/>
              <a:t>权倾朝野、架空皇帝、欲行王莽之事</a:t>
            </a:r>
            <a:r>
              <a:rPr lang="en-US" altLang="zh-CN"/>
              <a:t>”</a:t>
            </a:r>
            <a:r>
              <a:rPr lang="zh-CN" altLang="en-US"/>
              <a:t>。山雨欲来风满楼，最终的全面对决，已不可避免。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失败一方可能采取的终极手段：军事政变</a:t>
            </a:r>
            <a:r>
              <a:rPr lang="en-US" altLang="zh-CN"/>
              <a:t>+</a:t>
            </a:r>
            <a:r>
              <a:rPr lang="zh-CN" altLang="en-US"/>
              <a:t>舆论攻击。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如何应对多方（边镇、朝臣、舆论）联合发难的复杂局面。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通过情报网络，提前获悉反扑计划的轮廓，但细节不详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面临执政以来最严峻的全面挑战，涉及军事、政治、舆论多线作战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终极反派亮出底牌，大战前夕的极致压迫感</a:t>
            </a:r>
            <a:r>
              <a:rPr lang="en-US" altLang="zh-CN"/>
              <a:t>**</a:t>
            </a:r>
            <a:r>
              <a:rPr lang="zh-CN" altLang="en-US"/>
              <a:t>。将所有矛盾汇聚，为最终高潮蓄力。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zh-CN" altLang="en-US"/>
              <a:t>请确认以上</a:t>
            </a:r>
            <a:r>
              <a:rPr lang="en-US" altLang="zh-CN"/>
              <a:t>86-90</a:t>
            </a:r>
            <a:r>
              <a:rPr lang="zh-CN" altLang="en-US"/>
              <a:t>章内容。确认后，我将为您呈现第</a:t>
            </a:r>
            <a:r>
              <a:rPr lang="en-US" altLang="zh-CN"/>
              <a:t>91-100</a:t>
            </a:r>
            <a:r>
              <a:rPr lang="zh-CN" altLang="en-US"/>
              <a:t>章（全书高潮与结局）的详细梗概。</a:t>
            </a:r>
            <a:r>
              <a:rPr lang="en-US" altLang="zh-CN"/>
              <a:t># **</a:t>
            </a:r>
            <a:r>
              <a:rPr lang="zh-CN" altLang="en-US"/>
              <a:t>第三卷：鼎革天下（第</a:t>
            </a:r>
            <a:r>
              <a:rPr lang="en-US" altLang="zh-CN"/>
              <a:t>91-100</a:t>
            </a:r>
            <a:r>
              <a:rPr lang="zh-CN" altLang="en-US"/>
              <a:t>章）详细章纲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91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运筹帷幄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于宸王府密室召开最终战略会议。与会者：萧彻、陆沉、顾昭、秦望之、赵虎，以及秘密进京的燕云都督杨啸（以述职为名）。苏怀瑾（已转入更深的隐蔽状态）传递来陇西、平卢两镇异动及京城内潜伏敌对分子名单的最后确认信息。陆沉提出总体战略：</a:t>
            </a:r>
            <a:r>
              <a:rPr lang="en-US" altLang="zh-CN"/>
              <a:t>**1. </a:t>
            </a:r>
            <a:r>
              <a:rPr lang="zh-CN" altLang="en-US"/>
              <a:t>情报与分化</a:t>
            </a:r>
            <a:r>
              <a:rPr lang="en-US" altLang="zh-CN"/>
              <a:t>**</a:t>
            </a:r>
            <a:r>
              <a:rPr lang="zh-CN" altLang="en-US"/>
              <a:t>：利用边镇之间的矛盾（平卢与陇西素有旧怨），以及两镇内部并非铁板一块，进行策反、离间。</a:t>
            </a:r>
            <a:r>
              <a:rPr lang="en-US" altLang="zh-CN"/>
              <a:t>**2. </a:t>
            </a:r>
            <a:r>
              <a:rPr lang="zh-CN" altLang="en-US"/>
              <a:t>军事防御与威慑</a:t>
            </a:r>
            <a:r>
              <a:rPr lang="en-US" altLang="zh-CN"/>
              <a:t>**</a:t>
            </a:r>
            <a:r>
              <a:rPr lang="zh-CN" altLang="en-US"/>
              <a:t>：杨啸率燕云精锐秘密南下至京畿外围预设阵地，同时传令其余忠诚边镇向陇西、平卢施压。</a:t>
            </a:r>
            <a:r>
              <a:rPr lang="en-US" altLang="zh-CN"/>
              <a:t>**3. </a:t>
            </a:r>
            <a:r>
              <a:rPr lang="zh-CN" altLang="en-US"/>
              <a:t>政治与舆论</a:t>
            </a:r>
            <a:r>
              <a:rPr lang="en-US" altLang="zh-CN"/>
              <a:t>**</a:t>
            </a:r>
            <a:r>
              <a:rPr lang="zh-CN" altLang="en-US"/>
              <a:t>：萧彻主动请求代皇帝巡视京营、慰问禁军，公开亮相，稳定人心；顾昭等发动清流舆论，驳斥谣言，揭露对方勾结边将、图谋不轨。</a:t>
            </a:r>
            <a:r>
              <a:rPr lang="en-US" altLang="zh-CN"/>
              <a:t>**4. </a:t>
            </a:r>
            <a:r>
              <a:rPr lang="zh-CN" altLang="en-US"/>
              <a:t>最终一击</a:t>
            </a:r>
            <a:r>
              <a:rPr lang="en-US" altLang="zh-CN"/>
              <a:t>**</a:t>
            </a:r>
            <a:r>
              <a:rPr lang="zh-CN" altLang="en-US"/>
              <a:t>：在对方动手前或动手时，利用已掌控的京城力量，擒贼先擒王。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多维度（军政情舆）一体化应对全面危机的战略规划。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古代通讯与军队调动的极限运用（密令、快速机动）。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展现作为最高统帅的全局谋划能力</a:t>
            </a:r>
            <a:r>
              <a:rPr lang="en-US" altLang="zh-CN"/>
              <a:t>**</a:t>
            </a:r>
            <a:r>
              <a:rPr lang="zh-CN" altLang="en-US"/>
              <a:t>，整合所有资源应对终极挑战。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核心团队高度协同，各司其职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全盘布局，算无遗策的掌控感</a:t>
            </a:r>
            <a:r>
              <a:rPr lang="en-US" altLang="zh-CN"/>
              <a:t>**</a:t>
            </a:r>
            <a:r>
              <a:rPr lang="zh-CN" altLang="en-US"/>
              <a:t>。如同最高明的棋手，落子前已看到终局。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92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风声鹤唳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京城气氛极度紧张。对方开始行动：潜伏分子在城内多处纵火、制造混乱；谣言甚嚣尘上；皇长子称病不朝，其府邸戒备森严。萧彻依计高调巡视京营，发表激昂演说，赏赐丰厚，京营军心渐稳。陆沉坐镇户部，表面如常处理公务，实则通过赵虎和秘密网络，监控城内一切异动，并开始秘密抓捕名单上的核心敌对分子。秦望之则负责统筹后方钱粮物资，保障行动。皇帝病重，几乎无法理事，刘公公传出口谕：一切事宜，由宸王萧彻与诸位大臣</a:t>
            </a:r>
            <a:r>
              <a:rPr lang="en-US" altLang="zh-CN"/>
              <a:t>“</a:t>
            </a:r>
            <a:r>
              <a:rPr lang="zh-CN" altLang="en-US"/>
              <a:t>斟酌处置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危机时刻的公开姿态（萧彻巡营）对稳定局势的重要性。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特务与反特务斗争的实战：监控、抓捕、反制。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成功稳住京城基本盘，并开始清除内部隐患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获得皇帝事实上的全权委托</a:t>
            </a:r>
            <a:r>
              <a:rPr lang="en-US" altLang="zh-CN"/>
              <a:t>**</a:t>
            </a:r>
            <a:r>
              <a:rPr lang="zh-CN" altLang="en-US"/>
              <a:t>（通过刘公公）。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正面应对危机，步步为营</a:t>
            </a:r>
            <a:r>
              <a:rPr lang="en-US" altLang="zh-CN"/>
              <a:t>**</a:t>
            </a:r>
            <a:r>
              <a:rPr lang="zh-CN" altLang="en-US"/>
              <a:t>。在动荡中展现定力与执行力，逐步夺回主动权。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93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离间计成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陆沉的离间计见效。派往平卢镇的密使成功说服平卢都督手下的一名重要副将（曾受杨啸恩惠，且对陇西镇不满），使其在关键时刻按兵不动，并提供了平卢军的部分行动计划。同时，陇西镇内部因粮草分配问题产生龃龉，进军速度迟缓。两镇联合南下的威胁被大幅削弱。杨啸的燕云精锐已悄然抵达京畿外围，对两镇叛军形成侧翼威慑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“</a:t>
            </a:r>
            <a:r>
              <a:rPr lang="zh-CN" altLang="en-US"/>
              <a:t>上兵伐谋，其次伐交</a:t>
            </a:r>
            <a:r>
              <a:rPr lang="en-US" altLang="zh-CN"/>
              <a:t>”</a:t>
            </a:r>
            <a:r>
              <a:rPr lang="zh-CN" altLang="en-US"/>
              <a:t>的实际运用。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对边镇将领心理、利益关系、历史恩怨的精准把握与利用。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不战而屈人之兵，成功化解最大外部军事威胁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获得叛军内部情报，知己知彼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智谋化解百万兵</a:t>
            </a:r>
            <a:r>
              <a:rPr lang="en-US" altLang="zh-CN"/>
              <a:t>**</a:t>
            </a:r>
            <a:r>
              <a:rPr lang="zh-CN" altLang="en-US"/>
              <a:t>。无需血战，仅凭谋略便使敌人联盟瓦解，攻势受挫。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94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宫变日（上）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：反对派见外部军事压力未能如期形成，决定孤注一掷，发动宫廷政变。皇长子在其府邸被拥立，在部分不明真相或被收买的禁军军官配合下，率死士直扑皇城，声称</a:t>
            </a:r>
            <a:r>
              <a:rPr lang="en-US" altLang="zh-CN"/>
              <a:t>“</a:t>
            </a:r>
            <a:r>
              <a:rPr lang="zh-CN" altLang="en-US"/>
              <a:t>奉密诏勤王，铲除奸佞陆沉</a:t>
            </a:r>
            <a:r>
              <a:rPr lang="en-US" altLang="zh-CN"/>
              <a:t>”</a:t>
            </a:r>
            <a:r>
              <a:rPr lang="zh-CN" altLang="en-US"/>
              <a:t>。皇城守卫一时混乱。萧彻、陆沉早有预案，赵虎率精锐提前控制了几处关键宫门，刘公公也指挥可信宦官关闭内宫门。双方在皇城内外爆发激烈战斗。陆沉亲临一线（在安全位置）指挥调度，利用对皇宫地形的熟悉（苏怀瑾曾提供详细图纸），调动小股精兵通过密道、夹墙进行突袭和分割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古代宫廷政变的典型模式与反制措施。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特种作战与小分队战术在宫廷争夺中的应用。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亲身指挥决定帝国命运的终极一战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前期所有准备（地形、人员、情报）在此刻发挥作用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终极对决的军事场面，智勇结合</a:t>
            </a:r>
            <a:r>
              <a:rPr lang="en-US" altLang="zh-CN"/>
              <a:t>**</a:t>
            </a:r>
            <a:r>
              <a:rPr lang="zh-CN" altLang="en-US"/>
              <a:t>。皇宫内的生死搏杀，紧张刺激。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95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宫变日（下）</a:t>
            </a:r>
            <a:r>
              <a:rPr lang="en-US" altLang="zh-CN"/>
              <a:t>·</a:t>
            </a:r>
            <a:r>
              <a:rPr lang="zh-CN" altLang="en-US"/>
              <a:t>最终高潮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：战斗进入白热化。皇长子死士一度攻至皇帝寝宫外。关键时刻，杨啸率领的燕云骑兵精锐如神兵天降，从已暗中控制的侧门杀入皇城，与赵虎部里应外合，彻底击溃叛军。皇长子被生擒。</a:t>
            </a:r>
            <a:r>
              <a:rPr lang="en-US" altLang="zh-CN"/>
              <a:t>**</a:t>
            </a:r>
            <a:r>
              <a:rPr lang="zh-CN" altLang="en-US"/>
              <a:t>皇帝在寝宫内，弥留之际，召见萧彻、陆沉、刘公公及几位重臣。当着众人面，皇帝亲口传位于萧彻，并留下遗诏，命陆沉、刘公公等人辅政，推行新政，巩固社稷。言毕，驾崩</a:t>
            </a:r>
            <a:r>
              <a:rPr lang="en-US" altLang="zh-CN"/>
              <a:t>**</a:t>
            </a:r>
            <a:r>
              <a:rPr lang="zh-CN" altLang="en-US"/>
              <a:t>。萧彻痛哭，继而于灵前即位。陆沉肃立一旁，心中并无多少喜悦，只有沉重的责任与对未来的思虑。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皇权更迭的最终法定程序：遗诏、辅政安排。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高潮后立刻转入权力交接的肃穆与沉重，避免纯粹的热血。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取得全面胜利，萧彻登基，自身成为首席辅政重臣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获得先帝遗命，改革大业获得最高合法性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终极胜利与权力交接的历史时刻</a:t>
            </a:r>
            <a:r>
              <a:rPr lang="en-US" altLang="zh-CN"/>
              <a:t>**</a:t>
            </a:r>
            <a:r>
              <a:rPr lang="zh-CN" altLang="en-US"/>
              <a:t>。所有努力获得最终回报，主角团队抵达权力巅峰。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96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肃清与赏罚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：新帝萧彻（年号暂定</a:t>
            </a:r>
            <a:r>
              <a:rPr lang="en-US" altLang="zh-CN"/>
              <a:t>“</a:t>
            </a:r>
            <a:r>
              <a:rPr lang="zh-CN" altLang="en-US"/>
              <a:t>昭武</a:t>
            </a:r>
            <a:r>
              <a:rPr lang="en-US" altLang="zh-CN"/>
              <a:t>”</a:t>
            </a:r>
            <a:r>
              <a:rPr lang="zh-CN" altLang="en-US"/>
              <a:t>）即位后，第一道旨意便是论功行赏，第二道旨意则是肃清叛逆。陆沉晋位</a:t>
            </a:r>
            <a:r>
              <a:rPr lang="en-US" altLang="zh-CN"/>
              <a:t>**</a:t>
            </a:r>
            <a:r>
              <a:rPr lang="zh-CN" altLang="en-US"/>
              <a:t>内阁首辅、太子太保（虚衔）</a:t>
            </a:r>
            <a:r>
              <a:rPr lang="en-US" altLang="zh-CN"/>
              <a:t>**</a:t>
            </a:r>
            <a:r>
              <a:rPr lang="zh-CN" altLang="en-US"/>
              <a:t>，总领朝政；杨啸加封世袭国公，仍镇燕云；顾昭、秦望之、赵虎等各有封赏。皇长子及主要党羽被赐死（或自尽），其党羽或被清算，或流放。陇西、平卢两镇都督被革职查办，其势力被拆分。朝堂为之一清。但陆沉在具体处置时，力主</a:t>
            </a:r>
            <a:r>
              <a:rPr lang="en-US" altLang="zh-CN"/>
              <a:t>“</a:t>
            </a:r>
            <a:r>
              <a:rPr lang="zh-CN" altLang="en-US"/>
              <a:t>诛首恶，胁从有别</a:t>
            </a:r>
            <a:r>
              <a:rPr lang="en-US" altLang="zh-CN"/>
              <a:t>”</a:t>
            </a:r>
            <a:r>
              <a:rPr lang="zh-CN" altLang="en-US"/>
              <a:t>，避免扩大化，以稳定人心。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新皇登基后的标准操作：赏功罚过，树立权威，稳定局面。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政治清算的艺术：把握尺度，防止反弹，体现新政权的</a:t>
            </a:r>
            <a:r>
              <a:rPr lang="en-US" altLang="zh-CN"/>
              <a:t>“</a:t>
            </a:r>
            <a:r>
              <a:rPr lang="zh-CN" altLang="en-US"/>
              <a:t>仁政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法治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正式成为文官之首，达到权力顶峰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展现作为执政者的胸襟与理性，不一味杀戮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论功行赏的满足感与掌控局面的权威感</a:t>
            </a:r>
            <a:r>
              <a:rPr lang="en-US" altLang="zh-CN"/>
              <a:t>**</a:t>
            </a:r>
            <a:r>
              <a:rPr lang="zh-CN" altLang="en-US"/>
              <a:t>。尘埃落定，英雄得报。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97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新政天下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：政局稳定后，陆沉以首辅之尊，全力推行酝酿已久的</a:t>
            </a:r>
            <a:r>
              <a:rPr lang="en-US" altLang="zh-CN"/>
              <a:t> **</a:t>
            </a:r>
            <a:r>
              <a:rPr lang="zh-CN" altLang="en-US"/>
              <a:t>《昭武新政纲领》</a:t>
            </a:r>
            <a:r>
              <a:rPr lang="en-US" altLang="zh-CN"/>
              <a:t>** </a:t>
            </a:r>
            <a:r>
              <a:rPr lang="zh-CN" altLang="en-US"/>
              <a:t>，内容涵盖：</a:t>
            </a:r>
            <a:r>
              <a:rPr lang="en-US" altLang="zh-CN"/>
              <a:t>**</a:t>
            </a:r>
            <a:r>
              <a:rPr lang="zh-CN" altLang="en-US"/>
              <a:t>政治</a:t>
            </a:r>
            <a:r>
              <a:rPr lang="en-US" altLang="zh-CN"/>
              <a:t>**</a:t>
            </a:r>
            <a:r>
              <a:rPr lang="zh-CN" altLang="en-US"/>
              <a:t>（整顿吏治、强化监察、推行考成）；</a:t>
            </a:r>
            <a:r>
              <a:rPr lang="en-US" altLang="zh-CN"/>
              <a:t>**</a:t>
            </a:r>
            <a:r>
              <a:rPr lang="zh-CN" altLang="en-US"/>
              <a:t>经济</a:t>
            </a:r>
            <a:r>
              <a:rPr lang="en-US" altLang="zh-CN"/>
              <a:t>**</a:t>
            </a:r>
            <a:r>
              <a:rPr lang="zh-CN" altLang="en-US"/>
              <a:t>（全面改革盐铁茶马专营、清丈田亩、改革税制、兴修水利）；</a:t>
            </a:r>
            <a:r>
              <a:rPr lang="en-US" altLang="zh-CN"/>
              <a:t>**</a:t>
            </a:r>
            <a:r>
              <a:rPr lang="zh-CN" altLang="en-US"/>
              <a:t>军事</a:t>
            </a:r>
            <a:r>
              <a:rPr lang="en-US" altLang="zh-CN"/>
              <a:t>**</a:t>
            </a:r>
            <a:r>
              <a:rPr lang="zh-CN" altLang="en-US"/>
              <a:t>（全面推行卫所</a:t>
            </a:r>
            <a:r>
              <a:rPr lang="en-US" altLang="zh-CN"/>
              <a:t>-</a:t>
            </a:r>
            <a:r>
              <a:rPr lang="zh-CN" altLang="en-US"/>
              <a:t>募兵结合制，确立以燕云为样板的边镇新规范）；</a:t>
            </a:r>
            <a:r>
              <a:rPr lang="en-US" altLang="zh-CN"/>
              <a:t>**</a:t>
            </a:r>
            <a:r>
              <a:rPr lang="zh-CN" altLang="en-US"/>
              <a:t>文教</a:t>
            </a:r>
            <a:r>
              <a:rPr lang="en-US" altLang="zh-CN"/>
              <a:t>**</a:t>
            </a:r>
            <a:r>
              <a:rPr lang="zh-CN" altLang="en-US"/>
              <a:t>（改革科举，增加实务内容，兴办官学）。改革触及利益极广，阻力巨大。陆沉以铁腕推行，亲自处理无数反对奏章，接见各地士绅代表，或说服，或压制。萧彻给予其毫无保留的支持。数年间，帝国气象逐渐更新，但陆沉也鬓角渐白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全国性改革的顶层设计与推行策略：循序渐进、重点突破、政治支持。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改革者的工作状态与面临的巨大压力。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将其政治理想全面付诸实践，真正开始</a:t>
            </a:r>
            <a:r>
              <a:rPr lang="en-US" altLang="zh-CN"/>
              <a:t>“</a:t>
            </a:r>
            <a:r>
              <a:rPr lang="zh-CN" altLang="en-US"/>
              <a:t>重建秩序</a:t>
            </a:r>
            <a:r>
              <a:rPr lang="en-US" altLang="zh-CN"/>
              <a:t>”**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承受作为改革核心的巨压，身心俱疲但信念坚定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亲手缔造新世界的宏伟叙事</a:t>
            </a:r>
            <a:r>
              <a:rPr lang="en-US" altLang="zh-CN"/>
              <a:t>**</a:t>
            </a:r>
            <a:r>
              <a:rPr lang="zh-CN" altLang="en-US"/>
              <a:t>。将蓝图变为现实，展现治理天下的雄才大略。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98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代价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：新政推行至第五年，虽成效显著，国库充盈，边防稳固，但反对势力从未停止暗中反扑。一次针对陆沉的刺杀虽被赵虎化解，但流箭却射中了恰好前来与陆沉商议运河修缮款项的</a:t>
            </a:r>
            <a:r>
              <a:rPr lang="en-US" altLang="zh-CN"/>
              <a:t>**</a:t>
            </a:r>
            <a:r>
              <a:rPr lang="zh-CN" altLang="en-US"/>
              <a:t>秦望之</a:t>
            </a:r>
            <a:r>
              <a:rPr lang="en-US" altLang="zh-CN"/>
              <a:t>**</a:t>
            </a:r>
            <a:r>
              <a:rPr lang="zh-CN" altLang="en-US"/>
              <a:t>。秦望之伤重不治。临终前，他拉着陆沉的手，笑着说了当年牢中初见时的话，又加了一句：</a:t>
            </a:r>
            <a:r>
              <a:rPr lang="en-US" altLang="zh-CN"/>
              <a:t>“</a:t>
            </a:r>
            <a:r>
              <a:rPr lang="zh-CN" altLang="en-US"/>
              <a:t>首辅，账</a:t>
            </a:r>
            <a:r>
              <a:rPr lang="en-US" altLang="zh-CN"/>
              <a:t>……</a:t>
            </a:r>
            <a:r>
              <a:rPr lang="zh-CN" altLang="en-US"/>
              <a:t>这回是真清了。</a:t>
            </a:r>
            <a:r>
              <a:rPr lang="en-US" altLang="zh-CN"/>
              <a:t>” </a:t>
            </a:r>
            <a:r>
              <a:rPr lang="zh-CN" altLang="en-US"/>
              <a:t>陆沉悲痛欲绝。不久，一直在暗中为新政提供情报、身心俱疲的</a:t>
            </a:r>
            <a:r>
              <a:rPr lang="en-US" altLang="zh-CN"/>
              <a:t>**</a:t>
            </a:r>
            <a:r>
              <a:rPr lang="zh-CN" altLang="en-US"/>
              <a:t>苏怀瑾</a:t>
            </a:r>
            <a:r>
              <a:rPr lang="en-US" altLang="zh-CN"/>
              <a:t>**</a:t>
            </a:r>
            <a:r>
              <a:rPr lang="zh-CN" altLang="en-US"/>
              <a:t>，也因旧疾复发，在一个雪夜悄然病逝于玲珑阁旧居，留下仅有陆沉能看懂的一句遗言：</a:t>
            </a:r>
            <a:r>
              <a:rPr lang="en-US" altLang="zh-CN"/>
              <a:t>“</a:t>
            </a:r>
            <a:r>
              <a:rPr lang="zh-CN" altLang="en-US"/>
              <a:t>世事玲珑，终难周全；此心可鉴，勿忘初见。</a:t>
            </a:r>
            <a:r>
              <a:rPr lang="en-US" altLang="zh-CN"/>
              <a:t>” </a:t>
            </a:r>
            <a:r>
              <a:rPr lang="zh-CN" altLang="en-US"/>
              <a:t>接连失去亦师亦友的伙伴和深藏心底的红颜，陆沉在深夜独坐，对着空荡荡的书房，喃喃问出那句：</a:t>
            </a:r>
            <a:r>
              <a:rPr lang="en-US" altLang="zh-CN"/>
              <a:t>“</a:t>
            </a:r>
            <a:r>
              <a:rPr lang="zh-CN" altLang="en-US"/>
              <a:t>这天下，值这个价吗？</a:t>
            </a:r>
            <a:r>
              <a:rPr lang="en-US" altLang="zh-CN"/>
              <a:t>”</a:t>
            </a: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政治斗争的长期性与残酷性：胜利后仍需面对反扑，重要伙伴可能牺牲。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改革者必须承受的孤独与情感代价。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承受事业成功背后的重大个人损失</a:t>
            </a:r>
            <a:r>
              <a:rPr lang="en-US" altLang="zh-CN"/>
              <a:t>**</a:t>
            </a:r>
            <a:r>
              <a:rPr lang="zh-CN" altLang="en-US"/>
              <a:t>，情感受到重创。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对</a:t>
            </a:r>
            <a:r>
              <a:rPr lang="en-US" altLang="zh-CN"/>
              <a:t>“</a:t>
            </a:r>
            <a:r>
              <a:rPr lang="zh-CN" altLang="en-US"/>
              <a:t>秩序重建的代价</a:t>
            </a:r>
            <a:r>
              <a:rPr lang="en-US" altLang="zh-CN"/>
              <a:t>”</a:t>
            </a:r>
            <a:r>
              <a:rPr lang="zh-CN" altLang="en-US"/>
              <a:t>有了最痛彻的领悟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悲剧性升华与主题深化</a:t>
            </a:r>
            <a:r>
              <a:rPr lang="en-US" altLang="zh-CN"/>
              <a:t>**</a:t>
            </a:r>
            <a:r>
              <a:rPr lang="zh-CN" altLang="en-US"/>
              <a:t>。以重要角色的牺牲，拷问理想与代价，使故事具有深刻的感染力。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99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燕云来信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：杨啸病逝于燕云任上，其子袭爵。临终来信，回顾与陆沉相识相助的岁月，坦言</a:t>
            </a:r>
            <a:r>
              <a:rPr lang="en-US" altLang="zh-CN"/>
              <a:t>“</a:t>
            </a:r>
            <a:r>
              <a:rPr lang="zh-CN" altLang="en-US"/>
              <a:t>知君志在天下，然边将世家渐成，新患已萌，望君早虑</a:t>
            </a:r>
            <a:r>
              <a:rPr lang="en-US" altLang="zh-CN"/>
              <a:t>”</a:t>
            </a:r>
            <a:r>
              <a:rPr lang="zh-CN" altLang="en-US"/>
              <a:t>。几乎同时，顾昭也上书，委婉指出新政官员中，已开始出现结党营私、排挤异己的苗头，寒门出身的新贵似在形成</a:t>
            </a:r>
            <a:r>
              <a:rPr lang="en-US" altLang="zh-CN"/>
              <a:t>“</a:t>
            </a:r>
            <a:r>
              <a:rPr lang="zh-CN" altLang="en-US"/>
              <a:t>新门阀</a:t>
            </a:r>
            <a:r>
              <a:rPr lang="en-US" altLang="zh-CN"/>
              <a:t>”</a:t>
            </a:r>
            <a:r>
              <a:rPr lang="zh-CN" altLang="en-US"/>
              <a:t>。陆沉站在内阁值房的窗前，看着蓬勃但又暗藏新忧的帝国，深知杨啸和顾昭所言非虚。</a:t>
            </a:r>
            <a:r>
              <a:rPr lang="en-US" altLang="zh-CN"/>
              <a:t>**</a:t>
            </a:r>
            <a:r>
              <a:rPr lang="zh-CN" altLang="en-US"/>
              <a:t>权力与利益的循环，人性的贪婪与惰性，并不会因为一套新制度而彻底消失</a:t>
            </a:r>
            <a:r>
              <a:rPr lang="en-US" altLang="zh-CN"/>
              <a:t>**</a:t>
            </a:r>
            <a:r>
              <a:rPr lang="zh-CN" altLang="en-US"/>
              <a:t>。他刚刚打破了一个旧秩序，而新秩序自身已在孕育新的问题。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权谋设计</a:t>
            </a:r>
            <a:r>
              <a:rPr lang="en-US" altLang="zh-CN"/>
              <a:t>/</a:t>
            </a:r>
            <a:r>
              <a:rPr lang="zh-CN" altLang="en-US"/>
              <a:t>知识体现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历史周期律的体现：任何制度在运行一段时间后都会产生新的既得利益集团和弊端。</a:t>
            </a:r>
            <a:br>
              <a:rPr lang="zh-CN" altLang="en-US"/>
            </a:br>
            <a:r>
              <a:rPr lang="en-US" altLang="zh-CN"/>
              <a:t>  - </a:t>
            </a:r>
            <a:r>
              <a:rPr lang="zh-CN" altLang="en-US"/>
              <a:t>改革者需要面对</a:t>
            </a:r>
            <a:r>
              <a:rPr lang="en-US" altLang="zh-CN"/>
              <a:t>“</a:t>
            </a:r>
            <a:r>
              <a:rPr lang="zh-CN" altLang="en-US"/>
              <a:t>改革成果异化</a:t>
            </a:r>
            <a:r>
              <a:rPr lang="en-US" altLang="zh-CN"/>
              <a:t>”</a:t>
            </a:r>
            <a:r>
              <a:rPr lang="zh-CN" altLang="en-US"/>
              <a:t>的终极难题。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主角成长</a:t>
            </a:r>
            <a:r>
              <a:rPr lang="en-US" altLang="zh-CN"/>
              <a:t>/</a:t>
            </a:r>
            <a:r>
              <a:rPr lang="zh-CN" altLang="en-US"/>
              <a:t>获得</a:t>
            </a:r>
            <a:r>
              <a:rPr lang="en-US" altLang="zh-CN"/>
              <a:t>**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清醒认识到改革的局限性与历史循环的残酷</a:t>
            </a:r>
            <a:r>
              <a:rPr lang="en-US" altLang="zh-CN"/>
              <a:t>**</a:t>
            </a:r>
            <a:r>
              <a:rPr lang="zh-CN" altLang="en-US"/>
              <a:t>，心态从</a:t>
            </a:r>
            <a:r>
              <a:rPr lang="en-US" altLang="zh-CN"/>
              <a:t>“</a:t>
            </a:r>
            <a:r>
              <a:rPr lang="zh-CN" altLang="en-US"/>
              <a:t>建造者</a:t>
            </a:r>
            <a:r>
              <a:rPr lang="en-US" altLang="zh-CN"/>
              <a:t>”</a:t>
            </a:r>
            <a:r>
              <a:rPr lang="zh-CN" altLang="en-US"/>
              <a:t>转向</a:t>
            </a:r>
            <a:r>
              <a:rPr lang="en-US" altLang="zh-CN"/>
              <a:t>“</a:t>
            </a:r>
            <a:r>
              <a:rPr lang="zh-CN" altLang="en-US"/>
              <a:t>守望者与修补者</a:t>
            </a:r>
            <a:r>
              <a:rPr lang="en-US" altLang="zh-CN"/>
              <a:t>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  - **</a:t>
            </a:r>
            <a:r>
              <a:rPr lang="zh-CN" altLang="en-US"/>
              <a:t>失去又一位重要的老朋友和盟友</a:t>
            </a:r>
            <a:r>
              <a:rPr lang="en-US" altLang="zh-CN"/>
              <a:t>**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居安思危的深刻洞察</a:t>
            </a:r>
            <a:r>
              <a:rPr lang="en-US" altLang="zh-CN"/>
              <a:t>**</a:t>
            </a:r>
            <a:r>
              <a:rPr lang="zh-CN" altLang="en-US"/>
              <a:t>。在成功后保持清醒，展现政治家的远见与忧患。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### **</a:t>
            </a:r>
            <a:r>
              <a:rPr lang="zh-CN" altLang="en-US"/>
              <a:t>第</a:t>
            </a:r>
            <a:r>
              <a:rPr lang="en-US" altLang="zh-CN"/>
              <a:t>100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余韵：风雪归人（全书终）</a:t>
            </a:r>
            <a:r>
              <a:rPr lang="en-US" altLang="zh-CN"/>
              <a:t>**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- **</a:t>
            </a:r>
            <a:r>
              <a:rPr lang="zh-CN" altLang="en-US"/>
              <a:t>核心事件</a:t>
            </a:r>
            <a:r>
              <a:rPr lang="en-US" altLang="zh-CN"/>
              <a:t>**</a:t>
            </a:r>
            <a:r>
              <a:rPr lang="zh-CN" altLang="en-US"/>
              <a:t>：昭武十年冬，陆沉年近不惑，鬓发已斑。他深感疲惫，多次向萧彻请辞，萧彻不允。是年，北境有小规模叛乱，涉及新政中部分处置不当的部族。陆沉主动请缨，以</a:t>
            </a:r>
            <a:r>
              <a:rPr lang="en-US" altLang="zh-CN"/>
              <a:t>“</a:t>
            </a:r>
            <a:r>
              <a:rPr lang="zh-CN" altLang="en-US"/>
              <a:t>钦差巡视北疆</a:t>
            </a:r>
            <a:r>
              <a:rPr lang="en-US" altLang="zh-CN"/>
              <a:t>”</a:t>
            </a:r>
            <a:r>
              <a:rPr lang="zh-CN" altLang="en-US"/>
              <a:t>之名，离京北上。他再回燕云，登临旧日烽燧，眺望苍茫草原。风雪中，他似乎看到当年那个在死牢中挣扎的青年，看到秦望之、苏怀瑾、杨啸、黄德、赵虎（现已成为大将）</a:t>
            </a:r>
            <a:r>
              <a:rPr lang="en-US" altLang="zh-CN"/>
              <a:t>……</a:t>
            </a:r>
            <a:r>
              <a:rPr lang="zh-CN" altLang="en-US"/>
              <a:t>所有故人的面容在眼前闪过。赵虎前来为他披上大氅，低声道：</a:t>
            </a:r>
            <a:r>
              <a:rPr lang="en-US" altLang="zh-CN"/>
              <a:t>“</a:t>
            </a:r>
            <a:r>
              <a:rPr lang="zh-CN" altLang="en-US"/>
              <a:t>首辅，风大。</a:t>
            </a:r>
            <a:r>
              <a:rPr lang="en-US" altLang="zh-CN"/>
              <a:t>” </a:t>
            </a:r>
            <a:r>
              <a:rPr lang="zh-CN" altLang="en-US"/>
              <a:t>陆沉摇摇头，指着远方隐约可见的、正在按照新政规划修筑的边城和驰道，以及更远处游牧部落的炊烟，缓缓道：</a:t>
            </a:r>
            <a:r>
              <a:rPr lang="en-US" altLang="zh-CN"/>
              <a:t>“</a:t>
            </a:r>
            <a:r>
              <a:rPr lang="zh-CN" altLang="en-US"/>
              <a:t>这棋局，永远下不完。旧的棋子去了，新的棋子又来。但执棋的手</a:t>
            </a:r>
            <a:r>
              <a:rPr lang="en-US" altLang="zh-CN"/>
              <a:t>……” </a:t>
            </a:r>
            <a:r>
              <a:rPr lang="zh-CN" altLang="en-US"/>
              <a:t>他握了握拳，又缓缓松开，感受着指尖传来的寒意与力量，</a:t>
            </a:r>
            <a:r>
              <a:rPr lang="en-US" altLang="zh-CN"/>
              <a:t>“</a:t>
            </a:r>
            <a:r>
              <a:rPr lang="zh-CN" altLang="en-US"/>
              <a:t>决不能软，也</a:t>
            </a:r>
            <a:r>
              <a:rPr lang="en-US" altLang="zh-CN"/>
              <a:t>……</a:t>
            </a:r>
            <a:r>
              <a:rPr lang="zh-CN" altLang="en-US"/>
              <a:t>不能停。</a:t>
            </a:r>
            <a:r>
              <a:rPr lang="en-US" altLang="zh-CN"/>
              <a:t>”</a:t>
            </a:r>
            <a:br>
              <a:rPr lang="en-US" altLang="zh-CN"/>
            </a:br>
            <a:r>
              <a:rPr lang="en-US" altLang="zh-CN"/>
              <a:t>  - **</a:t>
            </a:r>
            <a:r>
              <a:rPr lang="zh-CN" altLang="en-US"/>
              <a:t>结尾画面</a:t>
            </a:r>
            <a:r>
              <a:rPr lang="en-US" altLang="zh-CN"/>
              <a:t>**</a:t>
            </a:r>
            <a:r>
              <a:rPr lang="zh-CN" altLang="en-US"/>
              <a:t>：风雪愈大，陆沉转身，沿着烽燧的台阶一步步向下，身影逐渐融入苍茫的北地山河之中。远方，新的边城上，昭武新政的旗帜在风雪中猎猎作响。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主题升华</a:t>
            </a:r>
            <a:r>
              <a:rPr lang="en-US" altLang="zh-CN"/>
              <a:t>**</a:t>
            </a:r>
            <a:r>
              <a:rPr lang="zh-CN" altLang="en-US"/>
              <a:t>：秩序的重建是漫长而代价高昂的过程，没有一劳永逸的解决方案。真正的英雄主义，是在认清其艰难与循环后，依然选择肩负责任，在动态中不断调整、平衡、前行。</a:t>
            </a:r>
            <a:br>
              <a:rPr lang="zh-CN" altLang="en-US"/>
            </a:br>
            <a:r>
              <a:rPr lang="en-US" altLang="zh-CN"/>
              <a:t>- **</a:t>
            </a:r>
            <a:r>
              <a:rPr lang="zh-CN" altLang="en-US"/>
              <a:t>爽点设计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**</a:t>
            </a:r>
            <a:r>
              <a:rPr lang="zh-CN" altLang="en-US"/>
              <a:t>意境深远的开放式结局</a:t>
            </a:r>
            <a:r>
              <a:rPr lang="en-US" altLang="zh-CN"/>
              <a:t>**</a:t>
            </a:r>
            <a:r>
              <a:rPr lang="zh-CN" altLang="en-US"/>
              <a:t>。不给出简单答案，而是留下余韵、思考与一幅充满历史沧桑感的画面，让读者回味无穷。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---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50289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16239</cp:lastModifiedBy>
  <cp:revision>5</cp:revision>
  <dcterms:created xsi:type="dcterms:W3CDTF">2023-08-09T12:44:00Z</dcterms:created>
  <dcterms:modified xsi:type="dcterms:W3CDTF">2026-01-04T08:06:02Z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BB5CCF8374744DA2839F81F5CCF9BACC_12</vt:lpwstr>
  </property>
</Properties>
</file>